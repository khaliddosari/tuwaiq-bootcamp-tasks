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1.xml" ContentType="application/vnd.openxmlformats-officedocument.drawingml.chart+xml"/>
  <Override PartName="/ppt/notesSlides/notesSlide13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charts/chart5.xml" ContentType="application/vnd.openxmlformats-officedocument.drawingml.chart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charts/chart6.xml" ContentType="application/vnd.openxmlformats-officedocument.drawingml.chart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75033" autoAdjust="0"/>
  </p:normalViewPr>
  <p:slideViewPr>
    <p:cSldViewPr snapToGrid="0" snapToObjects="1">
      <p:cViewPr varScale="1">
        <p:scale>
          <a:sx n="62" d="100"/>
          <a:sy n="62" d="100"/>
        </p:scale>
        <p:origin x="1459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ng.Maha Altalk" userId="efa43f7baa358433" providerId="LiveId" clId="{4B7E9452-267E-486A-A1C1-2FA77E3D8DC2}"/>
    <pc:docChg chg="undo custSel modSld">
      <pc:chgData name="Eng.Maha Altalk" userId="efa43f7baa358433" providerId="LiveId" clId="{4B7E9452-267E-486A-A1C1-2FA77E3D8DC2}" dt="2026-08-18T17:22:18.513" v="87" actId="20577"/>
      <pc:docMkLst>
        <pc:docMk/>
      </pc:docMkLst>
      <pc:sldChg chg="modNotesTx">
        <pc:chgData name="Eng.Maha Altalk" userId="efa43f7baa358433" providerId="LiveId" clId="{4B7E9452-267E-486A-A1C1-2FA77E3D8DC2}" dt="2026-08-18T17:16:53.482" v="49" actId="20577"/>
        <pc:sldMkLst>
          <pc:docMk/>
          <pc:sldMk cId="0" sldId="256"/>
        </pc:sldMkLst>
      </pc:sldChg>
      <pc:sldChg chg="modNotesTx">
        <pc:chgData name="Eng.Maha Altalk" userId="efa43f7baa358433" providerId="LiveId" clId="{4B7E9452-267E-486A-A1C1-2FA77E3D8DC2}" dt="2026-08-18T17:17:00.373" v="50" actId="20577"/>
        <pc:sldMkLst>
          <pc:docMk/>
          <pc:sldMk cId="0" sldId="259"/>
        </pc:sldMkLst>
      </pc:sldChg>
      <pc:sldChg chg="modNotesTx">
        <pc:chgData name="Eng.Maha Altalk" userId="efa43f7baa358433" providerId="LiveId" clId="{4B7E9452-267E-486A-A1C1-2FA77E3D8DC2}" dt="2026-08-18T17:17:03.632" v="51" actId="20577"/>
        <pc:sldMkLst>
          <pc:docMk/>
          <pc:sldMk cId="0" sldId="260"/>
        </pc:sldMkLst>
      </pc:sldChg>
      <pc:sldChg chg="modNotesTx">
        <pc:chgData name="Eng.Maha Altalk" userId="efa43f7baa358433" providerId="LiveId" clId="{4B7E9452-267E-486A-A1C1-2FA77E3D8DC2}" dt="2026-08-18T17:17:10.091" v="52" actId="20577"/>
        <pc:sldMkLst>
          <pc:docMk/>
          <pc:sldMk cId="0" sldId="261"/>
        </pc:sldMkLst>
      </pc:sldChg>
      <pc:sldChg chg="modNotesTx">
        <pc:chgData name="Eng.Maha Altalk" userId="efa43f7baa358433" providerId="LiveId" clId="{4B7E9452-267E-486A-A1C1-2FA77E3D8DC2}" dt="2026-08-18T17:17:13.779" v="53" actId="20577"/>
        <pc:sldMkLst>
          <pc:docMk/>
          <pc:sldMk cId="0" sldId="262"/>
        </pc:sldMkLst>
      </pc:sldChg>
      <pc:sldChg chg="modNotesTx">
        <pc:chgData name="Eng.Maha Altalk" userId="efa43f7baa358433" providerId="LiveId" clId="{4B7E9452-267E-486A-A1C1-2FA77E3D8DC2}" dt="2026-08-18T17:17:17.747" v="54" actId="20577"/>
        <pc:sldMkLst>
          <pc:docMk/>
          <pc:sldMk cId="0" sldId="263"/>
        </pc:sldMkLst>
      </pc:sldChg>
      <pc:sldChg chg="addSp delSp modSp mod modNotesTx">
        <pc:chgData name="Eng.Maha Altalk" userId="efa43f7baa358433" providerId="LiveId" clId="{4B7E9452-267E-486A-A1C1-2FA77E3D8DC2}" dt="2026-08-18T17:18:25.474" v="60" actId="478"/>
        <pc:sldMkLst>
          <pc:docMk/>
          <pc:sldMk cId="0" sldId="264"/>
        </pc:sldMkLst>
        <pc:spChg chg="del">
          <ac:chgData name="Eng.Maha Altalk" userId="efa43f7baa358433" providerId="LiveId" clId="{4B7E9452-267E-486A-A1C1-2FA77E3D8DC2}" dt="2026-08-18T17:18:21.460" v="59" actId="478"/>
          <ac:spMkLst>
            <pc:docMk/>
            <pc:sldMk cId="0" sldId="264"/>
            <ac:spMk id="16" creationId="{00000000-0000-0000-0000-000000000000}"/>
          </ac:spMkLst>
        </pc:spChg>
        <pc:spChg chg="add del mod">
          <ac:chgData name="Eng.Maha Altalk" userId="efa43f7baa358433" providerId="LiveId" clId="{4B7E9452-267E-486A-A1C1-2FA77E3D8DC2}" dt="2026-08-18T17:18:25.474" v="60" actId="478"/>
          <ac:spMkLst>
            <pc:docMk/>
            <pc:sldMk cId="0" sldId="264"/>
            <ac:spMk id="17" creationId="{00000000-0000-0000-0000-000000000000}"/>
          </ac:spMkLst>
        </pc:spChg>
      </pc:sldChg>
      <pc:sldChg chg="modNotesTx">
        <pc:chgData name="Eng.Maha Altalk" userId="efa43f7baa358433" providerId="LiveId" clId="{4B7E9452-267E-486A-A1C1-2FA77E3D8DC2}" dt="2026-08-18T17:18:37.281" v="61" actId="20577"/>
        <pc:sldMkLst>
          <pc:docMk/>
          <pc:sldMk cId="0" sldId="265"/>
        </pc:sldMkLst>
      </pc:sldChg>
      <pc:sldChg chg="modNotesTx">
        <pc:chgData name="Eng.Maha Altalk" userId="efa43f7baa358433" providerId="LiveId" clId="{4B7E9452-267E-486A-A1C1-2FA77E3D8DC2}" dt="2026-08-18T17:18:46.189" v="62" actId="20577"/>
        <pc:sldMkLst>
          <pc:docMk/>
          <pc:sldMk cId="0" sldId="266"/>
        </pc:sldMkLst>
      </pc:sldChg>
      <pc:sldChg chg="modNotesTx">
        <pc:chgData name="Eng.Maha Altalk" userId="efa43f7baa358433" providerId="LiveId" clId="{4B7E9452-267E-486A-A1C1-2FA77E3D8DC2}" dt="2026-08-18T17:18:51.182" v="63" actId="20577"/>
        <pc:sldMkLst>
          <pc:docMk/>
          <pc:sldMk cId="0" sldId="267"/>
        </pc:sldMkLst>
      </pc:sldChg>
      <pc:sldChg chg="modNotesTx">
        <pc:chgData name="Eng.Maha Altalk" userId="efa43f7baa358433" providerId="LiveId" clId="{4B7E9452-267E-486A-A1C1-2FA77E3D8DC2}" dt="2026-08-18T17:19:00.608" v="64" actId="20577"/>
        <pc:sldMkLst>
          <pc:docMk/>
          <pc:sldMk cId="0" sldId="268"/>
        </pc:sldMkLst>
      </pc:sldChg>
      <pc:sldChg chg="modNotesTx">
        <pc:chgData name="Eng.Maha Altalk" userId="efa43f7baa358433" providerId="LiveId" clId="{4B7E9452-267E-486A-A1C1-2FA77E3D8DC2}" dt="2026-08-18T17:19:16.818" v="65" actId="20577"/>
        <pc:sldMkLst>
          <pc:docMk/>
          <pc:sldMk cId="0" sldId="269"/>
        </pc:sldMkLst>
      </pc:sldChg>
      <pc:sldChg chg="modNotesTx">
        <pc:chgData name="Eng.Maha Altalk" userId="efa43f7baa358433" providerId="LiveId" clId="{4B7E9452-267E-486A-A1C1-2FA77E3D8DC2}" dt="2026-08-18T17:19:36.599" v="66" actId="20577"/>
        <pc:sldMkLst>
          <pc:docMk/>
          <pc:sldMk cId="0" sldId="270"/>
        </pc:sldMkLst>
      </pc:sldChg>
      <pc:sldChg chg="modNotesTx">
        <pc:chgData name="Eng.Maha Altalk" userId="efa43f7baa358433" providerId="LiveId" clId="{4B7E9452-267E-486A-A1C1-2FA77E3D8DC2}" dt="2026-08-18T17:19:48.408" v="67" actId="20577"/>
        <pc:sldMkLst>
          <pc:docMk/>
          <pc:sldMk cId="0" sldId="271"/>
        </pc:sldMkLst>
      </pc:sldChg>
      <pc:sldChg chg="modNotesTx">
        <pc:chgData name="Eng.Maha Altalk" userId="efa43f7baa358433" providerId="LiveId" clId="{4B7E9452-267E-486A-A1C1-2FA77E3D8DC2}" dt="2026-08-18T17:19:53.210" v="68" actId="20577"/>
        <pc:sldMkLst>
          <pc:docMk/>
          <pc:sldMk cId="0" sldId="272"/>
        </pc:sldMkLst>
      </pc:sldChg>
      <pc:sldChg chg="modNotesTx">
        <pc:chgData name="Eng.Maha Altalk" userId="efa43f7baa358433" providerId="LiveId" clId="{4B7E9452-267E-486A-A1C1-2FA77E3D8DC2}" dt="2026-08-18T17:19:58.692" v="69" actId="20577"/>
        <pc:sldMkLst>
          <pc:docMk/>
          <pc:sldMk cId="0" sldId="273"/>
        </pc:sldMkLst>
      </pc:sldChg>
      <pc:sldChg chg="modNotesTx">
        <pc:chgData name="Eng.Maha Altalk" userId="efa43f7baa358433" providerId="LiveId" clId="{4B7E9452-267E-486A-A1C1-2FA77E3D8DC2}" dt="2026-08-18T17:20:06.562" v="70" actId="20577"/>
        <pc:sldMkLst>
          <pc:docMk/>
          <pc:sldMk cId="0" sldId="274"/>
        </pc:sldMkLst>
      </pc:sldChg>
      <pc:sldChg chg="modSp mod modNotesTx">
        <pc:chgData name="Eng.Maha Altalk" userId="efa43f7baa358433" providerId="LiveId" clId="{4B7E9452-267E-486A-A1C1-2FA77E3D8DC2}" dt="2026-08-18T17:20:20.803" v="72" actId="20577"/>
        <pc:sldMkLst>
          <pc:docMk/>
          <pc:sldMk cId="0" sldId="275"/>
        </pc:sldMkLst>
        <pc:spChg chg="mod">
          <ac:chgData name="Eng.Maha Altalk" userId="efa43f7baa358433" providerId="LiveId" clId="{4B7E9452-267E-486A-A1C1-2FA77E3D8DC2}" dt="2026-08-18T17:20:20.803" v="72" actId="20577"/>
          <ac:spMkLst>
            <pc:docMk/>
            <pc:sldMk cId="0" sldId="275"/>
            <ac:spMk id="16" creationId="{00000000-0000-0000-0000-000000000000}"/>
          </ac:spMkLst>
        </pc:spChg>
      </pc:sldChg>
      <pc:sldChg chg="modNotesTx">
        <pc:chgData name="Eng.Maha Altalk" userId="efa43f7baa358433" providerId="LiveId" clId="{4B7E9452-267E-486A-A1C1-2FA77E3D8DC2}" dt="2026-08-18T17:20:30.127" v="73" actId="20577"/>
        <pc:sldMkLst>
          <pc:docMk/>
          <pc:sldMk cId="0" sldId="276"/>
        </pc:sldMkLst>
      </pc:sldChg>
      <pc:sldChg chg="modNotesTx">
        <pc:chgData name="Eng.Maha Altalk" userId="efa43f7baa358433" providerId="LiveId" clId="{4B7E9452-267E-486A-A1C1-2FA77E3D8DC2}" dt="2026-08-18T17:20:38.810" v="74" actId="20577"/>
        <pc:sldMkLst>
          <pc:docMk/>
          <pc:sldMk cId="0" sldId="277"/>
        </pc:sldMkLst>
      </pc:sldChg>
      <pc:sldChg chg="modNotesTx">
        <pc:chgData name="Eng.Maha Altalk" userId="efa43f7baa358433" providerId="LiveId" clId="{4B7E9452-267E-486A-A1C1-2FA77E3D8DC2}" dt="2026-08-18T17:20:53.173" v="75" actId="20577"/>
        <pc:sldMkLst>
          <pc:docMk/>
          <pc:sldMk cId="0" sldId="278"/>
        </pc:sldMkLst>
      </pc:sldChg>
      <pc:sldChg chg="modNotesTx">
        <pc:chgData name="Eng.Maha Altalk" userId="efa43f7baa358433" providerId="LiveId" clId="{4B7E9452-267E-486A-A1C1-2FA77E3D8DC2}" dt="2026-08-18T17:21:07.289" v="76" actId="20577"/>
        <pc:sldMkLst>
          <pc:docMk/>
          <pc:sldMk cId="0" sldId="279"/>
        </pc:sldMkLst>
      </pc:sldChg>
      <pc:sldChg chg="modNotesTx">
        <pc:chgData name="Eng.Maha Altalk" userId="efa43f7baa358433" providerId="LiveId" clId="{4B7E9452-267E-486A-A1C1-2FA77E3D8DC2}" dt="2026-08-18T17:21:12.188" v="77" actId="20577"/>
        <pc:sldMkLst>
          <pc:docMk/>
          <pc:sldMk cId="0" sldId="280"/>
        </pc:sldMkLst>
      </pc:sldChg>
      <pc:sldChg chg="modNotesTx">
        <pc:chgData name="Eng.Maha Altalk" userId="efa43f7baa358433" providerId="LiveId" clId="{4B7E9452-267E-486A-A1C1-2FA77E3D8DC2}" dt="2026-08-18T17:21:16.923" v="78" actId="20577"/>
        <pc:sldMkLst>
          <pc:docMk/>
          <pc:sldMk cId="0" sldId="281"/>
        </pc:sldMkLst>
      </pc:sldChg>
      <pc:sldChg chg="modNotesTx">
        <pc:chgData name="Eng.Maha Altalk" userId="efa43f7baa358433" providerId="LiveId" clId="{4B7E9452-267E-486A-A1C1-2FA77E3D8DC2}" dt="2026-08-18T17:21:21.265" v="79" actId="20577"/>
        <pc:sldMkLst>
          <pc:docMk/>
          <pc:sldMk cId="0" sldId="282"/>
        </pc:sldMkLst>
      </pc:sldChg>
      <pc:sldChg chg="modNotesTx">
        <pc:chgData name="Eng.Maha Altalk" userId="efa43f7baa358433" providerId="LiveId" clId="{4B7E9452-267E-486A-A1C1-2FA77E3D8DC2}" dt="2026-08-18T17:21:28.305" v="80" actId="20577"/>
        <pc:sldMkLst>
          <pc:docMk/>
          <pc:sldMk cId="0" sldId="283"/>
        </pc:sldMkLst>
      </pc:sldChg>
      <pc:sldChg chg="modNotesTx">
        <pc:chgData name="Eng.Maha Altalk" userId="efa43f7baa358433" providerId="LiveId" clId="{4B7E9452-267E-486A-A1C1-2FA77E3D8DC2}" dt="2026-08-18T17:21:34.217" v="81" actId="20577"/>
        <pc:sldMkLst>
          <pc:docMk/>
          <pc:sldMk cId="0" sldId="284"/>
        </pc:sldMkLst>
      </pc:sldChg>
      <pc:sldChg chg="modNotesTx">
        <pc:chgData name="Eng.Maha Altalk" userId="efa43f7baa358433" providerId="LiveId" clId="{4B7E9452-267E-486A-A1C1-2FA77E3D8DC2}" dt="2026-08-18T17:21:39.727" v="82" actId="20577"/>
        <pc:sldMkLst>
          <pc:docMk/>
          <pc:sldMk cId="0" sldId="285"/>
        </pc:sldMkLst>
      </pc:sldChg>
      <pc:sldChg chg="modNotesTx">
        <pc:chgData name="Eng.Maha Altalk" userId="efa43f7baa358433" providerId="LiveId" clId="{4B7E9452-267E-486A-A1C1-2FA77E3D8DC2}" dt="2026-08-18T17:21:43.856" v="83" actId="20577"/>
        <pc:sldMkLst>
          <pc:docMk/>
          <pc:sldMk cId="0" sldId="286"/>
        </pc:sldMkLst>
      </pc:sldChg>
      <pc:sldChg chg="modNotesTx">
        <pc:chgData name="Eng.Maha Altalk" userId="efa43f7baa358433" providerId="LiveId" clId="{4B7E9452-267E-486A-A1C1-2FA77E3D8DC2}" dt="2026-08-18T17:21:50.409" v="84" actId="20577"/>
        <pc:sldMkLst>
          <pc:docMk/>
          <pc:sldMk cId="0" sldId="287"/>
        </pc:sldMkLst>
      </pc:sldChg>
      <pc:sldChg chg="modNotesTx">
        <pc:chgData name="Eng.Maha Altalk" userId="efa43f7baa358433" providerId="LiveId" clId="{4B7E9452-267E-486A-A1C1-2FA77E3D8DC2}" dt="2026-08-18T17:22:03.171" v="85" actId="20577"/>
        <pc:sldMkLst>
          <pc:docMk/>
          <pc:sldMk cId="0" sldId="288"/>
        </pc:sldMkLst>
      </pc:sldChg>
      <pc:sldChg chg="modNotesTx">
        <pc:chgData name="Eng.Maha Altalk" userId="efa43f7baa358433" providerId="LiveId" clId="{4B7E9452-267E-486A-A1C1-2FA77E3D8DC2}" dt="2026-08-18T17:22:12.650" v="86" actId="20577"/>
        <pc:sldMkLst>
          <pc:docMk/>
          <pc:sldMk cId="0" sldId="289"/>
        </pc:sldMkLst>
      </pc:sldChg>
      <pc:sldChg chg="modNotesTx">
        <pc:chgData name="Eng.Maha Altalk" userId="efa43f7baa358433" providerId="LiveId" clId="{4B7E9452-267E-486A-A1C1-2FA77E3D8DC2}" dt="2026-08-18T17:22:18.513" v="87" actId="20577"/>
        <pc:sldMkLst>
          <pc:docMk/>
          <pc:sldMk cId="0" sldId="290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</c:v>
                </c:pt>
              </c:strCache>
            </c:strRef>
          </c:tx>
          <c:spPr>
            <a:ln w="25400" cap="flat">
              <a:solidFill>
                <a:srgbClr val="2E74D4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74D4"/>
              </a:solidFill>
              <a:ln w="9525" cap="flat">
                <a:solidFill>
                  <a:srgbClr val="2E74D4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1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40</c:v>
                </c:pt>
                <c:pt idx="5">
                  <c:v>50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0.82</c:v>
                </c:pt>
                <c:pt idx="1">
                  <c:v>0.65</c:v>
                </c:pt>
                <c:pt idx="2">
                  <c:v>0.48</c:v>
                </c:pt>
                <c:pt idx="3">
                  <c:v>0.34</c:v>
                </c:pt>
                <c:pt idx="4">
                  <c:v>0.25</c:v>
                </c:pt>
                <c:pt idx="5">
                  <c:v>0.2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DAF-4501-900E-654E61409A1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</c:v>
                </c:pt>
              </c:strCache>
            </c:strRef>
          </c:tx>
          <c:spPr>
            <a:ln w="25400" cap="flat">
              <a:solidFill>
                <a:srgbClr val="D9534F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9534F"/>
              </a:solidFill>
              <a:ln w="9525" cap="flat">
                <a:solidFill>
                  <a:srgbClr val="D9534F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1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40</c:v>
                </c:pt>
                <c:pt idx="5">
                  <c:v>50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0.86</c:v>
                </c:pt>
                <c:pt idx="1">
                  <c:v>0.68</c:v>
                </c:pt>
                <c:pt idx="2">
                  <c:v>0.52</c:v>
                </c:pt>
                <c:pt idx="3">
                  <c:v>0.38</c:v>
                </c:pt>
                <c:pt idx="4">
                  <c:v>0.31</c:v>
                </c:pt>
                <c:pt idx="5">
                  <c:v>0.28000000000000003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DAF-4501-900E-654E61409A1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  <c:majorUnit val="0.2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00">
              <a:latin typeface="Aptos"/>
              <a:cs typeface="Aptos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</c:v>
                </c:pt>
              </c:strCache>
            </c:strRef>
          </c:tx>
          <c:spPr>
            <a:ln w="25400" cap="flat">
              <a:solidFill>
                <a:srgbClr val="2E74D4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74D4"/>
              </a:solidFill>
              <a:ln w="9525" cap="flat">
                <a:solidFill>
                  <a:srgbClr val="2E74D4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1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40</c:v>
                </c:pt>
                <c:pt idx="5">
                  <c:v>50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0.82</c:v>
                </c:pt>
                <c:pt idx="1">
                  <c:v>0.65</c:v>
                </c:pt>
                <c:pt idx="2">
                  <c:v>0.48</c:v>
                </c:pt>
                <c:pt idx="3">
                  <c:v>0.34</c:v>
                </c:pt>
                <c:pt idx="4">
                  <c:v>0.25</c:v>
                </c:pt>
                <c:pt idx="5">
                  <c:v>0.2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4BE-454C-9B39-E47CADB49E3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</c:v>
                </c:pt>
              </c:strCache>
            </c:strRef>
          </c:tx>
          <c:spPr>
            <a:ln w="25400" cap="flat">
              <a:solidFill>
                <a:srgbClr val="D9534F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9534F"/>
              </a:solidFill>
              <a:ln w="9525" cap="flat">
                <a:solidFill>
                  <a:srgbClr val="D9534F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1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40</c:v>
                </c:pt>
                <c:pt idx="5">
                  <c:v>50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0.86</c:v>
                </c:pt>
                <c:pt idx="1">
                  <c:v>0.68</c:v>
                </c:pt>
                <c:pt idx="2">
                  <c:v>0.52</c:v>
                </c:pt>
                <c:pt idx="3">
                  <c:v>0.38</c:v>
                </c:pt>
                <c:pt idx="4">
                  <c:v>0.31</c:v>
                </c:pt>
                <c:pt idx="5">
                  <c:v>0.28000000000000003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4BE-454C-9B39-E47CADB49E3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  <c:majorUnit val="0.2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00">
              <a:latin typeface="Aptos"/>
              <a:cs typeface="Aptos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</c:v>
                </c:pt>
              </c:strCache>
            </c:strRef>
          </c:tx>
          <c:spPr>
            <a:ln w="25400" cap="flat">
              <a:solidFill>
                <a:srgbClr val="2E74D4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74D4"/>
              </a:solidFill>
              <a:ln w="9525" cap="flat">
                <a:solidFill>
                  <a:srgbClr val="2E74D4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1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40</c:v>
                </c:pt>
                <c:pt idx="5">
                  <c:v>50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0.82</c:v>
                </c:pt>
                <c:pt idx="1">
                  <c:v>0.65</c:v>
                </c:pt>
                <c:pt idx="2">
                  <c:v>0.48</c:v>
                </c:pt>
                <c:pt idx="3">
                  <c:v>0.34</c:v>
                </c:pt>
                <c:pt idx="4">
                  <c:v>0.25</c:v>
                </c:pt>
                <c:pt idx="5">
                  <c:v>0.2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5C3-49A9-8A40-3D9FFB9F981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</c:v>
                </c:pt>
              </c:strCache>
            </c:strRef>
          </c:tx>
          <c:spPr>
            <a:ln w="25400" cap="flat">
              <a:solidFill>
                <a:srgbClr val="D9534F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9534F"/>
              </a:solidFill>
              <a:ln w="9525" cap="flat">
                <a:solidFill>
                  <a:srgbClr val="D9534F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1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40</c:v>
                </c:pt>
                <c:pt idx="5">
                  <c:v>50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0.86</c:v>
                </c:pt>
                <c:pt idx="1">
                  <c:v>0.66</c:v>
                </c:pt>
                <c:pt idx="2">
                  <c:v>0.51</c:v>
                </c:pt>
                <c:pt idx="3">
                  <c:v>0.55000000000000004</c:v>
                </c:pt>
                <c:pt idx="4">
                  <c:v>0.67</c:v>
                </c:pt>
                <c:pt idx="5">
                  <c:v>0.82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5C3-49A9-8A40-3D9FFB9F981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  <c:majorUnit val="0.2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00">
              <a:latin typeface="Aptos"/>
              <a:cs typeface="Aptos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</c:v>
                </c:pt>
              </c:strCache>
            </c:strRef>
          </c:tx>
          <c:spPr>
            <a:ln w="25400" cap="flat">
              <a:solidFill>
                <a:srgbClr val="2E74D4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74D4"/>
              </a:solidFill>
              <a:ln w="9525" cap="flat">
                <a:solidFill>
                  <a:srgbClr val="2E74D4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1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40</c:v>
                </c:pt>
                <c:pt idx="5">
                  <c:v>50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0.86</c:v>
                </c:pt>
                <c:pt idx="1">
                  <c:v>0.83</c:v>
                </c:pt>
                <c:pt idx="2">
                  <c:v>0.81</c:v>
                </c:pt>
                <c:pt idx="3">
                  <c:v>0.78</c:v>
                </c:pt>
                <c:pt idx="4">
                  <c:v>0.77</c:v>
                </c:pt>
                <c:pt idx="5">
                  <c:v>0.76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A24-45EC-A8B0-E2A799527D4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</c:v>
                </c:pt>
              </c:strCache>
            </c:strRef>
          </c:tx>
          <c:spPr>
            <a:ln w="25400" cap="flat">
              <a:solidFill>
                <a:srgbClr val="D9534F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9534F"/>
              </a:solidFill>
              <a:ln w="9525" cap="flat">
                <a:solidFill>
                  <a:srgbClr val="D9534F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1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40</c:v>
                </c:pt>
                <c:pt idx="5">
                  <c:v>50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0.88</c:v>
                </c:pt>
                <c:pt idx="1">
                  <c:v>0.85</c:v>
                </c:pt>
                <c:pt idx="2">
                  <c:v>0.83</c:v>
                </c:pt>
                <c:pt idx="3">
                  <c:v>0.81</c:v>
                </c:pt>
                <c:pt idx="4">
                  <c:v>0.79</c:v>
                </c:pt>
                <c:pt idx="5">
                  <c:v>0.78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A24-45EC-A8B0-E2A799527D4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  <c:majorUnit val="0.2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00">
              <a:latin typeface="Aptos"/>
              <a:cs typeface="Aptos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</c:v>
                </c:pt>
              </c:strCache>
            </c:strRef>
          </c:tx>
          <c:spPr>
            <a:ln w="25400" cap="flat">
              <a:solidFill>
                <a:srgbClr val="2E74D4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74D4"/>
              </a:solidFill>
              <a:ln w="9525" cap="flat">
                <a:solidFill>
                  <a:srgbClr val="2E74D4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1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40</c:v>
                </c:pt>
                <c:pt idx="5">
                  <c:v>50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0.82</c:v>
                </c:pt>
                <c:pt idx="1">
                  <c:v>0.65</c:v>
                </c:pt>
                <c:pt idx="2">
                  <c:v>0.48</c:v>
                </c:pt>
                <c:pt idx="3">
                  <c:v>0.34</c:v>
                </c:pt>
                <c:pt idx="4">
                  <c:v>0.25</c:v>
                </c:pt>
                <c:pt idx="5">
                  <c:v>0.2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DE6-4558-9D79-71CBB628CE9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</c:v>
                </c:pt>
              </c:strCache>
            </c:strRef>
          </c:tx>
          <c:spPr>
            <a:ln w="25400" cap="flat">
              <a:solidFill>
                <a:srgbClr val="D9534F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9534F"/>
              </a:solidFill>
              <a:ln w="9525" cap="flat">
                <a:solidFill>
                  <a:srgbClr val="D9534F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1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40</c:v>
                </c:pt>
                <c:pt idx="5">
                  <c:v>50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0.86</c:v>
                </c:pt>
                <c:pt idx="1">
                  <c:v>0.66</c:v>
                </c:pt>
                <c:pt idx="2">
                  <c:v>0.51</c:v>
                </c:pt>
                <c:pt idx="3">
                  <c:v>0.55000000000000004</c:v>
                </c:pt>
                <c:pt idx="4">
                  <c:v>0.67</c:v>
                </c:pt>
                <c:pt idx="5">
                  <c:v>0.82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DE6-4558-9D79-71CBB628CE9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  <c:majorUnit val="0.2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00">
              <a:latin typeface="Aptos"/>
              <a:cs typeface="Aptos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</c:v>
                </c:pt>
              </c:strCache>
            </c:strRef>
          </c:tx>
          <c:spPr>
            <a:ln w="25400" cap="flat">
              <a:solidFill>
                <a:srgbClr val="2E74D4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74D4"/>
              </a:solidFill>
              <a:ln w="9525" cap="flat">
                <a:solidFill>
                  <a:srgbClr val="2E74D4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1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40</c:v>
                </c:pt>
                <c:pt idx="5">
                  <c:v>50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0.82</c:v>
                </c:pt>
                <c:pt idx="1">
                  <c:v>0.65</c:v>
                </c:pt>
                <c:pt idx="2">
                  <c:v>0.48</c:v>
                </c:pt>
                <c:pt idx="3">
                  <c:v>0.34</c:v>
                </c:pt>
                <c:pt idx="4">
                  <c:v>0.25</c:v>
                </c:pt>
                <c:pt idx="5">
                  <c:v>0.2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08E-4102-AB56-9F127E78722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</c:v>
                </c:pt>
              </c:strCache>
            </c:strRef>
          </c:tx>
          <c:spPr>
            <a:ln w="25400" cap="flat">
              <a:solidFill>
                <a:srgbClr val="D9534F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9534F"/>
              </a:solidFill>
              <a:ln w="9525" cap="flat">
                <a:solidFill>
                  <a:srgbClr val="D9534F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1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40</c:v>
                </c:pt>
                <c:pt idx="5">
                  <c:v>50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0.86</c:v>
                </c:pt>
                <c:pt idx="1">
                  <c:v>0.66</c:v>
                </c:pt>
                <c:pt idx="2">
                  <c:v>0.51</c:v>
                </c:pt>
                <c:pt idx="3">
                  <c:v>0.55000000000000004</c:v>
                </c:pt>
                <c:pt idx="4">
                  <c:v>0.67</c:v>
                </c:pt>
                <c:pt idx="5">
                  <c:v>0.82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08E-4102-AB56-9F127E78722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  <c:majorUnit val="0.2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00">
              <a:latin typeface="Aptos"/>
              <a:cs typeface="Aptos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54242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B5C"/>
          </a:solidFill>
          <a:ln w="12700">
            <a:solidFill>
              <a:srgbClr val="173B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A999"/>
          </a:solidFill>
          <a:ln w="12700">
            <a:solidFill>
              <a:srgbClr val="18A99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77240" y="1481328"/>
            <a:ext cx="10149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TensorFlow/Keras, Learning Curves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&amp; Deep Neural Networks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914400" y="4892040"/>
            <a:ext cx="1325880" cy="502920"/>
          </a:xfrm>
          <a:prstGeom prst="rect">
            <a:avLst/>
          </a:prstGeom>
          <a:solidFill>
            <a:srgbClr val="CFF4EE"/>
          </a:solidFill>
          <a:ln w="15240">
            <a:solidFill>
              <a:srgbClr val="CFF4EE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B5C"/>
                </a:solidFill>
              </a:rPr>
              <a:t>Define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286000" y="5138928"/>
            <a:ext cx="457200" cy="0"/>
          </a:xfrm>
          <a:prstGeom prst="line">
            <a:avLst/>
          </a:prstGeom>
          <a:noFill/>
          <a:ln w="16510">
            <a:solidFill>
              <a:srgbClr val="18A999"/>
            </a:solidFill>
            <a:prstDash val="solid"/>
            <a:tailEnd type="triangle"/>
          </a:ln>
        </p:spPr>
        <p:txBody>
          <a:bodyPr/>
          <a:lstStyle/>
          <a:p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788920" y="4892040"/>
            <a:ext cx="1325880" cy="502920"/>
          </a:xfrm>
          <a:prstGeom prst="rect">
            <a:avLst/>
          </a:prstGeom>
          <a:solidFill>
            <a:srgbClr val="DCEBFF"/>
          </a:solidFill>
          <a:ln w="15240">
            <a:solidFill>
              <a:srgbClr val="DCEBF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B5C"/>
                </a:solidFill>
              </a:rPr>
              <a:t>Compile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160520" y="5138928"/>
            <a:ext cx="457200" cy="0"/>
          </a:xfrm>
          <a:prstGeom prst="line">
            <a:avLst/>
          </a:prstGeom>
          <a:noFill/>
          <a:ln w="16510">
            <a:solidFill>
              <a:srgbClr val="18A999"/>
            </a:solidFill>
            <a:prstDash val="solid"/>
            <a:tailEnd type="triangle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663440" y="4892040"/>
            <a:ext cx="1325880" cy="502920"/>
          </a:xfrm>
          <a:prstGeom prst="rect">
            <a:avLst/>
          </a:prstGeom>
          <a:solidFill>
            <a:srgbClr val="EEE6FF"/>
          </a:solidFill>
          <a:ln w="15240">
            <a:solidFill>
              <a:srgbClr val="EEE6F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B5C"/>
                </a:solidFill>
              </a:rPr>
              <a:t>Train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035040" y="5138928"/>
            <a:ext cx="457200" cy="0"/>
          </a:xfrm>
          <a:prstGeom prst="line">
            <a:avLst/>
          </a:prstGeom>
          <a:noFill/>
          <a:ln w="16510">
            <a:solidFill>
              <a:srgbClr val="18A999"/>
            </a:solidFill>
            <a:prstDash val="solid"/>
            <a:tailEnd type="triangle"/>
          </a:ln>
        </p:spPr>
        <p:txBody>
          <a:bodyPr/>
          <a:lstStyle/>
          <a:p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537960" y="4892040"/>
            <a:ext cx="1325880" cy="502920"/>
          </a:xfrm>
          <a:prstGeom prst="rect">
            <a:avLst/>
          </a:prstGeom>
          <a:solidFill>
            <a:srgbClr val="FFE6E6"/>
          </a:solidFill>
          <a:ln w="15240">
            <a:solidFill>
              <a:srgbClr val="FFE6E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B5C"/>
                </a:solidFill>
              </a:rPr>
              <a:t>Evaluate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73B5C"/>
          </a:solidFill>
          <a:ln w="12700">
            <a:solidFill>
              <a:srgbClr val="173B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118872"/>
            <a:ext cx="12191695" cy="36576"/>
          </a:xfrm>
          <a:prstGeom prst="rect">
            <a:avLst/>
          </a:prstGeom>
          <a:solidFill>
            <a:srgbClr val="18A999"/>
          </a:solidFill>
          <a:ln w="12700">
            <a:solidFill>
              <a:srgbClr val="18A99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" y="65196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Overview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9784080" y="651967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Deep Learning Course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02920" y="384048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73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Lecture Roadmap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30352" y="868680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26171"/>
                </a:solidFill>
              </a:rPr>
              <a:t>How today’s lesson moves from practical Keras coding to deep network challenges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30352" y="1170432"/>
            <a:ext cx="2011680" cy="0"/>
          </a:xfrm>
          <a:prstGeom prst="line">
            <a:avLst/>
          </a:prstGeom>
          <a:noFill/>
          <a:ln w="27940">
            <a:solidFill>
              <a:srgbClr val="18A999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22960" y="1417320"/>
            <a:ext cx="457200" cy="457200"/>
          </a:xfrm>
          <a:prstGeom prst="rect">
            <a:avLst/>
          </a:prstGeom>
          <a:solidFill>
            <a:srgbClr val="18A999"/>
          </a:solidFill>
          <a:ln w="15240">
            <a:solidFill>
              <a:srgbClr val="18A99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63040" y="139903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B5C"/>
                </a:solidFill>
              </a:rPr>
              <a:t>Why frameworks?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63040" y="170992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26171"/>
                </a:solidFill>
              </a:rPr>
              <a:t>From scratch → TensorFlow/Keras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2651760"/>
            <a:ext cx="457200" cy="457200"/>
          </a:xfrm>
          <a:prstGeom prst="rect">
            <a:avLst/>
          </a:prstGeom>
          <a:solidFill>
            <a:srgbClr val="18A999"/>
          </a:solidFill>
          <a:ln w="15240">
            <a:solidFill>
              <a:srgbClr val="18A99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63040" y="263347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B5C"/>
                </a:solidFill>
              </a:rPr>
              <a:t>Keras workflow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63040" y="294436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26171"/>
                </a:solidFill>
              </a:rPr>
              <a:t>Define → Compile → Fit → Evaluate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" y="3886200"/>
            <a:ext cx="457200" cy="457200"/>
          </a:xfrm>
          <a:prstGeom prst="rect">
            <a:avLst/>
          </a:prstGeom>
          <a:solidFill>
            <a:srgbClr val="18A999"/>
          </a:solidFill>
          <a:ln w="15240">
            <a:solidFill>
              <a:srgbClr val="18A99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63040" y="386791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B5C"/>
                </a:solidFill>
              </a:rPr>
              <a:t>Learning curves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63040" y="417880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26171"/>
                </a:solidFill>
              </a:rPr>
              <a:t>Diagnose good fit, overfitting, underfitting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0" y="1417320"/>
            <a:ext cx="457200" cy="457200"/>
          </a:xfrm>
          <a:prstGeom prst="rect">
            <a:avLst/>
          </a:prstGeom>
          <a:solidFill>
            <a:srgbClr val="18A999"/>
          </a:solidFill>
          <a:ln w="15240">
            <a:solidFill>
              <a:srgbClr val="18A99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040880" y="139903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B5C"/>
                </a:solidFill>
              </a:rPr>
              <a:t>Deep networks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040880" y="170992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26171"/>
                </a:solidFill>
              </a:rPr>
              <a:t>Hierarchical features and depth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0" y="2651760"/>
            <a:ext cx="457200" cy="457200"/>
          </a:xfrm>
          <a:prstGeom prst="rect">
            <a:avLst/>
          </a:prstGeom>
          <a:solidFill>
            <a:srgbClr val="18A999"/>
          </a:solidFill>
          <a:ln w="15240">
            <a:solidFill>
              <a:srgbClr val="18A99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040880" y="263347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B5C"/>
                </a:solidFill>
              </a:rPr>
              <a:t>Training challenges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040880" y="294436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26171"/>
                </a:solidFill>
              </a:rPr>
              <a:t>Vanishing/exploding gradients and overfitting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00800" y="3886200"/>
            <a:ext cx="457200" cy="457200"/>
          </a:xfrm>
          <a:prstGeom prst="rect">
            <a:avLst/>
          </a:prstGeom>
          <a:solidFill>
            <a:srgbClr val="18A999"/>
          </a:solidFill>
          <a:ln w="15240">
            <a:solidFill>
              <a:srgbClr val="18A99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040880" y="386791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B5C"/>
                </a:solidFill>
              </a:rPr>
              <a:t>Solutions &amp; lab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040880" y="417880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26171"/>
                </a:solidFill>
              </a:rPr>
              <a:t>Dropout, BatchNorm, Early Stopping, comparison experiment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73B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B5C"/>
          </a:solidFill>
          <a:ln w="12700">
            <a:solidFill>
              <a:srgbClr val="173B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777240" y="1005840"/>
            <a:ext cx="118872" cy="4800600"/>
          </a:xfrm>
          <a:prstGeom prst="rect">
            <a:avLst/>
          </a:prstGeom>
          <a:solidFill>
            <a:srgbClr val="18A999"/>
          </a:solidFill>
          <a:ln w="12700">
            <a:solidFill>
              <a:srgbClr val="18A99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078992" y="106984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8A999"/>
                </a:solidFill>
              </a:rPr>
              <a:t>UNIT 6 • LESSON 5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51560" y="1874520"/>
            <a:ext cx="9692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Part 1 — TensorFlow/Keras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78992" y="2926080"/>
            <a:ext cx="795528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DEAF7"/>
                </a:solidFill>
              </a:rPr>
              <a:t>Building neural networks with a production framework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73B5C"/>
          </a:solidFill>
          <a:ln w="12700">
            <a:solidFill>
              <a:srgbClr val="173B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118872"/>
            <a:ext cx="12191695" cy="36576"/>
          </a:xfrm>
          <a:prstGeom prst="rect">
            <a:avLst/>
          </a:prstGeom>
          <a:solidFill>
            <a:srgbClr val="18A999"/>
          </a:solidFill>
          <a:ln w="12700">
            <a:solidFill>
              <a:srgbClr val="18A99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" y="65196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6 • Lesson 5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02920" y="384048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73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Do We Need Deep Learning Frameworks?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30352" y="868680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26171"/>
                </a:solidFill>
              </a:rPr>
              <a:t>Frameworks automate low-level complexity so we can focus on model design and experimentation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30352" y="1170432"/>
            <a:ext cx="2011680" cy="0"/>
          </a:xfrm>
          <a:prstGeom prst="line">
            <a:avLst/>
          </a:prstGeom>
          <a:noFill/>
          <a:ln w="27940">
            <a:solidFill>
              <a:srgbClr val="18A999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85800" y="1417320"/>
            <a:ext cx="2788920" cy="768096"/>
          </a:xfrm>
          <a:prstGeom prst="rect">
            <a:avLst/>
          </a:prstGeom>
          <a:solidFill>
            <a:srgbClr val="173B5C"/>
          </a:solidFill>
          <a:ln w="6350">
            <a:solidFill>
              <a:srgbClr val="D0DAE5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From Scratch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474720" y="1417320"/>
            <a:ext cx="2788920" cy="768096"/>
          </a:xfrm>
          <a:prstGeom prst="rect">
            <a:avLst/>
          </a:prstGeom>
          <a:solidFill>
            <a:srgbClr val="173B5C"/>
          </a:solidFill>
          <a:ln w="6350">
            <a:solidFill>
              <a:srgbClr val="D0DAE5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With Keras / TensorFlow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2185416"/>
            <a:ext cx="2788920" cy="768096"/>
          </a:xfrm>
          <a:prstGeom prst="rect">
            <a:avLst/>
          </a:prstGeom>
          <a:solidFill>
            <a:srgbClr val="F7FAFC"/>
          </a:solidFill>
          <a:ln w="6350">
            <a:solidFill>
              <a:srgbClr val="D0DAE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C2733"/>
                </a:solidFill>
              </a:rPr>
              <a:t>Manual gradients and many lines of code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74720" y="2185416"/>
            <a:ext cx="2788920" cy="768096"/>
          </a:xfrm>
          <a:prstGeom prst="rect">
            <a:avLst/>
          </a:prstGeom>
          <a:solidFill>
            <a:srgbClr val="F7FAFC"/>
          </a:solidFill>
          <a:ln w="6350">
            <a:solidFill>
              <a:srgbClr val="D0DAE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C2733"/>
                </a:solidFill>
              </a:rPr>
              <a:t>Automatic differentiation and concise code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2953512"/>
            <a:ext cx="2788920" cy="768096"/>
          </a:xfrm>
          <a:prstGeom prst="rect">
            <a:avLst/>
          </a:prstGeom>
          <a:solidFill>
            <a:srgbClr val="FFFFFF"/>
          </a:solidFill>
          <a:ln w="6350">
            <a:solidFill>
              <a:srgbClr val="D0DAE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C2733"/>
                </a:solidFill>
              </a:rPr>
              <a:t>Hard to scale and debug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74720" y="2953512"/>
            <a:ext cx="2788920" cy="768096"/>
          </a:xfrm>
          <a:prstGeom prst="rect">
            <a:avLst/>
          </a:prstGeom>
          <a:solidFill>
            <a:srgbClr val="FFFFFF"/>
          </a:solidFill>
          <a:ln w="6350">
            <a:solidFill>
              <a:srgbClr val="D0DAE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C2733"/>
                </a:solidFill>
              </a:rPr>
              <a:t>Well-tested, optimized operations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5800" y="3721608"/>
            <a:ext cx="2788920" cy="768096"/>
          </a:xfrm>
          <a:prstGeom prst="rect">
            <a:avLst/>
          </a:prstGeom>
          <a:solidFill>
            <a:srgbClr val="F7FAFC"/>
          </a:solidFill>
          <a:ln w="6350">
            <a:solidFill>
              <a:srgbClr val="D0DAE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C2733"/>
                </a:solidFill>
              </a:rPr>
              <a:t>Limited hardware acceleration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74720" y="3721608"/>
            <a:ext cx="2788920" cy="768096"/>
          </a:xfrm>
          <a:prstGeom prst="rect">
            <a:avLst/>
          </a:prstGeom>
          <a:solidFill>
            <a:srgbClr val="F7FAFC"/>
          </a:solidFill>
          <a:ln w="6350">
            <a:solidFill>
              <a:srgbClr val="D0DAE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C2733"/>
                </a:solidFill>
              </a:rPr>
              <a:t>GPU/TPU acceleration built in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85800" y="4489704"/>
            <a:ext cx="2788920" cy="768096"/>
          </a:xfrm>
          <a:prstGeom prst="rect">
            <a:avLst/>
          </a:prstGeom>
          <a:solidFill>
            <a:srgbClr val="FFFFFF"/>
          </a:solidFill>
          <a:ln w="6350">
            <a:solidFill>
              <a:srgbClr val="D0DAE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C2733"/>
                </a:solidFill>
              </a:rPr>
              <a:t>Best for understanding concepts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474720" y="4489704"/>
            <a:ext cx="2788920" cy="768096"/>
          </a:xfrm>
          <a:prstGeom prst="rect">
            <a:avLst/>
          </a:prstGeom>
          <a:solidFill>
            <a:srgbClr val="FFFFFF"/>
          </a:solidFill>
          <a:ln w="6350">
            <a:solidFill>
              <a:srgbClr val="D0DAE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C2733"/>
                </a:solidFill>
              </a:rPr>
              <a:t>Best for real projects and production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629400" y="1417320"/>
            <a:ext cx="470916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8A999"/>
                </a:solidFill>
              </a:rPr>
              <a:t>Teacher Emphasis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629400" y="1746504"/>
            <a:ext cx="4709160" cy="1499616"/>
          </a:xfrm>
          <a:prstGeom prst="rect">
            <a:avLst/>
          </a:prstGeom>
          <a:solidFill>
            <a:srgbClr val="F2FBFA"/>
          </a:solidFill>
          <a:ln>
            <a:solidFill>
              <a:srgbClr val="CDEDEA">
                <a:alpha val="95000"/>
              </a:srgbClr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C2733"/>
                </a:solidFill>
              </a:rPr>
              <a:t>Do not present Keras as “magic.” It is the same neural network math, but the framework handles repetitive steps: tensors, gradients, optimizers, batching, and device execution.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629400" y="3657600"/>
            <a:ext cx="470916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A623"/>
                </a:solidFill>
              </a:rPr>
              <a:t>Classroom question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629400" y="3986784"/>
            <a:ext cx="4709160" cy="996696"/>
          </a:xfrm>
          <a:prstGeom prst="rect">
            <a:avLst/>
          </a:prstGeom>
          <a:solidFill>
            <a:srgbClr val="FFF8E6"/>
          </a:solidFill>
          <a:ln>
            <a:solidFill>
              <a:srgbClr val="F3D999">
                <a:alpha val="95000"/>
              </a:srgbClr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C2733"/>
                </a:solidFill>
              </a:rPr>
              <a:t>If we already know how to compute forward and backward propagation manually, why should we not build every real project from scratch?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73B5C"/>
          </a:solidFill>
          <a:ln w="12700">
            <a:solidFill>
              <a:srgbClr val="173B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118872"/>
            <a:ext cx="12191695" cy="36576"/>
          </a:xfrm>
          <a:prstGeom prst="rect">
            <a:avLst/>
          </a:prstGeom>
          <a:solidFill>
            <a:srgbClr val="18A999"/>
          </a:solidFill>
          <a:ln w="12700">
            <a:solidFill>
              <a:srgbClr val="18A99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" y="65196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6 • Lesson 5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02920" y="384048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73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TensorFlow vs Keras: What Is the Difference?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30352" y="868680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26171"/>
                </a:solidFill>
              </a:rPr>
              <a:t>TensorFlow is the engine; Keras is the high-level interface most beginners use first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30352" y="1170432"/>
            <a:ext cx="2011680" cy="0"/>
          </a:xfrm>
          <a:prstGeom prst="line">
            <a:avLst/>
          </a:prstGeom>
          <a:noFill/>
          <a:ln w="27940">
            <a:solidFill>
              <a:srgbClr val="18A999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22960" y="1874520"/>
            <a:ext cx="2926080" cy="1097280"/>
          </a:xfrm>
          <a:prstGeom prst="rect">
            <a:avLst/>
          </a:prstGeom>
          <a:solidFill>
            <a:srgbClr val="DCEBFF"/>
          </a:solidFill>
          <a:ln w="15240">
            <a:solidFill>
              <a:srgbClr val="DCEBF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3B5C"/>
                </a:solidFill>
              </a:rPr>
              <a:t>TensorFlow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173B5C"/>
                </a:solidFill>
              </a:rPr>
              <a:t>Deep learning framework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617720" y="1874520"/>
            <a:ext cx="2926080" cy="1097280"/>
          </a:xfrm>
          <a:prstGeom prst="rect">
            <a:avLst/>
          </a:prstGeom>
          <a:solidFill>
            <a:srgbClr val="CFF4EE"/>
          </a:solidFill>
          <a:ln w="15240">
            <a:solidFill>
              <a:srgbClr val="CFF4EE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3B5C"/>
                </a:solidFill>
              </a:rPr>
              <a:t>Keras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173B5C"/>
                </a:solidFill>
              </a:rPr>
              <a:t>High-level API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412480" y="1874520"/>
            <a:ext cx="2926080" cy="1097280"/>
          </a:xfrm>
          <a:prstGeom prst="rect">
            <a:avLst/>
          </a:prstGeom>
          <a:solidFill>
            <a:srgbClr val="EEE6FF"/>
          </a:solidFill>
          <a:ln w="15240">
            <a:solidFill>
              <a:srgbClr val="EEE6F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3B5C"/>
                </a:solidFill>
              </a:rPr>
              <a:t>Your Model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173B5C"/>
                </a:solidFill>
              </a:rPr>
              <a:t>Layers + training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3840480" y="2423160"/>
            <a:ext cx="640080" cy="0"/>
          </a:xfrm>
          <a:prstGeom prst="line">
            <a:avLst/>
          </a:prstGeom>
          <a:noFill/>
          <a:ln w="25400">
            <a:solidFill>
              <a:srgbClr val="18A999"/>
            </a:solidFill>
            <a:prstDash val="solid"/>
            <a:tailEnd type="triangle"/>
          </a:ln>
        </p:spPr>
        <p:txBody>
          <a:bodyPr/>
          <a:lstStyle/>
          <a:p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7635240" y="2423160"/>
            <a:ext cx="640080" cy="0"/>
          </a:xfrm>
          <a:prstGeom prst="line">
            <a:avLst/>
          </a:prstGeom>
          <a:noFill/>
          <a:ln w="25400">
            <a:solidFill>
              <a:srgbClr val="18A999"/>
            </a:solidFill>
            <a:prstDash val="solid"/>
            <a:tailEnd type="triangle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097280" y="3794760"/>
            <a:ext cx="96012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C2733"/>
                </a:solidFill>
              </a:rPr>
              <a:t>✓ Keras is integrated inside TensorFlow: tensorflow.keras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C2733"/>
                </a:solidFill>
              </a:rPr>
              <a:t>✓ Sequential API is ideal for simple linear stacks of layers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C2733"/>
                </a:solidFill>
              </a:rPr>
              <a:t>✓ Dense layers are fully connected layers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C2733"/>
                </a:solidFill>
              </a:rPr>
              <a:t>✓ Compile prepares the training configuration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73B5C"/>
          </a:solidFill>
          <a:ln w="12700">
            <a:solidFill>
              <a:srgbClr val="173B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118872"/>
            <a:ext cx="12191695" cy="36576"/>
          </a:xfrm>
          <a:prstGeom prst="rect">
            <a:avLst/>
          </a:prstGeom>
          <a:solidFill>
            <a:srgbClr val="18A999"/>
          </a:solidFill>
          <a:ln w="12700">
            <a:solidFill>
              <a:srgbClr val="18A99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" y="65196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6 • Lesson 5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02920" y="384048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73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Keras Workflow in 4 Steps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30352" y="868680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26171"/>
                </a:solidFill>
              </a:rPr>
              <a:t>Almost every Keras project follows the same mental model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30352" y="1170432"/>
            <a:ext cx="2011680" cy="0"/>
          </a:xfrm>
          <a:prstGeom prst="line">
            <a:avLst/>
          </a:prstGeom>
          <a:noFill/>
          <a:ln w="27940">
            <a:solidFill>
              <a:srgbClr val="18A999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31520" y="1828800"/>
            <a:ext cx="411480" cy="411480"/>
          </a:xfrm>
          <a:prstGeom prst="rect">
            <a:avLst/>
          </a:prstGeom>
          <a:solidFill>
            <a:srgbClr val="173B5C"/>
          </a:solidFill>
          <a:ln w="15240">
            <a:solidFill>
              <a:srgbClr val="173B5C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34440" y="177393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B5C"/>
                </a:solidFill>
              </a:rPr>
              <a:t>Define model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77240" y="2258568"/>
            <a:ext cx="214884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26171"/>
                </a:solidFill>
              </a:rPr>
              <a:t>Choose architecture and layers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77240" y="2907792"/>
            <a:ext cx="2148840" cy="347472"/>
          </a:xfrm>
          <a:prstGeom prst="rect">
            <a:avLst/>
          </a:prstGeom>
          <a:solidFill>
            <a:srgbClr val="CFF4EE"/>
          </a:solidFill>
          <a:ln>
            <a:solidFill>
              <a:srgbClr val="CAD6E2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C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Sequential([...])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063240" y="2029968"/>
            <a:ext cx="411480" cy="0"/>
          </a:xfrm>
          <a:prstGeom prst="line">
            <a:avLst/>
          </a:prstGeom>
          <a:noFill/>
          <a:ln w="20320">
            <a:solidFill>
              <a:srgbClr val="18A999"/>
            </a:solidFill>
            <a:prstDash val="solid"/>
            <a:tailEnd type="triangle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566160" y="1828800"/>
            <a:ext cx="411480" cy="411480"/>
          </a:xfrm>
          <a:prstGeom prst="rect">
            <a:avLst/>
          </a:prstGeom>
          <a:solidFill>
            <a:srgbClr val="173B5C"/>
          </a:solidFill>
          <a:ln w="15240">
            <a:solidFill>
              <a:srgbClr val="173B5C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069080" y="177393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B5C"/>
                </a:solidFill>
              </a:rPr>
              <a:t>Compile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611880" y="2258568"/>
            <a:ext cx="214884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26171"/>
                </a:solidFill>
              </a:rPr>
              <a:t>Choose loss, optimizer, metrics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611880" y="2907792"/>
            <a:ext cx="2148840" cy="347472"/>
          </a:xfrm>
          <a:prstGeom prst="rect">
            <a:avLst/>
          </a:prstGeom>
          <a:solidFill>
            <a:srgbClr val="DCEBFF"/>
          </a:solidFill>
          <a:ln>
            <a:solidFill>
              <a:srgbClr val="CAD6E2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C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model.compile(...)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897880" y="2029968"/>
            <a:ext cx="411480" cy="0"/>
          </a:xfrm>
          <a:prstGeom prst="line">
            <a:avLst/>
          </a:prstGeom>
          <a:noFill/>
          <a:ln w="20320">
            <a:solidFill>
              <a:srgbClr val="18A999"/>
            </a:solidFill>
            <a:prstDash val="solid"/>
            <a:tailEnd type="triangle"/>
          </a:ln>
        </p:spPr>
        <p:txBody>
          <a:bodyPr/>
          <a:lstStyle/>
          <a:p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400800" y="1828800"/>
            <a:ext cx="411480" cy="411480"/>
          </a:xfrm>
          <a:prstGeom prst="rect">
            <a:avLst/>
          </a:prstGeom>
          <a:solidFill>
            <a:srgbClr val="173B5C"/>
          </a:solidFill>
          <a:ln w="15240">
            <a:solidFill>
              <a:srgbClr val="173B5C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903720" y="177393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B5C"/>
                </a:solidFill>
              </a:rPr>
              <a:t>Train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446520" y="2258568"/>
            <a:ext cx="214884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26171"/>
                </a:solidFill>
              </a:rPr>
              <a:t>Fit model to training data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446520" y="2907792"/>
            <a:ext cx="2148840" cy="347472"/>
          </a:xfrm>
          <a:prstGeom prst="rect">
            <a:avLst/>
          </a:prstGeom>
          <a:solidFill>
            <a:srgbClr val="EEE6FF"/>
          </a:solidFill>
          <a:ln>
            <a:solidFill>
              <a:srgbClr val="CAD6E2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C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model.fit(...)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732520" y="2029968"/>
            <a:ext cx="411480" cy="0"/>
          </a:xfrm>
          <a:prstGeom prst="line">
            <a:avLst/>
          </a:prstGeom>
          <a:noFill/>
          <a:ln w="20320">
            <a:solidFill>
              <a:srgbClr val="18A999"/>
            </a:solidFill>
            <a:prstDash val="solid"/>
            <a:tailEnd type="triangle"/>
          </a:ln>
        </p:spPr>
        <p:txBody>
          <a:bodyPr/>
          <a:lstStyle/>
          <a:p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9235440" y="1828800"/>
            <a:ext cx="411480" cy="411480"/>
          </a:xfrm>
          <a:prstGeom prst="rect">
            <a:avLst/>
          </a:prstGeom>
          <a:solidFill>
            <a:srgbClr val="173B5C"/>
          </a:solidFill>
          <a:ln w="15240">
            <a:solidFill>
              <a:srgbClr val="173B5C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738360" y="177393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B5C"/>
                </a:solidFill>
              </a:rPr>
              <a:t>Evaluate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281160" y="2258568"/>
            <a:ext cx="214884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26171"/>
                </a:solidFill>
              </a:rPr>
              <a:t>Test generalization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9281160" y="2907792"/>
            <a:ext cx="2148840" cy="347472"/>
          </a:xfrm>
          <a:prstGeom prst="rect">
            <a:avLst/>
          </a:prstGeom>
          <a:solidFill>
            <a:srgbClr val="FFE6E6"/>
          </a:solidFill>
          <a:ln>
            <a:solidFill>
              <a:srgbClr val="CAD6E2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C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model.evaluate(...)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68680" y="4572000"/>
            <a:ext cx="1037844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B5C"/>
                </a:solidFill>
              </a:rPr>
              <a:t>Key point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68680" y="4901184"/>
            <a:ext cx="10378440" cy="493776"/>
          </a:xfrm>
          <a:prstGeom prst="rect">
            <a:avLst/>
          </a:prstGeom>
          <a:solidFill>
            <a:srgbClr val="F8FAFC"/>
          </a:solidFill>
          <a:ln>
            <a:solidFill>
              <a:srgbClr val="D6E0EA">
                <a:alpha val="95000"/>
              </a:srgbClr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C2733"/>
                </a:solidFill>
              </a:rPr>
              <a:t>Keras separates model structure from training choices. The same architecture can be compiled with different losses, optimizers, and metrics depending on the task.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73B5C"/>
          </a:solidFill>
          <a:ln w="12700">
            <a:solidFill>
              <a:srgbClr val="173B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118872"/>
            <a:ext cx="12191695" cy="36576"/>
          </a:xfrm>
          <a:prstGeom prst="rect">
            <a:avLst/>
          </a:prstGeom>
          <a:solidFill>
            <a:srgbClr val="18A999"/>
          </a:solidFill>
          <a:ln w="12700">
            <a:solidFill>
              <a:srgbClr val="18A99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" y="65196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6 • Lesson 5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02920" y="384048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73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Defining a Neural Network with Sequential + Dense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30352" y="868680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26171"/>
                </a:solidFill>
              </a:rPr>
              <a:t>Sequential stacks layers linearly; Dense means each neuron connects to all outputs from previous layer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30352" y="1170432"/>
            <a:ext cx="2011680" cy="0"/>
          </a:xfrm>
          <a:prstGeom prst="line">
            <a:avLst/>
          </a:prstGeom>
          <a:noFill/>
          <a:ln w="27940">
            <a:solidFill>
              <a:srgbClr val="18A999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68680" y="1874520"/>
            <a:ext cx="1234440" cy="731520"/>
          </a:xfrm>
          <a:prstGeom prst="rect">
            <a:avLst/>
          </a:prstGeom>
          <a:solidFill>
            <a:srgbClr val="F5F7FA"/>
          </a:solidFill>
          <a:ln w="15240">
            <a:solidFill>
              <a:srgbClr val="F5F7F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3B5C"/>
                </a:solidFill>
              </a:rPr>
              <a:t>Input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73B5C"/>
                </a:solidFill>
              </a:rPr>
              <a:t>10 features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148840" y="2240280"/>
            <a:ext cx="502920" cy="0"/>
          </a:xfrm>
          <a:prstGeom prst="line">
            <a:avLst/>
          </a:prstGeom>
          <a:noFill/>
          <a:ln w="16510">
            <a:solidFill>
              <a:srgbClr val="18A999"/>
            </a:solidFill>
            <a:prstDash val="solid"/>
            <a:tailEnd type="triangle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697480" y="1645920"/>
            <a:ext cx="1463040" cy="1188720"/>
          </a:xfrm>
          <a:prstGeom prst="rect">
            <a:avLst/>
          </a:prstGeom>
          <a:solidFill>
            <a:srgbClr val="CFF4EE"/>
          </a:solidFill>
          <a:ln w="15240">
            <a:solidFill>
              <a:srgbClr val="CFF4EE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B5C"/>
                </a:solidFill>
              </a:rPr>
              <a:t>Dense(64)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73B5C"/>
                </a:solidFill>
              </a:rPr>
              <a:t>ReLU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206240" y="2240280"/>
            <a:ext cx="502920" cy="0"/>
          </a:xfrm>
          <a:prstGeom prst="line">
            <a:avLst/>
          </a:prstGeom>
          <a:noFill/>
          <a:ln w="16510">
            <a:solidFill>
              <a:srgbClr val="18A999"/>
            </a:solidFill>
            <a:prstDash val="solid"/>
            <a:tailEnd type="triangle"/>
          </a:ln>
        </p:spPr>
        <p:txBody>
          <a:bodyPr/>
          <a:lstStyle/>
          <a:p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754880" y="1645920"/>
            <a:ext cx="1463040" cy="1188720"/>
          </a:xfrm>
          <a:prstGeom prst="rect">
            <a:avLst/>
          </a:prstGeom>
          <a:solidFill>
            <a:srgbClr val="DCEBFF"/>
          </a:solidFill>
          <a:ln w="15240">
            <a:solidFill>
              <a:srgbClr val="DCEBF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B5C"/>
                </a:solidFill>
              </a:rPr>
              <a:t>Dense(32)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73B5C"/>
                </a:solidFill>
              </a:rPr>
              <a:t>ReLU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63640" y="2240280"/>
            <a:ext cx="502920" cy="0"/>
          </a:xfrm>
          <a:prstGeom prst="line">
            <a:avLst/>
          </a:prstGeom>
          <a:noFill/>
          <a:ln w="16510">
            <a:solidFill>
              <a:srgbClr val="18A999"/>
            </a:solidFill>
            <a:prstDash val="solid"/>
            <a:tailEnd type="triangle"/>
          </a:ln>
        </p:spPr>
        <p:txBody>
          <a:bodyPr/>
          <a:lstStyle/>
          <a:p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812280" y="1645920"/>
            <a:ext cx="1463040" cy="1188720"/>
          </a:xfrm>
          <a:prstGeom prst="rect">
            <a:avLst/>
          </a:prstGeom>
          <a:solidFill>
            <a:srgbClr val="FFE6E6"/>
          </a:solidFill>
          <a:ln w="15240">
            <a:solidFill>
              <a:srgbClr val="FFE6E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B5C"/>
                </a:solidFill>
              </a:rPr>
              <a:t>Dense(1)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73B5C"/>
                </a:solidFill>
              </a:rPr>
              <a:t>Sigmoid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321040" y="2240280"/>
            <a:ext cx="502920" cy="0"/>
          </a:xfrm>
          <a:prstGeom prst="line">
            <a:avLst/>
          </a:prstGeom>
          <a:noFill/>
          <a:ln w="16510">
            <a:solidFill>
              <a:srgbClr val="18A999"/>
            </a:solidFill>
            <a:prstDash val="solid"/>
            <a:tailEnd type="triangle"/>
          </a:ln>
        </p:spPr>
        <p:txBody>
          <a:bodyPr/>
          <a:lstStyle/>
          <a:p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869680" y="1874520"/>
            <a:ext cx="1463040" cy="731520"/>
          </a:xfrm>
          <a:prstGeom prst="rect">
            <a:avLst/>
          </a:prstGeom>
          <a:solidFill>
            <a:srgbClr val="FFF2CC"/>
          </a:solidFill>
          <a:ln w="15240">
            <a:solidFill>
              <a:srgbClr val="FFF2CC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3B5C"/>
                </a:solidFill>
              </a:rPr>
              <a:t>Output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73B5C"/>
                </a:solidFill>
              </a:rPr>
              <a:t>Probability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30352" y="3986784"/>
            <a:ext cx="7104888" cy="2313432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Sequential([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Dense(64, activation='relu', input_shape=(10,)),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Dense(32, activation='relu'),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Dense(1, activation='sigmoid')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8275320" y="3986784"/>
            <a:ext cx="370332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380" b="1" dirty="0">
                <a:solidFill>
                  <a:srgbClr val="18A999"/>
                </a:solidFill>
              </a:rPr>
              <a:t>How to explain</a:t>
            </a:r>
            <a:endParaRPr lang="en-US" sz="1380" dirty="0"/>
          </a:p>
        </p:txBody>
      </p:sp>
      <p:sp>
        <p:nvSpPr>
          <p:cNvPr id="20" name="Text 18"/>
          <p:cNvSpPr/>
          <p:nvPr/>
        </p:nvSpPr>
        <p:spPr>
          <a:xfrm>
            <a:off x="8275320" y="4288536"/>
            <a:ext cx="3703320" cy="978408"/>
          </a:xfrm>
          <a:prstGeom prst="rect">
            <a:avLst/>
          </a:prstGeom>
          <a:solidFill>
            <a:srgbClr val="F2FBFA"/>
          </a:solidFill>
          <a:ln>
            <a:solidFill>
              <a:srgbClr val="CDEDEA">
                <a:alpha val="95000"/>
              </a:srgbClr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1C2733"/>
                </a:solidFill>
              </a:rPr>
              <a:t>Hidden layers use ReLU to learn non-linear patterns. The final sigmoid is used when the task is binary classification and we need a probability between 0 and 1.</a:t>
            </a:r>
            <a:endParaRPr lang="en-US" sz="12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73B5C"/>
          </a:solidFill>
          <a:ln w="12700">
            <a:solidFill>
              <a:srgbClr val="173B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118872"/>
            <a:ext cx="12191695" cy="36576"/>
          </a:xfrm>
          <a:prstGeom prst="rect">
            <a:avLst/>
          </a:prstGeom>
          <a:solidFill>
            <a:srgbClr val="18A999"/>
          </a:solidFill>
          <a:ln w="12700">
            <a:solidFill>
              <a:srgbClr val="18A99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" y="65196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6 • Lesson 5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02920" y="384048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73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Dense Layer Anatomy: What Happens Inside?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30352" y="868680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26171"/>
                </a:solidFill>
              </a:rPr>
              <a:t>Each neuron computes a weighted sum, adds bias, then applies an activation function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30352" y="1170432"/>
            <a:ext cx="2011680" cy="0"/>
          </a:xfrm>
          <a:prstGeom prst="line">
            <a:avLst/>
          </a:prstGeom>
          <a:noFill/>
          <a:ln w="27940">
            <a:solidFill>
              <a:srgbClr val="18A999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31520" y="1874520"/>
            <a:ext cx="1828800" cy="685800"/>
          </a:xfrm>
          <a:prstGeom prst="rect">
            <a:avLst/>
          </a:prstGeom>
          <a:solidFill>
            <a:srgbClr val="F5F7FA"/>
          </a:solidFill>
          <a:ln w="15240">
            <a:solidFill>
              <a:srgbClr val="F5F7F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B5C"/>
                </a:solidFill>
              </a:rPr>
              <a:t>Inputs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73B5C"/>
                </a:solidFill>
              </a:rPr>
              <a:t>x₁, x₂, …, xₙ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697480" y="2212848"/>
            <a:ext cx="594360" cy="0"/>
          </a:xfrm>
          <a:prstGeom prst="line">
            <a:avLst/>
          </a:prstGeom>
          <a:noFill/>
          <a:ln w="16510">
            <a:solidFill>
              <a:srgbClr val="18A999"/>
            </a:solidFill>
            <a:prstDash val="solid"/>
            <a:tailEnd type="triangle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337560" y="1645920"/>
            <a:ext cx="2194560" cy="1143000"/>
          </a:xfrm>
          <a:prstGeom prst="rect">
            <a:avLst/>
          </a:prstGeom>
          <a:solidFill>
            <a:srgbClr val="DCEBFF"/>
          </a:solidFill>
          <a:ln w="15240">
            <a:solidFill>
              <a:srgbClr val="DCEBF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3B5C"/>
                </a:solidFill>
              </a:rPr>
              <a:t>Linear step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173B5C"/>
                </a:solidFill>
              </a:rPr>
              <a:t>z = w·x + b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669280" y="2212848"/>
            <a:ext cx="594360" cy="0"/>
          </a:xfrm>
          <a:prstGeom prst="line">
            <a:avLst/>
          </a:prstGeom>
          <a:noFill/>
          <a:ln w="16510">
            <a:solidFill>
              <a:srgbClr val="18A999"/>
            </a:solidFill>
            <a:prstDash val="solid"/>
            <a:tailEnd type="triangle"/>
          </a:ln>
        </p:spPr>
        <p:txBody>
          <a:bodyPr/>
          <a:lstStyle/>
          <a:p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309360" y="1645920"/>
            <a:ext cx="1920240" cy="1143000"/>
          </a:xfrm>
          <a:prstGeom prst="rect">
            <a:avLst/>
          </a:prstGeom>
          <a:solidFill>
            <a:srgbClr val="CFF4EE"/>
          </a:solidFill>
          <a:ln w="15240">
            <a:solidFill>
              <a:srgbClr val="CFF4EE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3B5C"/>
                </a:solidFill>
              </a:rPr>
              <a:t>Activation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173B5C"/>
                </a:solidFill>
              </a:rPr>
              <a:t>a = g(z)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366760" y="2212848"/>
            <a:ext cx="594360" cy="0"/>
          </a:xfrm>
          <a:prstGeom prst="line">
            <a:avLst/>
          </a:prstGeom>
          <a:noFill/>
          <a:ln w="16510">
            <a:solidFill>
              <a:srgbClr val="18A999"/>
            </a:solidFill>
            <a:prstDash val="solid"/>
            <a:tailEnd type="triangle"/>
          </a:ln>
        </p:spPr>
        <p:txBody>
          <a:bodyPr/>
          <a:lstStyle/>
          <a:p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9006840" y="1874520"/>
            <a:ext cx="1325880" cy="685800"/>
          </a:xfrm>
          <a:prstGeom prst="rect">
            <a:avLst/>
          </a:prstGeom>
          <a:solidFill>
            <a:srgbClr val="FFF2CC"/>
          </a:solidFill>
          <a:ln w="15240">
            <a:solidFill>
              <a:srgbClr val="FFF2CC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B5C"/>
                </a:solidFill>
              </a:rPr>
              <a:t>Output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73B5C"/>
                </a:solidFill>
              </a:rPr>
              <a:t>a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14400" y="3886200"/>
            <a:ext cx="1024128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73B5C"/>
                </a:solidFill>
              </a:rPr>
              <a:t>Why activation matters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914400" y="4215384"/>
            <a:ext cx="10241280" cy="722376"/>
          </a:xfrm>
          <a:prstGeom prst="rect">
            <a:avLst/>
          </a:prstGeom>
          <a:solidFill>
            <a:srgbClr val="F8FAFC"/>
          </a:solidFill>
          <a:ln>
            <a:solidFill>
              <a:srgbClr val="D6E0EA">
                <a:alpha val="95000"/>
              </a:srgbClr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C2733"/>
                </a:solidFill>
              </a:rPr>
              <a:t>Without activation functions, stacking Dense layers is still only a linear model. ReLU, sigmoid, and softmax allow neural networks to learn non-linear decision boundaries.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73B5C"/>
          </a:solidFill>
          <a:ln w="12700">
            <a:solidFill>
              <a:srgbClr val="173B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118872"/>
            <a:ext cx="12191695" cy="36576"/>
          </a:xfrm>
          <a:prstGeom prst="rect">
            <a:avLst/>
          </a:prstGeom>
          <a:solidFill>
            <a:srgbClr val="18A999"/>
          </a:solidFill>
          <a:ln w="12700">
            <a:solidFill>
              <a:srgbClr val="18A99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" y="65196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6 • Lesson 5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02920" y="384048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73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Compile Step: Loss + Optimizer + Metrics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30352" y="868680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26171"/>
                </a:solidFill>
              </a:rPr>
              <a:t>Compile tells Keras how the model should learn and how performance should be measured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30352" y="1170432"/>
            <a:ext cx="2011680" cy="0"/>
          </a:xfrm>
          <a:prstGeom prst="line">
            <a:avLst/>
          </a:prstGeom>
          <a:noFill/>
          <a:ln w="27940">
            <a:solidFill>
              <a:srgbClr val="18A999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85800" y="1481328"/>
            <a:ext cx="4709160" cy="1325880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model.compile(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optimizer='adam',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loss='binary_crossentropy',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metrics=['accuracy']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806440" y="1353312"/>
            <a:ext cx="534924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D9534F"/>
                </a:solidFill>
              </a:rPr>
              <a:t>Loss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5806440" y="1682496"/>
            <a:ext cx="5349240" cy="630936"/>
          </a:xfrm>
          <a:prstGeom prst="rect">
            <a:avLst/>
          </a:prstGeom>
          <a:solidFill>
            <a:srgbClr val="FFE6E6"/>
          </a:solidFill>
          <a:ln>
            <a:solidFill>
              <a:srgbClr val="F1C7C7">
                <a:alpha val="95000"/>
              </a:srgbClr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C2733"/>
                </a:solidFill>
              </a:rPr>
              <a:t>The objective the model tries to minimize. Examples: binary_crossentropy, categorical_crossentropy, mean_squared_error.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806440" y="2578608"/>
            <a:ext cx="534924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E74D4"/>
                </a:solidFill>
              </a:rPr>
              <a:t>Optimizer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5806440" y="2907792"/>
            <a:ext cx="5349240" cy="630936"/>
          </a:xfrm>
          <a:prstGeom prst="rect">
            <a:avLst/>
          </a:prstGeom>
          <a:solidFill>
            <a:srgbClr val="DCEBFF"/>
          </a:solidFill>
          <a:ln>
            <a:solidFill>
              <a:srgbClr val="BBD1F0">
                <a:alpha val="95000"/>
              </a:srgbClr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C2733"/>
                </a:solidFill>
              </a:rPr>
              <a:t>The algorithm that updates weights using gradients. Adam is a strong default for many beginner experiments.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806440" y="3803904"/>
            <a:ext cx="534924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8A999"/>
                </a:solidFill>
              </a:rPr>
              <a:t>Metrics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5806440" y="4133088"/>
            <a:ext cx="5349240" cy="630936"/>
          </a:xfrm>
          <a:prstGeom prst="rect">
            <a:avLst/>
          </a:prstGeom>
          <a:solidFill>
            <a:srgbClr val="CFF4EE"/>
          </a:solidFill>
          <a:ln>
            <a:solidFill>
              <a:srgbClr val="BDEBE4">
                <a:alpha val="95000"/>
              </a:srgbClr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C2733"/>
                </a:solidFill>
              </a:rPr>
              <a:t>Human-readable performance indicators. Accuracy is common for classification, but it is not always enough.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73B5C"/>
          </a:solidFill>
          <a:ln w="12700">
            <a:solidFill>
              <a:srgbClr val="173B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118872"/>
            <a:ext cx="12191695" cy="36576"/>
          </a:xfrm>
          <a:prstGeom prst="rect">
            <a:avLst/>
          </a:prstGeom>
          <a:solidFill>
            <a:srgbClr val="18A999"/>
          </a:solidFill>
          <a:ln w="12700">
            <a:solidFill>
              <a:srgbClr val="18A99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" y="65196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6 • Lesson 5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02920" y="384048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73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Training with fit(): What Does Keras Return?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30352" y="868680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26171"/>
                </a:solidFill>
              </a:rPr>
              <a:t>model.fit() trains the model and returns a history object that records learning over epochs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30352" y="1170432"/>
            <a:ext cx="2011680" cy="0"/>
          </a:xfrm>
          <a:prstGeom prst="line">
            <a:avLst/>
          </a:prstGeom>
          <a:noFill/>
          <a:ln w="27940">
            <a:solidFill>
              <a:srgbClr val="18A999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85800" y="1325880"/>
            <a:ext cx="4937760" cy="1417320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history = model.fit(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X_train, y_train,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epochs=50,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validation_split=0.2,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verbose=1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20" dirty="0"/>
          </a:p>
        </p:txBody>
      </p:sp>
      <p:sp>
        <p:nvSpPr>
          <p:cNvPr id="10" name="Text 8"/>
          <p:cNvSpPr/>
          <p:nvPr/>
        </p:nvSpPr>
        <p:spPr>
          <a:xfrm>
            <a:off x="6537960" y="1325880"/>
            <a:ext cx="1143000" cy="457200"/>
          </a:xfrm>
          <a:prstGeom prst="rect">
            <a:avLst/>
          </a:prstGeom>
          <a:solidFill>
            <a:srgbClr val="F5F7FA"/>
          </a:solidFill>
          <a:ln w="15240">
            <a:solidFill>
              <a:srgbClr val="F5F7F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3B5C"/>
                </a:solidFill>
              </a:rPr>
              <a:t>Epoch 1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726680" y="1554480"/>
            <a:ext cx="457200" cy="0"/>
          </a:xfrm>
          <a:prstGeom prst="line">
            <a:avLst/>
          </a:prstGeom>
          <a:noFill/>
          <a:ln w="16510">
            <a:solidFill>
              <a:srgbClr val="18A999"/>
            </a:solidFill>
            <a:prstDash val="solid"/>
            <a:tailEnd type="triangle"/>
          </a:ln>
        </p:spPr>
        <p:txBody>
          <a:bodyPr/>
          <a:lstStyle/>
          <a:p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229600" y="1325880"/>
            <a:ext cx="1143000" cy="457200"/>
          </a:xfrm>
          <a:prstGeom prst="rect">
            <a:avLst/>
          </a:prstGeom>
          <a:solidFill>
            <a:srgbClr val="F5F7FA"/>
          </a:solidFill>
          <a:ln w="15240">
            <a:solidFill>
              <a:srgbClr val="F5F7F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3B5C"/>
                </a:solidFill>
              </a:rPr>
              <a:t>Epoch 2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418320" y="1554480"/>
            <a:ext cx="457200" cy="0"/>
          </a:xfrm>
          <a:prstGeom prst="line">
            <a:avLst/>
          </a:prstGeom>
          <a:noFill/>
          <a:ln w="16510">
            <a:solidFill>
              <a:srgbClr val="18A999"/>
            </a:solidFill>
            <a:prstDash val="solid"/>
            <a:tailEnd type="triangle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9921240" y="1325880"/>
            <a:ext cx="1143000" cy="457200"/>
          </a:xfrm>
          <a:prstGeom prst="rect">
            <a:avLst/>
          </a:prstGeom>
          <a:solidFill>
            <a:srgbClr val="F5F7FA"/>
          </a:solidFill>
          <a:ln w="15240">
            <a:solidFill>
              <a:srgbClr val="F5F7F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3B5C"/>
                </a:solidFill>
              </a:rPr>
              <a:t>Epoch 50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09360" y="2377440"/>
            <a:ext cx="4846320" cy="2103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C2733"/>
                </a:solidFill>
              </a:rPr>
              <a:t>✓ One epoch = one full pass over the training data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C2733"/>
                </a:solidFill>
              </a:rPr>
              <a:t>✓ validation_split=0.2 reserves 20% of training data for validation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C2733"/>
                </a:solidFill>
              </a:rPr>
              <a:t>✓ history.history contains loss, accuracy, val_loss, val_accuracy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C2733"/>
                </a:solidFill>
              </a:rPr>
              <a:t>✓ Validation performance helps diagnose overfitting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777240" y="4983480"/>
            <a:ext cx="1042416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480" b="1" dirty="0">
                <a:solidFill>
                  <a:srgbClr val="173B5C"/>
                </a:solidFill>
              </a:rPr>
              <a:t>Important distinction</a:t>
            </a:r>
            <a:endParaRPr lang="en-US" sz="1480" dirty="0"/>
          </a:p>
        </p:txBody>
      </p:sp>
      <p:sp>
        <p:nvSpPr>
          <p:cNvPr id="17" name="Text 15"/>
          <p:cNvSpPr/>
          <p:nvPr/>
        </p:nvSpPr>
        <p:spPr>
          <a:xfrm>
            <a:off x="777240" y="5312664"/>
            <a:ext cx="10424160" cy="384048"/>
          </a:xfrm>
          <a:prstGeom prst="rect">
            <a:avLst/>
          </a:prstGeom>
          <a:solidFill>
            <a:srgbClr val="F8FAFC"/>
          </a:solidFill>
          <a:ln>
            <a:solidFill>
              <a:srgbClr val="D6E0EA">
                <a:alpha val="95000"/>
              </a:srgbClr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buNone/>
            </a:pPr>
            <a:r>
              <a:rPr lang="en-US" sz="1380" dirty="0">
                <a:solidFill>
                  <a:srgbClr val="1C2733"/>
                </a:solidFill>
              </a:rPr>
              <a:t>Training set is used to update weights. Validation set is used to monitor performance during training. Test set is used only at the end.</a:t>
            </a:r>
            <a:endParaRPr lang="en-US" sz="13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73B5C"/>
          </a:solidFill>
          <a:ln w="12700">
            <a:solidFill>
              <a:srgbClr val="173B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118872"/>
            <a:ext cx="12191695" cy="36576"/>
          </a:xfrm>
          <a:prstGeom prst="rect">
            <a:avLst/>
          </a:prstGeom>
          <a:solidFill>
            <a:srgbClr val="18A999"/>
          </a:solidFill>
          <a:ln w="12700">
            <a:solidFill>
              <a:srgbClr val="18A99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" y="65196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6 • Lesson 5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02920" y="384048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73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Evaluate: Measuring Generalization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30352" y="868680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26171"/>
                </a:solidFill>
              </a:rPr>
              <a:t>After training, evaluate the model on unseen test data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30352" y="1170432"/>
            <a:ext cx="2011680" cy="0"/>
          </a:xfrm>
          <a:prstGeom prst="line">
            <a:avLst/>
          </a:prstGeom>
          <a:noFill/>
          <a:ln w="27940">
            <a:solidFill>
              <a:srgbClr val="18A999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31520" y="1508760"/>
            <a:ext cx="5257800" cy="777240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loss, acc = model.evaluate(X_test, y_test)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print(f'Test Accuracy: {acc:.3f}')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14400" y="2971800"/>
            <a:ext cx="2103120" cy="777240"/>
          </a:xfrm>
          <a:prstGeom prst="rect">
            <a:avLst/>
          </a:prstGeom>
          <a:solidFill>
            <a:srgbClr val="DCEBFF"/>
          </a:solidFill>
          <a:ln w="15240">
            <a:solidFill>
              <a:srgbClr val="DCEBF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B5C"/>
                </a:solidFill>
              </a:rPr>
              <a:t>Training Data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73B5C"/>
                </a:solidFill>
              </a:rPr>
              <a:t>learn weights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83480" y="2971800"/>
            <a:ext cx="2240280" cy="777240"/>
          </a:xfrm>
          <a:prstGeom prst="rect">
            <a:avLst/>
          </a:prstGeom>
          <a:solidFill>
            <a:srgbClr val="CFF4EE"/>
          </a:solidFill>
          <a:ln w="15240">
            <a:solidFill>
              <a:srgbClr val="CFF4EE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B5C"/>
                </a:solidFill>
              </a:rPr>
              <a:t>Validation Data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73B5C"/>
                </a:solidFill>
              </a:rPr>
              <a:t>monitor during fit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098280" y="2971800"/>
            <a:ext cx="1874520" cy="777240"/>
          </a:xfrm>
          <a:prstGeom prst="rect">
            <a:avLst/>
          </a:prstGeom>
          <a:solidFill>
            <a:srgbClr val="FFF2CC"/>
          </a:solidFill>
          <a:ln w="15240">
            <a:solidFill>
              <a:srgbClr val="FFF2CC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B5C"/>
                </a:solidFill>
              </a:rPr>
              <a:t>Test Data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73B5C"/>
                </a:solidFill>
              </a:rPr>
              <a:t>final report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154680" y="3364992"/>
            <a:ext cx="1645920" cy="0"/>
          </a:xfrm>
          <a:prstGeom prst="line">
            <a:avLst/>
          </a:prstGeom>
          <a:noFill/>
          <a:ln w="19050">
            <a:solidFill>
              <a:srgbClr val="526171"/>
            </a:solidFill>
            <a:prstDash val="solid"/>
            <a:tailEnd type="triangle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7360920" y="3364992"/>
            <a:ext cx="1554480" cy="0"/>
          </a:xfrm>
          <a:prstGeom prst="line">
            <a:avLst/>
          </a:prstGeom>
          <a:noFill/>
          <a:ln w="19050">
            <a:solidFill>
              <a:srgbClr val="526171"/>
            </a:solidFill>
            <a:prstDash val="solid"/>
            <a:tailEnd type="triangle"/>
          </a:ln>
        </p:spPr>
        <p:txBody>
          <a:bodyPr/>
          <a:lstStyle/>
          <a:p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914400" y="4800600"/>
            <a:ext cx="1005840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B5C"/>
                </a:solidFill>
              </a:rPr>
              <a:t>Interpretation rule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14400" y="5129784"/>
            <a:ext cx="10058400" cy="402336"/>
          </a:xfrm>
          <a:prstGeom prst="rect">
            <a:avLst/>
          </a:prstGeom>
          <a:solidFill>
            <a:srgbClr val="F8FAFC"/>
          </a:solidFill>
          <a:ln>
            <a:solidFill>
              <a:srgbClr val="D6E0EA">
                <a:alpha val="95000"/>
              </a:srgbClr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C2733"/>
                </a:solidFill>
              </a:rPr>
              <a:t>High training accuracy alone is not enough. A useful model should also perform well on validation and test data.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73B5C"/>
          </a:solidFill>
          <a:ln w="12700">
            <a:solidFill>
              <a:srgbClr val="173B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118872"/>
            <a:ext cx="12191695" cy="36576"/>
          </a:xfrm>
          <a:prstGeom prst="rect">
            <a:avLst/>
          </a:prstGeom>
          <a:solidFill>
            <a:srgbClr val="18A999"/>
          </a:solidFill>
          <a:ln w="12700">
            <a:solidFill>
              <a:srgbClr val="18A99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" y="65196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6 • Lesson 5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02920" y="384048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73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Learning Curves: The Model’s Diagnostic Dashboard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30352" y="868680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26171"/>
                </a:solidFill>
              </a:rPr>
              <a:t>A learning curve plots loss or accuracy against epochs for training and validation sets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30352" y="1170432"/>
            <a:ext cx="2011680" cy="0"/>
          </a:xfrm>
          <a:prstGeom prst="line">
            <a:avLst/>
          </a:prstGeom>
          <a:noFill/>
          <a:ln w="27940">
            <a:solidFill>
              <a:srgbClr val="18A999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85800" y="1325880"/>
            <a:ext cx="4937760" cy="1874520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plt.plot(history.history['loss'], label='Train Loss')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plt.plot(history.history['val_loss'], label='Val Loss')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plt.xlabel('Epoch')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plt.ylabel('Loss')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plt.legend()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plt.show()</a:t>
            </a:r>
            <a:endParaRPr lang="en-US" sz="1220" dirty="0"/>
          </a:p>
        </p:txBody>
      </p:sp>
      <p:graphicFrame>
        <p:nvGraphicFramePr>
          <p:cNvPr id="10" name="Chart 0"/>
          <p:cNvGraphicFramePr/>
          <p:nvPr/>
        </p:nvGraphicFramePr>
        <p:xfrm>
          <a:off x="6400800" y="1371600"/>
          <a:ext cx="4389120" cy="2423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Text 8"/>
          <p:cNvSpPr/>
          <p:nvPr/>
        </p:nvSpPr>
        <p:spPr>
          <a:xfrm>
            <a:off x="777240" y="4572000"/>
            <a:ext cx="1014984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8A999"/>
                </a:solidFill>
              </a:rPr>
              <a:t>What to watch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77240" y="4901184"/>
            <a:ext cx="10149840" cy="493776"/>
          </a:xfrm>
          <a:prstGeom prst="rect">
            <a:avLst/>
          </a:prstGeom>
          <a:solidFill>
            <a:srgbClr val="F2FBFA"/>
          </a:solidFill>
          <a:ln>
            <a:solidFill>
              <a:srgbClr val="CDEDEA">
                <a:alpha val="95000"/>
              </a:srgbClr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C2733"/>
                </a:solidFill>
              </a:rPr>
              <a:t>Compare train and validation curves. The gap between them reveals whether the model is learning general patterns or memorizing the training set.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73B5C"/>
          </a:solidFill>
          <a:ln w="12700">
            <a:solidFill>
              <a:srgbClr val="173B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118872"/>
            <a:ext cx="12191695" cy="36576"/>
          </a:xfrm>
          <a:prstGeom prst="rect">
            <a:avLst/>
          </a:prstGeom>
          <a:solidFill>
            <a:srgbClr val="18A999"/>
          </a:solidFill>
          <a:ln w="12700">
            <a:solidFill>
              <a:srgbClr val="18A99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" y="65196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6 • Lesson 5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02920" y="384048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73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Three Learning Curve Patterns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30352" y="868680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26171"/>
                </a:solidFill>
              </a:rPr>
              <a:t>Use these patterns to decide what to change next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30352" y="1170432"/>
            <a:ext cx="2011680" cy="0"/>
          </a:xfrm>
          <a:prstGeom prst="line">
            <a:avLst/>
          </a:prstGeom>
          <a:noFill/>
          <a:ln w="27940">
            <a:solidFill>
              <a:srgbClr val="18A999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731520" y="1417320"/>
          <a:ext cx="2926080" cy="1737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ext 7"/>
          <p:cNvSpPr/>
          <p:nvPr/>
        </p:nvSpPr>
        <p:spPr>
          <a:xfrm>
            <a:off x="1143000" y="329184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EAD5B"/>
                </a:solidFill>
              </a:rPr>
              <a:t>Good Fit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22960" y="3621024"/>
            <a:ext cx="274320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30" dirty="0">
                <a:solidFill>
                  <a:srgbClr val="526171"/>
                </a:solidFill>
              </a:rPr>
              <a:t>Train and validation loss decrease together.</a:t>
            </a:r>
            <a:endParaRPr lang="en-US" sz="1130" dirty="0"/>
          </a:p>
        </p:txBody>
      </p:sp>
      <p:graphicFrame>
        <p:nvGraphicFramePr>
          <p:cNvPr id="12" name="Chart 1"/>
          <p:cNvGraphicFramePr/>
          <p:nvPr/>
        </p:nvGraphicFramePr>
        <p:xfrm>
          <a:off x="4617720" y="1417320"/>
          <a:ext cx="2926080" cy="1737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3" name="Text 9"/>
          <p:cNvSpPr/>
          <p:nvPr/>
        </p:nvSpPr>
        <p:spPr>
          <a:xfrm>
            <a:off x="5029200" y="329184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9534F"/>
                </a:solidFill>
              </a:rPr>
              <a:t>Overfitting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700016" y="3621024"/>
            <a:ext cx="274320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30" dirty="0">
                <a:solidFill>
                  <a:srgbClr val="526171"/>
                </a:solidFill>
              </a:rPr>
              <a:t>Training loss keeps decreasing while validation loss rises.</a:t>
            </a:r>
            <a:endParaRPr lang="en-US" sz="1130" dirty="0"/>
          </a:p>
        </p:txBody>
      </p:sp>
      <p:graphicFrame>
        <p:nvGraphicFramePr>
          <p:cNvPr id="15" name="Chart 2"/>
          <p:cNvGraphicFramePr/>
          <p:nvPr/>
        </p:nvGraphicFramePr>
        <p:xfrm>
          <a:off x="8503920" y="1417320"/>
          <a:ext cx="2926080" cy="1737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6" name="Text 11"/>
          <p:cNvSpPr/>
          <p:nvPr/>
        </p:nvSpPr>
        <p:spPr>
          <a:xfrm>
            <a:off x="8915400" y="329184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A623"/>
                </a:solidFill>
              </a:rPr>
              <a:t>Underfitting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8577072" y="3621024"/>
            <a:ext cx="274320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30" dirty="0">
                <a:solidFill>
                  <a:srgbClr val="526171"/>
                </a:solidFill>
              </a:rPr>
              <a:t>Both losses stay high; model is too simple or poorly trained.</a:t>
            </a:r>
            <a:endParaRPr lang="en-US" sz="1130" dirty="0"/>
          </a:p>
        </p:txBody>
      </p:sp>
      <p:sp>
        <p:nvSpPr>
          <p:cNvPr id="18" name="Text 13"/>
          <p:cNvSpPr/>
          <p:nvPr/>
        </p:nvSpPr>
        <p:spPr>
          <a:xfrm>
            <a:off x="777240" y="4919472"/>
            <a:ext cx="1056132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480" b="1" dirty="0">
                <a:solidFill>
                  <a:srgbClr val="173B5C"/>
                </a:solidFill>
              </a:rPr>
              <a:t>Decision guide</a:t>
            </a:r>
            <a:endParaRPr lang="en-US" sz="1480" dirty="0"/>
          </a:p>
        </p:txBody>
      </p:sp>
      <p:sp>
        <p:nvSpPr>
          <p:cNvPr id="19" name="Text 14"/>
          <p:cNvSpPr/>
          <p:nvPr/>
        </p:nvSpPr>
        <p:spPr>
          <a:xfrm>
            <a:off x="777240" y="5248656"/>
            <a:ext cx="10561320" cy="402336"/>
          </a:xfrm>
          <a:prstGeom prst="rect">
            <a:avLst/>
          </a:prstGeom>
          <a:solidFill>
            <a:srgbClr val="F8FAFC"/>
          </a:solidFill>
          <a:ln>
            <a:solidFill>
              <a:srgbClr val="D6E0EA">
                <a:alpha val="95000"/>
              </a:srgbClr>
            </a:solidFill>
          </a:ln>
        </p:spPr>
        <p:txBody>
          <a:bodyPr wrap="square" lIns="1016" tIns="1016" rIns="1016" bIns="1016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380" dirty="0">
                <a:solidFill>
                  <a:srgbClr val="1C2733"/>
                </a:solidFill>
              </a:rPr>
              <a:t>Overfitting → add regularization, reduce model size, more data, Early Stopping. Underfitting → train longer, increase capacity, improve features, tune learning rate.</a:t>
            </a:r>
            <a:endParaRPr lang="en-US" sz="138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73B5C"/>
          </a:solidFill>
          <a:ln w="12700">
            <a:solidFill>
              <a:srgbClr val="173B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118872"/>
            <a:ext cx="12191695" cy="36576"/>
          </a:xfrm>
          <a:prstGeom prst="rect">
            <a:avLst/>
          </a:prstGeom>
          <a:solidFill>
            <a:srgbClr val="18A999"/>
          </a:solidFill>
          <a:ln w="12700">
            <a:solidFill>
              <a:srgbClr val="18A99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" y="65196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6 • Lesson 5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02920" y="384048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73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Mini-Lab: Keras Classification Workflow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530352" y="1170432"/>
            <a:ext cx="2011680" cy="0"/>
          </a:xfrm>
          <a:prstGeom prst="line">
            <a:avLst/>
          </a:prstGeom>
          <a:noFill/>
          <a:ln w="27940">
            <a:solidFill>
              <a:srgbClr val="18A999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22960" y="1325880"/>
            <a:ext cx="5212080" cy="3520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C2733"/>
                </a:solidFill>
              </a:rPr>
              <a:t>✓ Load or create a classification dataset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C2733"/>
                </a:solidFill>
              </a:rPr>
              <a:t>✓ Split data into train/test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C2733"/>
                </a:solidFill>
              </a:rPr>
              <a:t>✓ Scale numerical features when needed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C2733"/>
                </a:solidFill>
              </a:rPr>
              <a:t>✓ Build Sequential model with Dense layers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C2733"/>
                </a:solidFill>
              </a:rPr>
              <a:t>✓ Compile with correct loss and metric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C2733"/>
                </a:solidFill>
              </a:rPr>
              <a:t>✓ Train using validation_split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C2733"/>
                </a:solidFill>
              </a:rPr>
              <a:t>✓ Plot learning curves and explain the result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400800" y="1417320"/>
            <a:ext cx="4846320" cy="2148840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Student checkpoint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keras.Sequential([...])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model.compile(optimizer='adam', loss='...', metrics=['accuracy'])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history = model.fit(..., validation_split=0.2)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model.evaluate(X_test, y_test)</a:t>
            </a:r>
            <a:endParaRPr lang="en-US" sz="1220" dirty="0"/>
          </a:p>
        </p:txBody>
      </p:sp>
      <p:sp>
        <p:nvSpPr>
          <p:cNvPr id="11" name="Text 9"/>
          <p:cNvSpPr/>
          <p:nvPr/>
        </p:nvSpPr>
        <p:spPr>
          <a:xfrm>
            <a:off x="6400800" y="3977640"/>
            <a:ext cx="484632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420" b="1" dirty="0">
                <a:solidFill>
                  <a:srgbClr val="F5A623"/>
                </a:solidFill>
              </a:rPr>
              <a:t>Submission expectation</a:t>
            </a:r>
            <a:endParaRPr lang="en-US" sz="1420" dirty="0"/>
          </a:p>
        </p:txBody>
      </p:sp>
      <p:sp>
        <p:nvSpPr>
          <p:cNvPr id="12" name="Text 10"/>
          <p:cNvSpPr/>
          <p:nvPr/>
        </p:nvSpPr>
        <p:spPr>
          <a:xfrm>
            <a:off x="6400800" y="4306824"/>
            <a:ext cx="4846320" cy="676656"/>
          </a:xfrm>
          <a:prstGeom prst="rect">
            <a:avLst/>
          </a:prstGeom>
          <a:solidFill>
            <a:srgbClr val="FFF8E6"/>
          </a:solidFill>
          <a:ln>
            <a:solidFill>
              <a:srgbClr val="F3D999">
                <a:alpha val="95000"/>
              </a:srgbClr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1C2733"/>
                </a:solidFill>
              </a:rPr>
              <a:t>A correct lab is not only code. Students must explain why they selected the output activation, loss function, metric, and how they interpreted the learning curves.</a:t>
            </a:r>
            <a:endParaRPr lang="en-US" sz="132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73B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B5C"/>
          </a:solidFill>
          <a:ln w="12700">
            <a:solidFill>
              <a:srgbClr val="173B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777240" y="1005840"/>
            <a:ext cx="118872" cy="4800600"/>
          </a:xfrm>
          <a:prstGeom prst="rect">
            <a:avLst/>
          </a:prstGeom>
          <a:solidFill>
            <a:srgbClr val="18A999"/>
          </a:solidFill>
          <a:ln w="12700">
            <a:solidFill>
              <a:srgbClr val="18A99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078992" y="106984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8A999"/>
                </a:solidFill>
              </a:rPr>
              <a:t>UNIT 7 • LESSON 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51560" y="1874520"/>
            <a:ext cx="9692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Part 2 — Deep Neural Networks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78992" y="2926080"/>
            <a:ext cx="795528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DEAF7"/>
                </a:solidFill>
              </a:rPr>
              <a:t>Depth enables power, but it also creates serious training challenges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73B5C"/>
          </a:solidFill>
          <a:ln w="12700">
            <a:solidFill>
              <a:srgbClr val="173B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118872"/>
            <a:ext cx="12191695" cy="36576"/>
          </a:xfrm>
          <a:prstGeom prst="rect">
            <a:avLst/>
          </a:prstGeom>
          <a:solidFill>
            <a:srgbClr val="18A999"/>
          </a:solidFill>
          <a:ln w="12700">
            <a:solidFill>
              <a:srgbClr val="18A99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" y="65196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7 • Lesson 1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02920" y="384048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73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Makes a Network “Deep”?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30352" y="868680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26171"/>
                </a:solidFill>
              </a:rPr>
              <a:t>A deep neural network usually has 3 or more hidden layers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30352" y="1170432"/>
            <a:ext cx="2011680" cy="0"/>
          </a:xfrm>
          <a:prstGeom prst="line">
            <a:avLst/>
          </a:prstGeom>
          <a:noFill/>
          <a:ln w="27940">
            <a:solidFill>
              <a:srgbClr val="18A999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31520" y="2103120"/>
            <a:ext cx="1005840" cy="502920"/>
          </a:xfrm>
          <a:prstGeom prst="rect">
            <a:avLst/>
          </a:prstGeom>
          <a:solidFill>
            <a:srgbClr val="F5F7FA"/>
          </a:solidFill>
          <a:ln w="15240">
            <a:solidFill>
              <a:srgbClr val="F5F7F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3B5C"/>
                </a:solidFill>
              </a:rPr>
              <a:t>Input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920240" y="1783080"/>
            <a:ext cx="1143000" cy="1143000"/>
          </a:xfrm>
          <a:prstGeom prst="rect">
            <a:avLst/>
          </a:prstGeom>
          <a:solidFill>
            <a:srgbClr val="DCEBFF"/>
          </a:solidFill>
          <a:ln w="15240">
            <a:solidFill>
              <a:srgbClr val="DCEBF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73B5C"/>
                </a:solidFill>
              </a:rPr>
              <a:t>Hidden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173B5C"/>
                </a:solidFill>
              </a:rPr>
              <a:t>Layer 1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090672" y="2359152"/>
            <a:ext cx="310896" cy="0"/>
          </a:xfrm>
          <a:prstGeom prst="line">
            <a:avLst/>
          </a:prstGeom>
          <a:noFill/>
          <a:ln w="16510">
            <a:solidFill>
              <a:srgbClr val="18A999"/>
            </a:solidFill>
            <a:prstDash val="solid"/>
            <a:tailEnd type="triangle"/>
          </a:ln>
        </p:spPr>
        <p:txBody>
          <a:bodyPr/>
          <a:lstStyle/>
          <a:p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429000" y="1783080"/>
            <a:ext cx="1143000" cy="1143000"/>
          </a:xfrm>
          <a:prstGeom prst="rect">
            <a:avLst/>
          </a:prstGeom>
          <a:solidFill>
            <a:srgbClr val="DCEBFF"/>
          </a:solidFill>
          <a:ln w="15240">
            <a:solidFill>
              <a:srgbClr val="DCEBF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73B5C"/>
                </a:solidFill>
              </a:rPr>
              <a:t>Hidden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173B5C"/>
                </a:solidFill>
              </a:rPr>
              <a:t>Layer 2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99432" y="2359152"/>
            <a:ext cx="310896" cy="0"/>
          </a:xfrm>
          <a:prstGeom prst="line">
            <a:avLst/>
          </a:prstGeom>
          <a:noFill/>
          <a:ln w="16510">
            <a:solidFill>
              <a:srgbClr val="18A999"/>
            </a:solidFill>
            <a:prstDash val="solid"/>
            <a:tailEnd type="triangle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937760" y="1783080"/>
            <a:ext cx="1143000" cy="1143000"/>
          </a:xfrm>
          <a:prstGeom prst="rect">
            <a:avLst/>
          </a:prstGeom>
          <a:solidFill>
            <a:srgbClr val="CFF4EE"/>
          </a:solidFill>
          <a:ln w="15240">
            <a:solidFill>
              <a:srgbClr val="CFF4EE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73B5C"/>
                </a:solidFill>
              </a:rPr>
              <a:t>Hidden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173B5C"/>
                </a:solidFill>
              </a:rPr>
              <a:t>Layer 3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108192" y="2359152"/>
            <a:ext cx="310896" cy="0"/>
          </a:xfrm>
          <a:prstGeom prst="line">
            <a:avLst/>
          </a:prstGeom>
          <a:noFill/>
          <a:ln w="16510">
            <a:solidFill>
              <a:srgbClr val="18A999"/>
            </a:solidFill>
            <a:prstDash val="solid"/>
            <a:tailEnd type="triangle"/>
          </a:ln>
        </p:spPr>
        <p:txBody>
          <a:bodyPr/>
          <a:lstStyle/>
          <a:p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446520" y="1783080"/>
            <a:ext cx="1143000" cy="1143000"/>
          </a:xfrm>
          <a:prstGeom prst="rect">
            <a:avLst/>
          </a:prstGeom>
          <a:solidFill>
            <a:srgbClr val="CFF4EE"/>
          </a:solidFill>
          <a:ln w="15240">
            <a:solidFill>
              <a:srgbClr val="CFF4EE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73B5C"/>
                </a:solidFill>
              </a:rPr>
              <a:t>Hidden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173B5C"/>
                </a:solidFill>
              </a:rPr>
              <a:t>Layer 4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616952" y="2359152"/>
            <a:ext cx="310896" cy="0"/>
          </a:xfrm>
          <a:prstGeom prst="line">
            <a:avLst/>
          </a:prstGeom>
          <a:noFill/>
          <a:ln w="16510">
            <a:solidFill>
              <a:srgbClr val="18A999"/>
            </a:solidFill>
            <a:prstDash val="solid"/>
            <a:tailEnd type="triangle"/>
          </a:ln>
        </p:spPr>
        <p:txBody>
          <a:bodyPr/>
          <a:lstStyle/>
          <a:p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955280" y="1783080"/>
            <a:ext cx="1143000" cy="1143000"/>
          </a:xfrm>
          <a:prstGeom prst="rect">
            <a:avLst/>
          </a:prstGeom>
          <a:solidFill>
            <a:srgbClr val="EEE6FF"/>
          </a:solidFill>
          <a:ln w="15240">
            <a:solidFill>
              <a:srgbClr val="EEE6F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73B5C"/>
                </a:solidFill>
              </a:rPr>
              <a:t>Hidden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173B5C"/>
                </a:solidFill>
              </a:rPr>
              <a:t>Layer 5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1783080" y="2359152"/>
            <a:ext cx="91440" cy="0"/>
          </a:xfrm>
          <a:prstGeom prst="line">
            <a:avLst/>
          </a:prstGeom>
          <a:noFill/>
          <a:ln w="16510">
            <a:solidFill>
              <a:srgbClr val="18A999"/>
            </a:solidFill>
            <a:prstDash val="solid"/>
            <a:tailEnd type="triangle"/>
          </a:ln>
        </p:spPr>
        <p:txBody>
          <a:bodyPr/>
          <a:lstStyle/>
          <a:p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9464040" y="2359152"/>
            <a:ext cx="320040" cy="0"/>
          </a:xfrm>
          <a:prstGeom prst="line">
            <a:avLst/>
          </a:prstGeom>
          <a:noFill/>
          <a:ln w="16510">
            <a:solidFill>
              <a:srgbClr val="18A999"/>
            </a:solidFill>
            <a:prstDash val="solid"/>
            <a:tailEnd type="triangle"/>
          </a:ln>
        </p:spPr>
        <p:txBody>
          <a:bodyPr/>
          <a:lstStyle/>
          <a:p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9829800" y="2103120"/>
            <a:ext cx="1143000" cy="502920"/>
          </a:xfrm>
          <a:prstGeom prst="rect">
            <a:avLst/>
          </a:prstGeom>
          <a:solidFill>
            <a:srgbClr val="FFF2CC"/>
          </a:solidFill>
          <a:ln w="15240">
            <a:solidFill>
              <a:srgbClr val="FFF2CC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3B5C"/>
                </a:solidFill>
              </a:rPr>
              <a:t>Output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4400" y="3977640"/>
            <a:ext cx="9966960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C2733"/>
                </a:solidFill>
              </a:rPr>
              <a:t>✓ Depth = number of hidden layers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C2733"/>
                </a:solidFill>
              </a:rPr>
              <a:t>✓ Deep networks learn features in stages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C2733"/>
                </a:solidFill>
              </a:rPr>
              <a:t>✓ Early layers capture simple patterns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C2733"/>
                </a:solidFill>
              </a:rPr>
              <a:t>✓ Later layers combine simple patterns into abstract concepts</a:t>
            </a:r>
            <a:endParaRPr lang="en-US" sz="14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73B5C"/>
          </a:solidFill>
          <a:ln w="12700">
            <a:solidFill>
              <a:srgbClr val="173B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18872"/>
            <a:ext cx="12191695" cy="36576"/>
          </a:xfrm>
          <a:prstGeom prst="rect">
            <a:avLst/>
          </a:prstGeom>
          <a:solidFill>
            <a:srgbClr val="18A999"/>
          </a:solidFill>
          <a:ln w="12700">
            <a:solidFill>
              <a:srgbClr val="18A99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65196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7 • Lesson 1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02920" y="384048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73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Hierarchical Feature Learning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30352" y="868680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26171"/>
                </a:solidFill>
              </a:rPr>
              <a:t>Deep networks build complex understanding from simple patterns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30352" y="1170432"/>
            <a:ext cx="2011680" cy="0"/>
          </a:xfrm>
          <a:prstGeom prst="line">
            <a:avLst/>
          </a:prstGeom>
          <a:noFill/>
          <a:ln w="27940">
            <a:solidFill>
              <a:srgbClr val="18A9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2960" y="1554480"/>
            <a:ext cx="2011680" cy="411480"/>
          </a:xfrm>
          <a:prstGeom prst="rect">
            <a:avLst/>
          </a:prstGeom>
          <a:solidFill>
            <a:srgbClr val="CFF4EE"/>
          </a:solidFill>
          <a:ln w="15240">
            <a:solidFill>
              <a:srgbClr val="CFF4EE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3B5C"/>
                </a:solidFill>
              </a:rPr>
              <a:t>Layer 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" y="214884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B5C"/>
                </a:solidFill>
              </a:rPr>
              <a:t>Edges &amp; corners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60120" y="251460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26171"/>
                </a:solidFill>
              </a:rPr>
              <a:t>Simple patterns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880360" y="2148840"/>
            <a:ext cx="484632" cy="0"/>
          </a:xfrm>
          <a:prstGeom prst="line">
            <a:avLst/>
          </a:prstGeom>
          <a:noFill/>
          <a:ln w="20320">
            <a:solidFill>
              <a:srgbClr val="18A99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611880" y="1554480"/>
            <a:ext cx="2011680" cy="411480"/>
          </a:xfrm>
          <a:prstGeom prst="rect">
            <a:avLst/>
          </a:prstGeom>
          <a:solidFill>
            <a:srgbClr val="DCEBFF"/>
          </a:solidFill>
          <a:ln w="15240">
            <a:solidFill>
              <a:srgbClr val="DCEBF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3B5C"/>
                </a:solidFill>
              </a:rPr>
              <a:t>Layer 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749040" y="214884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B5C"/>
                </a:solidFill>
              </a:rPr>
              <a:t>Textures &amp; shapes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749040" y="251460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26171"/>
                </a:solidFill>
              </a:rPr>
              <a:t>Combinations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69280" y="2148840"/>
            <a:ext cx="484632" cy="0"/>
          </a:xfrm>
          <a:prstGeom prst="line">
            <a:avLst/>
          </a:prstGeom>
          <a:noFill/>
          <a:ln w="20320">
            <a:solidFill>
              <a:srgbClr val="18A99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0" y="1554480"/>
            <a:ext cx="2011680" cy="411480"/>
          </a:xfrm>
          <a:prstGeom prst="rect">
            <a:avLst/>
          </a:prstGeom>
          <a:solidFill>
            <a:srgbClr val="EEE6FF"/>
          </a:solidFill>
          <a:ln w="15240">
            <a:solidFill>
              <a:srgbClr val="EEE6F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3B5C"/>
                </a:solidFill>
              </a:rPr>
              <a:t>Layer 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37960" y="214884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B5C"/>
                </a:solidFill>
              </a:rPr>
              <a:t>Parts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537960" y="251460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26171"/>
                </a:solidFill>
              </a:rPr>
              <a:t>Eyes, wheels, pieces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458200" y="2148840"/>
            <a:ext cx="484632" cy="0"/>
          </a:xfrm>
          <a:prstGeom prst="line">
            <a:avLst/>
          </a:prstGeom>
          <a:noFill/>
          <a:ln w="20320">
            <a:solidFill>
              <a:srgbClr val="18A99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189720" y="1554480"/>
            <a:ext cx="2011680" cy="411480"/>
          </a:xfrm>
          <a:prstGeom prst="rect">
            <a:avLst/>
          </a:prstGeom>
          <a:solidFill>
            <a:srgbClr val="FFE6E6"/>
          </a:solidFill>
          <a:ln w="15240">
            <a:solidFill>
              <a:srgbClr val="FFE6E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3B5C"/>
                </a:solidFill>
              </a:rPr>
              <a:t>Layer 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326880" y="214884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B5C"/>
                </a:solidFill>
              </a:rPr>
              <a:t>Objects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326880" y="251460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26171"/>
                </a:solidFill>
              </a:rPr>
              <a:t>Face, car, scene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114800" y="3657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526171"/>
                </a:solidFill>
              </a:rPr>
              <a:t>Increasing abstraction and complexity →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97280" y="4617720"/>
            <a:ext cx="996696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B5C"/>
                </a:solidFill>
              </a:rPr>
              <a:t>Example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097280" y="4946904"/>
            <a:ext cx="9966960" cy="448056"/>
          </a:xfrm>
          <a:prstGeom prst="rect">
            <a:avLst/>
          </a:prstGeom>
          <a:solidFill>
            <a:srgbClr val="F8FAFC"/>
          </a:solidFill>
          <a:ln>
            <a:solidFill>
              <a:srgbClr val="D6E0EA">
                <a:alpha val="95000"/>
              </a:srgbClr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C2733"/>
                </a:solidFill>
              </a:rPr>
              <a:t>A shallow network would try to learn “cat” directly from pixels. A deep network learns smaller reusable patterns first, then combines them into meaningful objects.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73B5C"/>
          </a:solidFill>
          <a:ln w="12700">
            <a:solidFill>
              <a:srgbClr val="173B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18872"/>
            <a:ext cx="12191695" cy="36576"/>
          </a:xfrm>
          <a:prstGeom prst="rect">
            <a:avLst/>
          </a:prstGeom>
          <a:solidFill>
            <a:srgbClr val="18A999"/>
          </a:solidFill>
          <a:ln w="12700">
            <a:solidFill>
              <a:srgbClr val="18A99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65196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7 • Lesson 1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02920" y="384048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73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Depth Changes What the Network Can Learn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30352" y="868680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26171"/>
                </a:solidFill>
              </a:rPr>
              <a:t>More layers can represent more complex patterns, but they also need more data and careful training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30352" y="1170432"/>
            <a:ext cx="2011680" cy="0"/>
          </a:xfrm>
          <a:prstGeom prst="line">
            <a:avLst/>
          </a:prstGeom>
          <a:noFill/>
          <a:ln w="27940">
            <a:solidFill>
              <a:srgbClr val="18A9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94360" y="1280160"/>
            <a:ext cx="1371600" cy="676656"/>
          </a:xfrm>
          <a:prstGeom prst="rect">
            <a:avLst/>
          </a:prstGeom>
          <a:solidFill>
            <a:srgbClr val="173B5C"/>
          </a:solidFill>
          <a:ln w="6350">
            <a:solidFill>
              <a:srgbClr val="D0DAE5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Depth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965960" y="1280160"/>
            <a:ext cx="1234440" cy="676656"/>
          </a:xfrm>
          <a:prstGeom prst="rect">
            <a:avLst/>
          </a:prstGeom>
          <a:solidFill>
            <a:srgbClr val="173B5C"/>
          </a:solidFill>
          <a:ln w="6350">
            <a:solidFill>
              <a:srgbClr val="D0DAE5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Layers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200400" y="1280160"/>
            <a:ext cx="4572000" cy="676656"/>
          </a:xfrm>
          <a:prstGeom prst="rect">
            <a:avLst/>
          </a:prstGeom>
          <a:solidFill>
            <a:srgbClr val="173B5C"/>
          </a:solidFill>
          <a:ln w="6350">
            <a:solidFill>
              <a:srgbClr val="D0DAE5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What it can learn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772400" y="1280160"/>
            <a:ext cx="3794760" cy="676656"/>
          </a:xfrm>
          <a:prstGeom prst="rect">
            <a:avLst/>
          </a:prstGeom>
          <a:solidFill>
            <a:srgbClr val="173B5C"/>
          </a:solidFill>
          <a:ln w="6350">
            <a:solidFill>
              <a:srgbClr val="D0DAE5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Typical tasks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94360" y="1956816"/>
            <a:ext cx="1371600" cy="676656"/>
          </a:xfrm>
          <a:prstGeom prst="rect">
            <a:avLst/>
          </a:prstGeom>
          <a:solidFill>
            <a:srgbClr val="F7FAFC"/>
          </a:solidFill>
          <a:ln w="6350">
            <a:solidFill>
              <a:srgbClr val="D0DAE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C2733"/>
                </a:solidFill>
              </a:rPr>
              <a:t>Shallow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965960" y="1956816"/>
            <a:ext cx="1234440" cy="676656"/>
          </a:xfrm>
          <a:prstGeom prst="rect">
            <a:avLst/>
          </a:prstGeom>
          <a:solidFill>
            <a:srgbClr val="F7FAFC"/>
          </a:solidFill>
          <a:ln w="6350">
            <a:solidFill>
              <a:srgbClr val="D0DAE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C2733"/>
                </a:solidFill>
              </a:rPr>
              <a:t>1–2 hidden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200400" y="1956816"/>
            <a:ext cx="4572000" cy="676656"/>
          </a:xfrm>
          <a:prstGeom prst="rect">
            <a:avLst/>
          </a:prstGeom>
          <a:solidFill>
            <a:srgbClr val="F7FAFC"/>
          </a:solidFill>
          <a:ln w="6350">
            <a:solidFill>
              <a:srgbClr val="D0DAE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C2733"/>
                </a:solidFill>
              </a:rPr>
              <a:t>Simple linear/non-linear patterns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772400" y="1956816"/>
            <a:ext cx="3794760" cy="676656"/>
          </a:xfrm>
          <a:prstGeom prst="rect">
            <a:avLst/>
          </a:prstGeom>
          <a:solidFill>
            <a:srgbClr val="F7FAFC"/>
          </a:solidFill>
          <a:ln w="6350">
            <a:solidFill>
              <a:srgbClr val="D0DAE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C2733"/>
                </a:solidFill>
              </a:rPr>
              <a:t>Basic classification, XOR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94360" y="2633472"/>
            <a:ext cx="137160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D0DAE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C2733"/>
                </a:solidFill>
              </a:rPr>
              <a:t>Medium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965960" y="2633472"/>
            <a:ext cx="123444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D0DAE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C2733"/>
                </a:solidFill>
              </a:rPr>
              <a:t>3–5 hidden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200400" y="2633472"/>
            <a:ext cx="457200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D0DAE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C2733"/>
                </a:solidFill>
              </a:rPr>
              <a:t>Moderate combinations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772400" y="2633472"/>
            <a:ext cx="379476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D0DAE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C2733"/>
                </a:solidFill>
              </a:rPr>
              <a:t>Tabular data, simple images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94360" y="3310128"/>
            <a:ext cx="1371600" cy="676656"/>
          </a:xfrm>
          <a:prstGeom prst="rect">
            <a:avLst/>
          </a:prstGeom>
          <a:solidFill>
            <a:srgbClr val="F7FAFC"/>
          </a:solidFill>
          <a:ln w="6350">
            <a:solidFill>
              <a:srgbClr val="D0DAE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C2733"/>
                </a:solidFill>
              </a:rPr>
              <a:t>Deep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965960" y="3310128"/>
            <a:ext cx="1234440" cy="676656"/>
          </a:xfrm>
          <a:prstGeom prst="rect">
            <a:avLst/>
          </a:prstGeom>
          <a:solidFill>
            <a:srgbClr val="F7FAFC"/>
          </a:solidFill>
          <a:ln w="6350">
            <a:solidFill>
              <a:srgbClr val="D0DAE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C2733"/>
                </a:solidFill>
              </a:rPr>
              <a:t>6–20 hidden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200400" y="3310128"/>
            <a:ext cx="4572000" cy="676656"/>
          </a:xfrm>
          <a:prstGeom prst="rect">
            <a:avLst/>
          </a:prstGeom>
          <a:solidFill>
            <a:srgbClr val="F7FAFC"/>
          </a:solidFill>
          <a:ln w="6350">
            <a:solidFill>
              <a:srgbClr val="D0DAE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C2733"/>
                </a:solidFill>
              </a:rPr>
              <a:t>Hierarchical features and complex abstractions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772400" y="3310128"/>
            <a:ext cx="3794760" cy="676656"/>
          </a:xfrm>
          <a:prstGeom prst="rect">
            <a:avLst/>
          </a:prstGeom>
          <a:solidFill>
            <a:srgbClr val="F7FAFC"/>
          </a:solidFill>
          <a:ln w="6350">
            <a:solidFill>
              <a:srgbClr val="D0DAE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C2733"/>
                </a:solidFill>
              </a:rPr>
              <a:t>Image recognition, NLP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94360" y="3986784"/>
            <a:ext cx="137160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D0DAE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C2733"/>
                </a:solidFill>
              </a:rPr>
              <a:t>Very deep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1965960" y="3986784"/>
            <a:ext cx="123444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D0DAE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C2733"/>
                </a:solidFill>
              </a:rPr>
              <a:t>20–100+ hidden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3200400" y="3986784"/>
            <a:ext cx="457200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D0DAE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C2733"/>
                </a:solidFill>
              </a:rPr>
              <a:t>Ultra-fine hierarchical representations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7772400" y="3986784"/>
            <a:ext cx="379476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D0DAE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C2733"/>
                </a:solidFill>
              </a:rPr>
              <a:t>State-of-the-art vision/language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914400" y="5074920"/>
            <a:ext cx="1033272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480" b="1" dirty="0">
                <a:solidFill>
                  <a:srgbClr val="D9534F"/>
                </a:solidFill>
              </a:rPr>
              <a:t>Critical warning</a:t>
            </a:r>
            <a:endParaRPr lang="en-US" sz="1480" dirty="0"/>
          </a:p>
        </p:txBody>
      </p:sp>
      <p:sp>
        <p:nvSpPr>
          <p:cNvPr id="30" name="Text 28"/>
          <p:cNvSpPr/>
          <p:nvPr/>
        </p:nvSpPr>
        <p:spPr>
          <a:xfrm>
            <a:off x="914400" y="5404104"/>
            <a:ext cx="10332720" cy="356616"/>
          </a:xfrm>
          <a:prstGeom prst="rect">
            <a:avLst/>
          </a:prstGeom>
          <a:solidFill>
            <a:srgbClr val="FFE6E6"/>
          </a:solidFill>
          <a:ln>
            <a:solidFill>
              <a:srgbClr val="F1C7C7">
                <a:alpha val="95000"/>
              </a:srgbClr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buNone/>
            </a:pPr>
            <a:r>
              <a:rPr lang="en-US" sz="1380" dirty="0">
                <a:solidFill>
                  <a:srgbClr val="1C2733"/>
                </a:solidFill>
              </a:rPr>
              <a:t>Deeper is not automatically better. With small datasets, a deeper model can memorize training data and perform worse on new data.</a:t>
            </a:r>
            <a:endParaRPr lang="en-US" sz="138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73B5C"/>
          </a:solidFill>
          <a:ln w="12700">
            <a:solidFill>
              <a:srgbClr val="173B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18872"/>
            <a:ext cx="12191695" cy="36576"/>
          </a:xfrm>
          <a:prstGeom prst="rect">
            <a:avLst/>
          </a:prstGeom>
          <a:solidFill>
            <a:srgbClr val="18A999"/>
          </a:solidFill>
          <a:ln w="12700">
            <a:solidFill>
              <a:srgbClr val="18A99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65196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7 • Lesson 1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9784080" y="651967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Deep Learning Course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02920" y="384048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73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Vanishing Gradient Problem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30352" y="868680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26171"/>
                </a:solidFill>
              </a:rPr>
              <a:t>Gradients shrink as they flow backward, so early layers learn very slowly or stop learning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30352" y="1170432"/>
            <a:ext cx="2011680" cy="0"/>
          </a:xfrm>
          <a:prstGeom prst="line">
            <a:avLst/>
          </a:prstGeom>
          <a:noFill/>
          <a:ln w="27940">
            <a:solidFill>
              <a:srgbClr val="18A9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2960" y="1874520"/>
            <a:ext cx="1325880" cy="868680"/>
          </a:xfrm>
          <a:prstGeom prst="rect">
            <a:avLst/>
          </a:prstGeom>
          <a:solidFill>
            <a:srgbClr val="FFE6E6"/>
          </a:solidFill>
          <a:ln w="15240">
            <a:solidFill>
              <a:srgbClr val="FFE6E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B5C"/>
                </a:solidFill>
              </a:rPr>
              <a:t>100%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73B5C"/>
                </a:solidFill>
              </a:rPr>
              <a:t>Layer 5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73B5C"/>
                </a:solidFill>
              </a:rPr>
              <a:t>Output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194560" y="2304288"/>
            <a:ext cx="685800" cy="0"/>
          </a:xfrm>
          <a:prstGeom prst="line">
            <a:avLst/>
          </a:prstGeom>
          <a:noFill/>
          <a:ln w="13970">
            <a:solidFill>
              <a:srgbClr val="52617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971800" y="1874520"/>
            <a:ext cx="1325880" cy="868680"/>
          </a:xfrm>
          <a:prstGeom prst="rect">
            <a:avLst/>
          </a:prstGeom>
          <a:solidFill>
            <a:srgbClr val="FFF2CC"/>
          </a:solidFill>
          <a:ln w="15240">
            <a:solidFill>
              <a:srgbClr val="FFF2CC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B5C"/>
                </a:solidFill>
              </a:rPr>
              <a:t>67%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73B5C"/>
                </a:solidFill>
              </a:rPr>
              <a:t>Layer 4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343400" y="2304288"/>
            <a:ext cx="685800" cy="0"/>
          </a:xfrm>
          <a:prstGeom prst="line">
            <a:avLst/>
          </a:prstGeom>
          <a:noFill/>
          <a:ln w="13970">
            <a:solidFill>
              <a:srgbClr val="52617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120640" y="1874520"/>
            <a:ext cx="1325880" cy="868680"/>
          </a:xfrm>
          <a:prstGeom prst="rect">
            <a:avLst/>
          </a:prstGeom>
          <a:solidFill>
            <a:srgbClr val="FFF8E6"/>
          </a:solidFill>
          <a:ln w="15240">
            <a:solidFill>
              <a:srgbClr val="FFF8E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B5C"/>
                </a:solidFill>
              </a:rPr>
              <a:t>39%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73B5C"/>
                </a:solidFill>
              </a:rPr>
              <a:t>Layer 3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92240" y="2304288"/>
            <a:ext cx="685800" cy="0"/>
          </a:xfrm>
          <a:prstGeom prst="line">
            <a:avLst/>
          </a:prstGeom>
          <a:noFill/>
          <a:ln w="13970">
            <a:solidFill>
              <a:srgbClr val="52617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269480" y="1874520"/>
            <a:ext cx="1325880" cy="868680"/>
          </a:xfrm>
          <a:prstGeom prst="rect">
            <a:avLst/>
          </a:prstGeom>
          <a:solidFill>
            <a:srgbClr val="CFF4EE"/>
          </a:solidFill>
          <a:ln w="15240">
            <a:solidFill>
              <a:srgbClr val="CFF4EE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B5C"/>
                </a:solidFill>
              </a:rPr>
              <a:t>17%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73B5C"/>
                </a:solidFill>
              </a:rPr>
              <a:t>Layer 2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641080" y="2304288"/>
            <a:ext cx="685800" cy="0"/>
          </a:xfrm>
          <a:prstGeom prst="line">
            <a:avLst/>
          </a:prstGeom>
          <a:noFill/>
          <a:ln w="13970">
            <a:solidFill>
              <a:srgbClr val="52617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418320" y="1874520"/>
            <a:ext cx="1325880" cy="868680"/>
          </a:xfrm>
          <a:prstGeom prst="rect">
            <a:avLst/>
          </a:prstGeom>
          <a:solidFill>
            <a:srgbClr val="DCEBFF"/>
          </a:solidFill>
          <a:ln w="15240">
            <a:solidFill>
              <a:srgbClr val="DCEBF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B5C"/>
                </a:solidFill>
              </a:rPr>
              <a:t>6%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73B5C"/>
                </a:solidFill>
              </a:rPr>
              <a:t>Layer 1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73B5C"/>
                </a:solidFill>
              </a:rPr>
              <a:t>Input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28800" y="3063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9534F"/>
                </a:solidFill>
              </a:rPr>
              <a:t>Gradients shrink as they move backward toward the input layers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68680" y="4434840"/>
            <a:ext cx="1046988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480" b="1" dirty="0">
                <a:solidFill>
                  <a:srgbClr val="173B5C"/>
                </a:solidFill>
              </a:rPr>
              <a:t>Why it matters</a:t>
            </a:r>
            <a:endParaRPr lang="en-US" sz="1480" dirty="0"/>
          </a:p>
        </p:txBody>
      </p:sp>
      <p:sp>
        <p:nvSpPr>
          <p:cNvPr id="20" name="Text 18"/>
          <p:cNvSpPr/>
          <p:nvPr/>
        </p:nvSpPr>
        <p:spPr>
          <a:xfrm>
            <a:off x="868680" y="4764024"/>
            <a:ext cx="10469880" cy="493776"/>
          </a:xfrm>
          <a:prstGeom prst="rect">
            <a:avLst/>
          </a:prstGeom>
          <a:solidFill>
            <a:srgbClr val="F8FAFC"/>
          </a:solidFill>
          <a:ln>
            <a:solidFill>
              <a:srgbClr val="D6E0EA">
                <a:alpha val="95000"/>
              </a:srgbClr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buNone/>
            </a:pPr>
            <a:r>
              <a:rPr lang="en-US" sz="1380" dirty="0">
                <a:solidFill>
                  <a:srgbClr val="1C2733"/>
                </a:solidFill>
              </a:rPr>
              <a:t>Backpropagation updates each layer using gradients. If the gradient becomes almost zero in early layers, the early feature extractors barely improve.</a:t>
            </a:r>
            <a:endParaRPr lang="en-US" sz="138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73B5C"/>
          </a:solidFill>
          <a:ln w="12700">
            <a:solidFill>
              <a:srgbClr val="173B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18872"/>
            <a:ext cx="12191695" cy="36576"/>
          </a:xfrm>
          <a:prstGeom prst="rect">
            <a:avLst/>
          </a:prstGeom>
          <a:solidFill>
            <a:srgbClr val="18A999"/>
          </a:solidFill>
          <a:ln w="12700">
            <a:solidFill>
              <a:srgbClr val="18A99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65196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7 • Lesson 1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02920" y="384048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73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Vanishing Gradient: Numerical Example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30352" y="868680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26171"/>
                </a:solidFill>
              </a:rPr>
              <a:t>With sigmoid, the maximum derivative is only 0.25, so repeated multiplication shrinks gradients quickly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30352" y="1170432"/>
            <a:ext cx="2011680" cy="0"/>
          </a:xfrm>
          <a:prstGeom prst="line">
            <a:avLst/>
          </a:prstGeom>
          <a:noFill/>
          <a:ln w="27940">
            <a:solidFill>
              <a:srgbClr val="18A9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14400" y="1645920"/>
            <a:ext cx="1371600" cy="685800"/>
          </a:xfrm>
          <a:prstGeom prst="rect">
            <a:avLst/>
          </a:prstGeom>
          <a:solidFill>
            <a:srgbClr val="DCEBFF"/>
          </a:solidFill>
          <a:ln w="15240">
            <a:solidFill>
              <a:srgbClr val="DCEBF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B5C"/>
                </a:solidFill>
              </a:rPr>
              <a:t>One layer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73B5C"/>
                </a:solidFill>
              </a:rPr>
              <a:t>0.25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377440" y="1993392"/>
            <a:ext cx="365760" cy="0"/>
          </a:xfrm>
          <a:prstGeom prst="line">
            <a:avLst/>
          </a:prstGeom>
          <a:noFill/>
          <a:ln w="16510">
            <a:solidFill>
              <a:srgbClr val="18A99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788920" y="1600200"/>
            <a:ext cx="1920240" cy="777240"/>
          </a:xfrm>
          <a:prstGeom prst="rect">
            <a:avLst/>
          </a:prstGeom>
          <a:solidFill>
            <a:srgbClr val="CFF4EE"/>
          </a:solidFill>
          <a:ln w="15240">
            <a:solidFill>
              <a:srgbClr val="CFF4EE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B5C"/>
                </a:solidFill>
              </a:rPr>
              <a:t>4 layers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73B5C"/>
                </a:solidFill>
              </a:rPr>
              <a:t>0.25⁴ = 0.0039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800600" y="1993392"/>
            <a:ext cx="365760" cy="0"/>
          </a:xfrm>
          <a:prstGeom prst="line">
            <a:avLst/>
          </a:prstGeom>
          <a:noFill/>
          <a:ln w="16510">
            <a:solidFill>
              <a:srgbClr val="18A99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212080" y="1600200"/>
            <a:ext cx="2331720" cy="777240"/>
          </a:xfrm>
          <a:prstGeom prst="rect">
            <a:avLst/>
          </a:prstGeom>
          <a:solidFill>
            <a:srgbClr val="FFE6E6"/>
          </a:solidFill>
          <a:ln w="15240">
            <a:solidFill>
              <a:srgbClr val="FFE6E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B5C"/>
                </a:solidFill>
              </a:rPr>
              <a:t>10 layers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73B5C"/>
                </a:solidFill>
              </a:rPr>
              <a:t>0.25¹⁰ ≈ 0.000001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635240" y="1993392"/>
            <a:ext cx="365760" cy="0"/>
          </a:xfrm>
          <a:prstGeom prst="line">
            <a:avLst/>
          </a:prstGeom>
          <a:noFill/>
          <a:ln w="16510">
            <a:solidFill>
              <a:srgbClr val="18A99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046720" y="1600200"/>
            <a:ext cx="2057400" cy="777240"/>
          </a:xfrm>
          <a:prstGeom prst="rect">
            <a:avLst/>
          </a:prstGeom>
          <a:solidFill>
            <a:srgbClr val="FFF2CC"/>
          </a:solidFill>
          <a:ln w="15240">
            <a:solidFill>
              <a:srgbClr val="FFF2CC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B5C"/>
                </a:solidFill>
              </a:rPr>
              <a:t>Early layers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73B5C"/>
                </a:solidFill>
              </a:rPr>
              <a:t>almost no update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14400" y="3429000"/>
            <a:ext cx="1024128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B5C"/>
                </a:solidFill>
              </a:rPr>
              <a:t>explanation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14400" y="3758184"/>
            <a:ext cx="10241280" cy="539496"/>
          </a:xfrm>
          <a:prstGeom prst="rect">
            <a:avLst/>
          </a:prstGeom>
          <a:solidFill>
            <a:srgbClr val="F8FAFC"/>
          </a:solidFill>
          <a:ln>
            <a:solidFill>
              <a:srgbClr val="D6E0EA">
                <a:alpha val="95000"/>
              </a:srgbClr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C2733"/>
                </a:solidFill>
              </a:rPr>
              <a:t>During backpropagation, gradients are multiplied by derivatives at each layer. If derivatives are less than 1, repeated multiplication makes the gradient exponentially smaller.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4400" y="4800600"/>
            <a:ext cx="1024128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8A999"/>
                </a:solidFill>
              </a:rPr>
              <a:t>Why ReLU helps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129784"/>
            <a:ext cx="10241280" cy="356616"/>
          </a:xfrm>
          <a:prstGeom prst="rect">
            <a:avLst/>
          </a:prstGeom>
          <a:solidFill>
            <a:srgbClr val="CFF4EE"/>
          </a:solidFill>
          <a:ln>
            <a:solidFill>
              <a:srgbClr val="BDEBE4">
                <a:alpha val="95000"/>
              </a:srgbClr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C2733"/>
                </a:solidFill>
              </a:rPr>
              <a:t>For positive values, ReLU derivative is 1, which allows stronger gradient flow compared with sigmoid saturation.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73B5C"/>
          </a:solidFill>
          <a:ln w="12700">
            <a:solidFill>
              <a:srgbClr val="173B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18872"/>
            <a:ext cx="12191695" cy="36576"/>
          </a:xfrm>
          <a:prstGeom prst="rect">
            <a:avLst/>
          </a:prstGeom>
          <a:solidFill>
            <a:srgbClr val="18A999"/>
          </a:solidFill>
          <a:ln w="12700">
            <a:solidFill>
              <a:srgbClr val="18A99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65196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7 • Lesson 1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02920" y="384048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73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Exploding Gradient: The Opposite Problem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30352" y="868680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26171"/>
                </a:solidFill>
              </a:rPr>
              <a:t>If gradients repeatedly multiply by values greater than 1, training can become unstable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30352" y="1170432"/>
            <a:ext cx="2011680" cy="0"/>
          </a:xfrm>
          <a:prstGeom prst="line">
            <a:avLst/>
          </a:prstGeom>
          <a:noFill/>
          <a:ln w="27940">
            <a:solidFill>
              <a:srgbClr val="18A9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14400" y="2286000"/>
            <a:ext cx="1143000" cy="548640"/>
          </a:xfrm>
          <a:prstGeom prst="rect">
            <a:avLst/>
          </a:prstGeom>
          <a:solidFill>
            <a:srgbClr val="F5F7FA"/>
          </a:solidFill>
          <a:ln w="15240">
            <a:solidFill>
              <a:srgbClr val="F5F7F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B5C"/>
                </a:solidFill>
              </a:rPr>
              <a:t>Gradient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73B5C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148840" y="2560320"/>
            <a:ext cx="457200" cy="0"/>
          </a:xfrm>
          <a:prstGeom prst="line">
            <a:avLst/>
          </a:prstGeom>
          <a:noFill/>
          <a:ln w="16510">
            <a:solidFill>
              <a:srgbClr val="18A99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651760" y="2148840"/>
            <a:ext cx="1143000" cy="777240"/>
          </a:xfrm>
          <a:prstGeom prst="rect">
            <a:avLst/>
          </a:prstGeom>
          <a:solidFill>
            <a:srgbClr val="DCEBFF"/>
          </a:solidFill>
          <a:ln w="15240">
            <a:solidFill>
              <a:srgbClr val="DCEBF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3B5C"/>
                </a:solidFill>
              </a:rPr>
              <a:t>2² = 4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886200" y="2560320"/>
            <a:ext cx="457200" cy="0"/>
          </a:xfrm>
          <a:prstGeom prst="line">
            <a:avLst/>
          </a:prstGeom>
          <a:noFill/>
          <a:ln w="16510">
            <a:solidFill>
              <a:srgbClr val="18A99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389120" y="1965960"/>
            <a:ext cx="1325880" cy="960120"/>
          </a:xfrm>
          <a:prstGeom prst="rect">
            <a:avLst/>
          </a:prstGeom>
          <a:solidFill>
            <a:srgbClr val="CFF4EE"/>
          </a:solidFill>
          <a:ln w="15240">
            <a:solidFill>
              <a:srgbClr val="CFF4EE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3B5C"/>
                </a:solidFill>
              </a:rPr>
              <a:t>2⁵ = 32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806440" y="2560320"/>
            <a:ext cx="457200" cy="0"/>
          </a:xfrm>
          <a:prstGeom prst="line">
            <a:avLst/>
          </a:prstGeom>
          <a:noFill/>
          <a:ln w="16510">
            <a:solidFill>
              <a:srgbClr val="18A99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309360" y="1691640"/>
            <a:ext cx="1645920" cy="1234440"/>
          </a:xfrm>
          <a:prstGeom prst="rect">
            <a:avLst/>
          </a:prstGeom>
          <a:solidFill>
            <a:srgbClr val="FFE6E6"/>
          </a:solidFill>
          <a:ln w="15240">
            <a:solidFill>
              <a:srgbClr val="FFE6E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3B5C"/>
                </a:solidFill>
              </a:rPr>
              <a:t>2¹⁰ = 1024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046720" y="2560320"/>
            <a:ext cx="457200" cy="0"/>
          </a:xfrm>
          <a:prstGeom prst="line">
            <a:avLst/>
          </a:prstGeom>
          <a:noFill/>
          <a:ln w="16510">
            <a:solidFill>
              <a:srgbClr val="18A99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549640" y="1508760"/>
            <a:ext cx="1920240" cy="1600200"/>
          </a:xfrm>
          <a:prstGeom prst="rect">
            <a:avLst/>
          </a:prstGeom>
          <a:solidFill>
            <a:srgbClr val="FFF2CC"/>
          </a:solidFill>
          <a:ln w="15240">
            <a:solidFill>
              <a:srgbClr val="FFF2CC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B5C"/>
                </a:solidFill>
              </a:rPr>
              <a:t>NaN / unstable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73B5C"/>
                </a:solidFill>
              </a:rPr>
              <a:t>weights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14400" y="4434840"/>
            <a:ext cx="1024128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480" b="1" dirty="0">
                <a:solidFill>
                  <a:srgbClr val="D9534F"/>
                </a:solidFill>
              </a:rPr>
              <a:t>Symptoms</a:t>
            </a:r>
            <a:endParaRPr lang="en-US" sz="1480" dirty="0"/>
          </a:p>
        </p:txBody>
      </p:sp>
      <p:sp>
        <p:nvSpPr>
          <p:cNvPr id="19" name="Text 17"/>
          <p:cNvSpPr/>
          <p:nvPr/>
        </p:nvSpPr>
        <p:spPr>
          <a:xfrm>
            <a:off x="914400" y="4764024"/>
            <a:ext cx="10241280" cy="493776"/>
          </a:xfrm>
          <a:prstGeom prst="rect">
            <a:avLst/>
          </a:prstGeom>
          <a:solidFill>
            <a:srgbClr val="FFE6E6"/>
          </a:solidFill>
          <a:ln>
            <a:solidFill>
              <a:srgbClr val="F1C7C7">
                <a:alpha val="95000"/>
              </a:srgbClr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buNone/>
            </a:pPr>
            <a:r>
              <a:rPr lang="en-US" sz="1380" dirty="0">
                <a:solidFill>
                  <a:srgbClr val="1C2733"/>
                </a:solidFill>
              </a:rPr>
              <a:t>Training loss jumps wildly, becomes NaN, or weights grow too large. This can happen with poor initialization, high learning rate, or very deep/recurrent networks.</a:t>
            </a:r>
            <a:endParaRPr lang="en-US" sz="138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73B5C"/>
          </a:solidFill>
          <a:ln w="12700">
            <a:solidFill>
              <a:srgbClr val="173B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18872"/>
            <a:ext cx="12191695" cy="36576"/>
          </a:xfrm>
          <a:prstGeom prst="rect">
            <a:avLst/>
          </a:prstGeom>
          <a:solidFill>
            <a:srgbClr val="18A999"/>
          </a:solidFill>
          <a:ln w="12700">
            <a:solidFill>
              <a:srgbClr val="18A99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65196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7 • Lesson 1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02920" y="384048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73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Solutions to Gradient Problems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30352" y="868680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26171"/>
                </a:solidFill>
              </a:rPr>
              <a:t>Modern deep learning combines several techniques to keep gradients stable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30352" y="1170432"/>
            <a:ext cx="2011680" cy="0"/>
          </a:xfrm>
          <a:prstGeom prst="line">
            <a:avLst/>
          </a:prstGeom>
          <a:noFill/>
          <a:ln w="27940">
            <a:solidFill>
              <a:srgbClr val="18A9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94360" y="1417320"/>
            <a:ext cx="2286000" cy="768096"/>
          </a:xfrm>
          <a:prstGeom prst="rect">
            <a:avLst/>
          </a:prstGeom>
          <a:solidFill>
            <a:srgbClr val="173B5C"/>
          </a:solidFill>
          <a:ln w="6350">
            <a:solidFill>
              <a:srgbClr val="D0DAE5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40" b="1" dirty="0">
                <a:solidFill>
                  <a:srgbClr val="FFFFFF"/>
                </a:solidFill>
              </a:rPr>
              <a:t>Solution</a:t>
            </a:r>
            <a:endParaRPr lang="en-US" sz="1140" dirty="0"/>
          </a:p>
        </p:txBody>
      </p:sp>
      <p:sp>
        <p:nvSpPr>
          <p:cNvPr id="10" name="Text 8"/>
          <p:cNvSpPr/>
          <p:nvPr/>
        </p:nvSpPr>
        <p:spPr>
          <a:xfrm>
            <a:off x="2880360" y="1417320"/>
            <a:ext cx="4114800" cy="768096"/>
          </a:xfrm>
          <a:prstGeom prst="rect">
            <a:avLst/>
          </a:prstGeom>
          <a:solidFill>
            <a:srgbClr val="173B5C"/>
          </a:solidFill>
          <a:ln w="6350">
            <a:solidFill>
              <a:srgbClr val="D0DAE5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40" b="1" dirty="0">
                <a:solidFill>
                  <a:srgbClr val="FFFFFF"/>
                </a:solidFill>
              </a:rPr>
              <a:t>How it helps</a:t>
            </a:r>
            <a:endParaRPr lang="en-US" sz="1140" dirty="0"/>
          </a:p>
        </p:txBody>
      </p:sp>
      <p:sp>
        <p:nvSpPr>
          <p:cNvPr id="11" name="Text 9"/>
          <p:cNvSpPr/>
          <p:nvPr/>
        </p:nvSpPr>
        <p:spPr>
          <a:xfrm>
            <a:off x="6995160" y="1417320"/>
            <a:ext cx="4572000" cy="768096"/>
          </a:xfrm>
          <a:prstGeom prst="rect">
            <a:avLst/>
          </a:prstGeom>
          <a:solidFill>
            <a:srgbClr val="173B5C"/>
          </a:solidFill>
          <a:ln w="6350">
            <a:solidFill>
              <a:srgbClr val="D0DAE5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40" b="1" dirty="0">
                <a:solidFill>
                  <a:srgbClr val="FFFFFF"/>
                </a:solidFill>
              </a:rPr>
              <a:t>Keras / practical implementation</a:t>
            </a:r>
            <a:endParaRPr lang="en-US" sz="1140" dirty="0"/>
          </a:p>
        </p:txBody>
      </p:sp>
      <p:sp>
        <p:nvSpPr>
          <p:cNvPr id="12" name="Text 10"/>
          <p:cNvSpPr/>
          <p:nvPr/>
        </p:nvSpPr>
        <p:spPr>
          <a:xfrm>
            <a:off x="594360" y="2185416"/>
            <a:ext cx="2286000" cy="768096"/>
          </a:xfrm>
          <a:prstGeom prst="rect">
            <a:avLst/>
          </a:prstGeom>
          <a:solidFill>
            <a:srgbClr val="F7FAFC"/>
          </a:solidFill>
          <a:ln w="6350">
            <a:solidFill>
              <a:srgbClr val="D0DAE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C2733"/>
                </a:solidFill>
              </a:rPr>
              <a:t>ReLU activation</a:t>
            </a:r>
            <a:endParaRPr lang="en-US" sz="1140" dirty="0"/>
          </a:p>
        </p:txBody>
      </p:sp>
      <p:sp>
        <p:nvSpPr>
          <p:cNvPr id="13" name="Text 11"/>
          <p:cNvSpPr/>
          <p:nvPr/>
        </p:nvSpPr>
        <p:spPr>
          <a:xfrm>
            <a:off x="2880360" y="2185416"/>
            <a:ext cx="4114800" cy="768096"/>
          </a:xfrm>
          <a:prstGeom prst="rect">
            <a:avLst/>
          </a:prstGeom>
          <a:solidFill>
            <a:srgbClr val="F7FAFC"/>
          </a:solidFill>
          <a:ln w="6350">
            <a:solidFill>
              <a:srgbClr val="D0DAE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C2733"/>
                </a:solidFill>
              </a:rPr>
              <a:t>Derivative is 1 for positive values, so gradients flow better</a:t>
            </a:r>
            <a:endParaRPr lang="en-US" sz="1140" dirty="0"/>
          </a:p>
        </p:txBody>
      </p:sp>
      <p:sp>
        <p:nvSpPr>
          <p:cNvPr id="14" name="Text 12"/>
          <p:cNvSpPr/>
          <p:nvPr/>
        </p:nvSpPr>
        <p:spPr>
          <a:xfrm>
            <a:off x="6995160" y="2185416"/>
            <a:ext cx="4572000" cy="768096"/>
          </a:xfrm>
          <a:prstGeom prst="rect">
            <a:avLst/>
          </a:prstGeom>
          <a:solidFill>
            <a:srgbClr val="F7FAFC"/>
          </a:solidFill>
          <a:ln w="6350">
            <a:solidFill>
              <a:srgbClr val="D0DAE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C2733"/>
                </a:solidFill>
              </a:rPr>
              <a:t>Use activation="relu" in hidden layers</a:t>
            </a:r>
            <a:endParaRPr lang="en-US" sz="1140" dirty="0"/>
          </a:p>
        </p:txBody>
      </p:sp>
      <p:sp>
        <p:nvSpPr>
          <p:cNvPr id="15" name="Text 13"/>
          <p:cNvSpPr/>
          <p:nvPr/>
        </p:nvSpPr>
        <p:spPr>
          <a:xfrm>
            <a:off x="594360" y="2953512"/>
            <a:ext cx="2286000" cy="768096"/>
          </a:xfrm>
          <a:prstGeom prst="rect">
            <a:avLst/>
          </a:prstGeom>
          <a:solidFill>
            <a:srgbClr val="FFFFFF"/>
          </a:solidFill>
          <a:ln w="6350">
            <a:solidFill>
              <a:srgbClr val="D0DAE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C2733"/>
                </a:solidFill>
              </a:rPr>
              <a:t>Weight initialization</a:t>
            </a:r>
            <a:endParaRPr lang="en-US" sz="1140" dirty="0"/>
          </a:p>
        </p:txBody>
      </p:sp>
      <p:sp>
        <p:nvSpPr>
          <p:cNvPr id="16" name="Text 14"/>
          <p:cNvSpPr/>
          <p:nvPr/>
        </p:nvSpPr>
        <p:spPr>
          <a:xfrm>
            <a:off x="2880360" y="2953512"/>
            <a:ext cx="4114800" cy="768096"/>
          </a:xfrm>
          <a:prstGeom prst="rect">
            <a:avLst/>
          </a:prstGeom>
          <a:solidFill>
            <a:srgbClr val="FFFFFF"/>
          </a:solidFill>
          <a:ln w="6350">
            <a:solidFill>
              <a:srgbClr val="D0DAE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C2733"/>
                </a:solidFill>
              </a:rPr>
              <a:t>Starts weights at safe values to avoid early saturation</a:t>
            </a:r>
            <a:endParaRPr lang="en-US" sz="1140" dirty="0"/>
          </a:p>
        </p:txBody>
      </p:sp>
      <p:sp>
        <p:nvSpPr>
          <p:cNvPr id="17" name="Text 15"/>
          <p:cNvSpPr/>
          <p:nvPr/>
        </p:nvSpPr>
        <p:spPr>
          <a:xfrm>
            <a:off x="6995160" y="2953512"/>
            <a:ext cx="4572000" cy="768096"/>
          </a:xfrm>
          <a:prstGeom prst="rect">
            <a:avLst/>
          </a:prstGeom>
          <a:solidFill>
            <a:srgbClr val="FFFFFF"/>
          </a:solidFill>
          <a:ln w="6350">
            <a:solidFill>
              <a:srgbClr val="D0DAE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C2733"/>
                </a:solidFill>
              </a:rPr>
              <a:t>He for ReLU, Xavier for sigmoid/tanh</a:t>
            </a:r>
            <a:endParaRPr lang="en-US" sz="1140" dirty="0"/>
          </a:p>
        </p:txBody>
      </p:sp>
      <p:sp>
        <p:nvSpPr>
          <p:cNvPr id="18" name="Text 16"/>
          <p:cNvSpPr/>
          <p:nvPr/>
        </p:nvSpPr>
        <p:spPr>
          <a:xfrm>
            <a:off x="594360" y="3721608"/>
            <a:ext cx="2286000" cy="768096"/>
          </a:xfrm>
          <a:prstGeom prst="rect">
            <a:avLst/>
          </a:prstGeom>
          <a:solidFill>
            <a:srgbClr val="F7FAFC"/>
          </a:solidFill>
          <a:ln w="6350">
            <a:solidFill>
              <a:srgbClr val="D0DAE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C2733"/>
                </a:solidFill>
              </a:rPr>
              <a:t>Batch Normalization</a:t>
            </a:r>
            <a:endParaRPr lang="en-US" sz="1140" dirty="0"/>
          </a:p>
        </p:txBody>
      </p:sp>
      <p:sp>
        <p:nvSpPr>
          <p:cNvPr id="19" name="Text 17"/>
          <p:cNvSpPr/>
          <p:nvPr/>
        </p:nvSpPr>
        <p:spPr>
          <a:xfrm>
            <a:off x="2880360" y="3721608"/>
            <a:ext cx="4114800" cy="768096"/>
          </a:xfrm>
          <a:prstGeom prst="rect">
            <a:avLst/>
          </a:prstGeom>
          <a:solidFill>
            <a:srgbClr val="F7FAFC"/>
          </a:solidFill>
          <a:ln w="6350">
            <a:solidFill>
              <a:srgbClr val="D0DAE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C2733"/>
                </a:solidFill>
              </a:rPr>
              <a:t>Keeps layer inputs in a stable range</a:t>
            </a:r>
            <a:endParaRPr lang="en-US" sz="1140" dirty="0"/>
          </a:p>
        </p:txBody>
      </p:sp>
      <p:sp>
        <p:nvSpPr>
          <p:cNvPr id="20" name="Text 18"/>
          <p:cNvSpPr/>
          <p:nvPr/>
        </p:nvSpPr>
        <p:spPr>
          <a:xfrm>
            <a:off x="6995160" y="3721608"/>
            <a:ext cx="4572000" cy="768096"/>
          </a:xfrm>
          <a:prstGeom prst="rect">
            <a:avLst/>
          </a:prstGeom>
          <a:solidFill>
            <a:srgbClr val="F7FAFC"/>
          </a:solidFill>
          <a:ln w="6350">
            <a:solidFill>
              <a:srgbClr val="D0DAE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C2733"/>
                </a:solidFill>
              </a:rPr>
              <a:t>BatchNormalization() after Dense/Conv</a:t>
            </a:r>
            <a:endParaRPr lang="en-US" sz="1140" dirty="0"/>
          </a:p>
        </p:txBody>
      </p:sp>
      <p:sp>
        <p:nvSpPr>
          <p:cNvPr id="21" name="Text 19"/>
          <p:cNvSpPr/>
          <p:nvPr/>
        </p:nvSpPr>
        <p:spPr>
          <a:xfrm>
            <a:off x="594360" y="4489704"/>
            <a:ext cx="2286000" cy="768096"/>
          </a:xfrm>
          <a:prstGeom prst="rect">
            <a:avLst/>
          </a:prstGeom>
          <a:solidFill>
            <a:srgbClr val="FFFFFF"/>
          </a:solidFill>
          <a:ln w="6350">
            <a:solidFill>
              <a:srgbClr val="D0DAE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C2733"/>
                </a:solidFill>
              </a:rPr>
              <a:t>Residual connections</a:t>
            </a:r>
            <a:endParaRPr lang="en-US" sz="1140" dirty="0"/>
          </a:p>
        </p:txBody>
      </p:sp>
      <p:sp>
        <p:nvSpPr>
          <p:cNvPr id="22" name="Text 20"/>
          <p:cNvSpPr/>
          <p:nvPr/>
        </p:nvSpPr>
        <p:spPr>
          <a:xfrm>
            <a:off x="2880360" y="4489704"/>
            <a:ext cx="4114800" cy="768096"/>
          </a:xfrm>
          <a:prstGeom prst="rect">
            <a:avLst/>
          </a:prstGeom>
          <a:solidFill>
            <a:srgbClr val="FFFFFF"/>
          </a:solidFill>
          <a:ln w="6350">
            <a:solidFill>
              <a:srgbClr val="D0DAE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C2733"/>
                </a:solidFill>
              </a:rPr>
              <a:t>Allows gradients to bypass layers through skip paths</a:t>
            </a:r>
            <a:endParaRPr lang="en-US" sz="1140" dirty="0"/>
          </a:p>
        </p:txBody>
      </p:sp>
      <p:sp>
        <p:nvSpPr>
          <p:cNvPr id="23" name="Text 21"/>
          <p:cNvSpPr/>
          <p:nvPr/>
        </p:nvSpPr>
        <p:spPr>
          <a:xfrm>
            <a:off x="6995160" y="4489704"/>
            <a:ext cx="4572000" cy="768096"/>
          </a:xfrm>
          <a:prstGeom prst="rect">
            <a:avLst/>
          </a:prstGeom>
          <a:solidFill>
            <a:srgbClr val="FFFFFF"/>
          </a:solidFill>
          <a:ln w="6350">
            <a:solidFill>
              <a:srgbClr val="D0DAE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C2733"/>
                </a:solidFill>
              </a:rPr>
              <a:t>Used in ResNet-style models</a:t>
            </a:r>
            <a:endParaRPr lang="en-US" sz="1140" dirty="0"/>
          </a:p>
        </p:txBody>
      </p:sp>
      <p:sp>
        <p:nvSpPr>
          <p:cNvPr id="24" name="Text 22"/>
          <p:cNvSpPr/>
          <p:nvPr/>
        </p:nvSpPr>
        <p:spPr>
          <a:xfrm>
            <a:off x="731520" y="5486400"/>
            <a:ext cx="1074420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420" b="1" dirty="0">
                <a:solidFill>
                  <a:srgbClr val="18A999"/>
                </a:solidFill>
              </a:rPr>
              <a:t>Takeaway</a:t>
            </a:r>
            <a:endParaRPr lang="en-US" sz="1420" dirty="0"/>
          </a:p>
        </p:txBody>
      </p:sp>
      <p:sp>
        <p:nvSpPr>
          <p:cNvPr id="25" name="Text 23"/>
          <p:cNvSpPr/>
          <p:nvPr/>
        </p:nvSpPr>
        <p:spPr>
          <a:xfrm>
            <a:off x="731520" y="5815584"/>
            <a:ext cx="10744200" cy="265176"/>
          </a:xfrm>
          <a:prstGeom prst="rect">
            <a:avLst/>
          </a:prstGeom>
          <a:solidFill>
            <a:srgbClr val="F2FBFA"/>
          </a:solidFill>
          <a:ln>
            <a:solidFill>
              <a:srgbClr val="CDEDEA">
                <a:alpha val="95000"/>
              </a:srgbClr>
            </a:solidFill>
          </a:ln>
        </p:spPr>
        <p:txBody>
          <a:bodyPr wrap="square" lIns="1016" tIns="1016" rIns="1016" bIns="1016" rtlCol="0" anchor="t">
            <a:normAutofit fontScale="85000" lnSpcReduction="10000"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1C2733"/>
                </a:solidFill>
              </a:rPr>
              <a:t>Do not solve deep learning problems with one technique only. Stable training is usually the result of correct activation, initialization, normalization, and architecture design.</a:t>
            </a:r>
            <a:endParaRPr lang="en-US" sz="132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73B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B5C"/>
          </a:solidFill>
          <a:ln w="12700">
            <a:solidFill>
              <a:srgbClr val="173B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77240" y="1005840"/>
            <a:ext cx="118872" cy="4800600"/>
          </a:xfrm>
          <a:prstGeom prst="rect">
            <a:avLst/>
          </a:prstGeom>
          <a:solidFill>
            <a:srgbClr val="18A999"/>
          </a:solidFill>
          <a:ln w="12700">
            <a:solidFill>
              <a:srgbClr val="18A99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78992" y="106984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8A999"/>
                </a:solidFill>
              </a:rPr>
              <a:t>UNIT 7 • LESSON 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51560" y="1874520"/>
            <a:ext cx="9692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Part 3 — Regularization Techniques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78992" y="2926080"/>
            <a:ext cx="795528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DEAF7"/>
                </a:solidFill>
              </a:rPr>
              <a:t>Preventing overfitting and improving generalization in deep networks</a:t>
            </a:r>
            <a:endParaRPr lang="en-US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73B5C"/>
          </a:solidFill>
          <a:ln w="12700">
            <a:solidFill>
              <a:srgbClr val="173B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18872"/>
            <a:ext cx="12191695" cy="36576"/>
          </a:xfrm>
          <a:prstGeom prst="rect">
            <a:avLst/>
          </a:prstGeom>
          <a:solidFill>
            <a:srgbClr val="18A999"/>
          </a:solidFill>
          <a:ln w="12700">
            <a:solidFill>
              <a:srgbClr val="18A99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65196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7 • Lesson 1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9784080" y="651967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Deep Learning Course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02920" y="384048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73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Deep Networks Overfit Easily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30352" y="868680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26171"/>
                </a:solidFill>
              </a:rPr>
              <a:t>More layers and parameters give the model more capacity to memorize data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30352" y="1170432"/>
            <a:ext cx="2011680" cy="0"/>
          </a:xfrm>
          <a:prstGeom prst="line">
            <a:avLst/>
          </a:prstGeom>
          <a:noFill/>
          <a:ln w="27940">
            <a:solidFill>
              <a:srgbClr val="18A9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14400" y="1828800"/>
            <a:ext cx="1828800" cy="640080"/>
          </a:xfrm>
          <a:prstGeom prst="rect">
            <a:avLst/>
          </a:prstGeom>
          <a:solidFill>
            <a:srgbClr val="FFF2CC"/>
          </a:solidFill>
          <a:ln w="15240">
            <a:solidFill>
              <a:srgbClr val="FFF2CC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B5C"/>
                </a:solidFill>
              </a:rPr>
              <a:t>Small dataset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834640" y="2148840"/>
            <a:ext cx="640080" cy="0"/>
          </a:xfrm>
          <a:prstGeom prst="line">
            <a:avLst/>
          </a:prstGeom>
          <a:noFill/>
          <a:ln w="16510">
            <a:solidFill>
              <a:srgbClr val="52617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520440" y="1783080"/>
            <a:ext cx="2103120" cy="731520"/>
          </a:xfrm>
          <a:prstGeom prst="rect">
            <a:avLst/>
          </a:prstGeom>
          <a:solidFill>
            <a:srgbClr val="DCEBFF"/>
          </a:solidFill>
          <a:ln w="15240">
            <a:solidFill>
              <a:srgbClr val="DCEBF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B5C"/>
                </a:solidFill>
              </a:rPr>
              <a:t>Large model capacity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715000" y="2148840"/>
            <a:ext cx="640080" cy="0"/>
          </a:xfrm>
          <a:prstGeom prst="line">
            <a:avLst/>
          </a:prstGeom>
          <a:noFill/>
          <a:ln w="16510">
            <a:solidFill>
              <a:srgbClr val="52617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0" y="1783080"/>
            <a:ext cx="1828800" cy="731520"/>
          </a:xfrm>
          <a:prstGeom prst="rect">
            <a:avLst/>
          </a:prstGeom>
          <a:solidFill>
            <a:srgbClr val="FFE6E6"/>
          </a:solidFill>
          <a:ln w="15240">
            <a:solidFill>
              <a:srgbClr val="FFE6E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B5C"/>
                </a:solidFill>
              </a:rPr>
              <a:t>Memorization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321040" y="2148840"/>
            <a:ext cx="640080" cy="0"/>
          </a:xfrm>
          <a:prstGeom prst="line">
            <a:avLst/>
          </a:prstGeom>
          <a:noFill/>
          <a:ln w="16510">
            <a:solidFill>
              <a:srgbClr val="52617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006840" y="1783080"/>
            <a:ext cx="2057400" cy="731520"/>
          </a:xfrm>
          <a:prstGeom prst="rect">
            <a:avLst/>
          </a:prstGeom>
          <a:solidFill>
            <a:srgbClr val="F5F7FA"/>
          </a:solidFill>
          <a:ln w="15240">
            <a:solidFill>
              <a:srgbClr val="F5F7F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B5C"/>
                </a:solidFill>
              </a:rPr>
              <a:t>Poor test accuracy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14400" y="3703320"/>
            <a:ext cx="1014984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B5C"/>
                </a:solidFill>
              </a:rPr>
              <a:t>Definition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14400" y="4032504"/>
            <a:ext cx="10149840" cy="402336"/>
          </a:xfrm>
          <a:prstGeom prst="rect">
            <a:avLst/>
          </a:prstGeom>
          <a:solidFill>
            <a:srgbClr val="F8FAFC"/>
          </a:solidFill>
          <a:ln>
            <a:solidFill>
              <a:srgbClr val="D6E0EA">
                <a:alpha val="95000"/>
              </a:srgbClr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C2733"/>
                </a:solidFill>
              </a:rPr>
              <a:t>Overfitting happens when a model learns training-specific noise instead of general patterns that transfer to new data.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4400" y="4892040"/>
            <a:ext cx="1014984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480" b="1" dirty="0">
                <a:solidFill>
                  <a:srgbClr val="18A999"/>
                </a:solidFill>
              </a:rPr>
              <a:t>Main tools</a:t>
            </a:r>
            <a:endParaRPr lang="en-US" sz="1480" dirty="0"/>
          </a:p>
        </p:txBody>
      </p:sp>
      <p:sp>
        <p:nvSpPr>
          <p:cNvPr id="19" name="Text 17"/>
          <p:cNvSpPr/>
          <p:nvPr/>
        </p:nvSpPr>
        <p:spPr>
          <a:xfrm>
            <a:off x="914400" y="5221224"/>
            <a:ext cx="10149840" cy="356616"/>
          </a:xfrm>
          <a:prstGeom prst="rect">
            <a:avLst/>
          </a:prstGeom>
          <a:solidFill>
            <a:srgbClr val="F2FBFA"/>
          </a:solidFill>
          <a:ln>
            <a:solidFill>
              <a:srgbClr val="CDEDEA">
                <a:alpha val="95000"/>
              </a:srgbClr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buNone/>
            </a:pPr>
            <a:r>
              <a:rPr lang="en-US" sz="1380" dirty="0">
                <a:solidFill>
                  <a:srgbClr val="1C2733"/>
                </a:solidFill>
              </a:rPr>
              <a:t>Dropout, Batch Normalization, Early Stopping, L2 regularization, more data, data augmentation, and simpler architectures.</a:t>
            </a:r>
            <a:endParaRPr lang="en-US" sz="138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73B5C"/>
          </a:solidFill>
          <a:ln w="12700">
            <a:solidFill>
              <a:srgbClr val="173B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18872"/>
            <a:ext cx="12191695" cy="36576"/>
          </a:xfrm>
          <a:prstGeom prst="rect">
            <a:avLst/>
          </a:prstGeom>
          <a:solidFill>
            <a:srgbClr val="18A999"/>
          </a:solidFill>
          <a:ln w="12700">
            <a:solidFill>
              <a:srgbClr val="18A99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65196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7 • Lesson 1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02920" y="384048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73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Dropout: Randomly Disable Neurons During Training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30352" y="868680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26171"/>
                </a:solidFill>
              </a:rPr>
              <a:t>Dropout forces the network not to depend on one path or one neuron too much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30352" y="1170432"/>
            <a:ext cx="2011680" cy="0"/>
          </a:xfrm>
          <a:prstGeom prst="line">
            <a:avLst/>
          </a:prstGeom>
          <a:noFill/>
          <a:ln w="27940">
            <a:solidFill>
              <a:srgbClr val="18A9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14400" y="1554480"/>
            <a:ext cx="347472" cy="347472"/>
          </a:xfrm>
          <a:prstGeom prst="rect">
            <a:avLst/>
          </a:prstGeom>
          <a:solidFill>
            <a:srgbClr val="CFF4EE"/>
          </a:solidFill>
          <a:ln w="15240">
            <a:solidFill>
              <a:srgbClr val="CFF4EE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645920" y="1554480"/>
            <a:ext cx="347472" cy="347472"/>
          </a:xfrm>
          <a:prstGeom prst="rect">
            <a:avLst/>
          </a:prstGeom>
          <a:solidFill>
            <a:srgbClr val="D6DDE6"/>
          </a:solidFill>
          <a:ln w="15240">
            <a:solidFill>
              <a:srgbClr val="D6DDE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73B5C"/>
                </a:solidFill>
              </a:rPr>
              <a:t>OFF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2377440" y="1554480"/>
            <a:ext cx="347472" cy="347472"/>
          </a:xfrm>
          <a:prstGeom prst="rect">
            <a:avLst/>
          </a:prstGeom>
          <a:solidFill>
            <a:srgbClr val="CFF4EE"/>
          </a:solidFill>
          <a:ln w="15240">
            <a:solidFill>
              <a:srgbClr val="CFF4EE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914400" y="2240280"/>
            <a:ext cx="347472" cy="347472"/>
          </a:xfrm>
          <a:prstGeom prst="rect">
            <a:avLst/>
          </a:prstGeom>
          <a:solidFill>
            <a:srgbClr val="CFF4EE"/>
          </a:solidFill>
          <a:ln w="15240">
            <a:solidFill>
              <a:srgbClr val="CFF4EE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1645920" y="2240280"/>
            <a:ext cx="347472" cy="347472"/>
          </a:xfrm>
          <a:prstGeom prst="rect">
            <a:avLst/>
          </a:prstGeom>
          <a:solidFill>
            <a:srgbClr val="D6DDE6"/>
          </a:solidFill>
          <a:ln w="15240">
            <a:solidFill>
              <a:srgbClr val="D6DDE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2377440" y="2240280"/>
            <a:ext cx="347472" cy="347472"/>
          </a:xfrm>
          <a:prstGeom prst="rect">
            <a:avLst/>
          </a:prstGeom>
          <a:solidFill>
            <a:srgbClr val="CFF4EE"/>
          </a:solidFill>
          <a:ln w="15240">
            <a:solidFill>
              <a:srgbClr val="CFF4EE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2743200" y="1645920"/>
            <a:ext cx="347472" cy="347472"/>
          </a:xfrm>
          <a:prstGeom prst="rect">
            <a:avLst/>
          </a:prstGeom>
          <a:solidFill>
            <a:srgbClr val="DCEBFF"/>
          </a:solidFill>
          <a:ln w="15240">
            <a:solidFill>
              <a:srgbClr val="DCEBF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3474720" y="1645920"/>
            <a:ext cx="347472" cy="347472"/>
          </a:xfrm>
          <a:prstGeom prst="rect">
            <a:avLst/>
          </a:prstGeom>
          <a:solidFill>
            <a:srgbClr val="DCEBFF"/>
          </a:solidFill>
          <a:ln w="15240">
            <a:solidFill>
              <a:srgbClr val="DCEBF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4206240" y="1645920"/>
            <a:ext cx="347472" cy="347472"/>
          </a:xfrm>
          <a:prstGeom prst="rect">
            <a:avLst/>
          </a:prstGeom>
          <a:solidFill>
            <a:srgbClr val="D6DDE6"/>
          </a:solidFill>
          <a:ln w="15240">
            <a:solidFill>
              <a:srgbClr val="D6DDE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73B5C"/>
                </a:solidFill>
              </a:rPr>
              <a:t>OFF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2743200" y="2331720"/>
            <a:ext cx="347472" cy="347472"/>
          </a:xfrm>
          <a:prstGeom prst="rect">
            <a:avLst/>
          </a:prstGeom>
          <a:solidFill>
            <a:srgbClr val="DCEBFF"/>
          </a:solidFill>
          <a:ln w="15240">
            <a:solidFill>
              <a:srgbClr val="DCEBF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3474720" y="2331720"/>
            <a:ext cx="347472" cy="347472"/>
          </a:xfrm>
          <a:prstGeom prst="rect">
            <a:avLst/>
          </a:prstGeom>
          <a:solidFill>
            <a:srgbClr val="DCEBFF"/>
          </a:solidFill>
          <a:ln w="15240">
            <a:solidFill>
              <a:srgbClr val="DCEBF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4572000" y="1828800"/>
            <a:ext cx="347472" cy="347472"/>
          </a:xfrm>
          <a:prstGeom prst="rect">
            <a:avLst/>
          </a:prstGeom>
          <a:solidFill>
            <a:srgbClr val="EEE6FF"/>
          </a:solidFill>
          <a:ln w="15240">
            <a:solidFill>
              <a:srgbClr val="EEE6F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5303520" y="1828800"/>
            <a:ext cx="347472" cy="347472"/>
          </a:xfrm>
          <a:prstGeom prst="rect">
            <a:avLst/>
          </a:prstGeom>
          <a:solidFill>
            <a:srgbClr val="EEE6FF"/>
          </a:solidFill>
          <a:ln w="15240">
            <a:solidFill>
              <a:srgbClr val="EEE6F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4572000" y="2514600"/>
            <a:ext cx="347472" cy="347472"/>
          </a:xfrm>
          <a:prstGeom prst="rect">
            <a:avLst/>
          </a:prstGeom>
          <a:solidFill>
            <a:srgbClr val="EEE6FF"/>
          </a:solidFill>
          <a:ln w="15240">
            <a:solidFill>
              <a:srgbClr val="EEE6F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5303520" y="2514600"/>
            <a:ext cx="347472" cy="347472"/>
          </a:xfrm>
          <a:prstGeom prst="rect">
            <a:avLst/>
          </a:prstGeom>
          <a:solidFill>
            <a:srgbClr val="EEE6FF"/>
          </a:solidFill>
          <a:ln w="15240">
            <a:solidFill>
              <a:srgbClr val="EEE6F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822960" y="324612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B5C"/>
                </a:solidFill>
              </a:rPr>
              <a:t>Training: some neurons are temporarily turned off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583680" y="1325880"/>
            <a:ext cx="4709160" cy="2743200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</a:t>
            </a:r>
            <a:r>
              <a:rPr lang="en-US" sz="1080" dirty="0" err="1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tensorflow.keras.layers</a:t>
            </a:r>
            <a:r>
              <a:rPr lang="en-US" sz="108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import Dropout</a:t>
            </a:r>
            <a:endParaRPr lang="en-US" sz="1080" dirty="0"/>
          </a:p>
          <a:p>
            <a:pPr marL="0" indent="0">
              <a:buNone/>
            </a:pP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</a:t>
            </a:r>
            <a:r>
              <a:rPr lang="en-US" sz="1080" dirty="0" err="1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keras.Sequential</a:t>
            </a:r>
            <a:r>
              <a:rPr lang="en-US" sz="108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([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Dense(128, activation='relu', input_shape=(784,)),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Dropout(0.3),  # disable 30% during training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Dense(64, activation='relu'),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Dropout(0.3),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Dense(10, activation='softmax')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  <a:endParaRPr lang="en-US" sz="1080" dirty="0"/>
          </a:p>
        </p:txBody>
      </p:sp>
      <p:sp>
        <p:nvSpPr>
          <p:cNvPr id="26" name="Text 24"/>
          <p:cNvSpPr/>
          <p:nvPr/>
        </p:nvSpPr>
        <p:spPr>
          <a:xfrm>
            <a:off x="914400" y="4800600"/>
            <a:ext cx="1028700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480" b="1" dirty="0">
                <a:solidFill>
                  <a:srgbClr val="18A999"/>
                </a:solidFill>
              </a:rPr>
              <a:t>At test time</a:t>
            </a:r>
            <a:endParaRPr lang="en-US" sz="1480" dirty="0"/>
          </a:p>
        </p:txBody>
      </p:sp>
      <p:sp>
        <p:nvSpPr>
          <p:cNvPr id="27" name="Text 25"/>
          <p:cNvSpPr/>
          <p:nvPr/>
        </p:nvSpPr>
        <p:spPr>
          <a:xfrm>
            <a:off x="914400" y="5129784"/>
            <a:ext cx="10287000" cy="265176"/>
          </a:xfrm>
          <a:prstGeom prst="rect">
            <a:avLst/>
          </a:prstGeom>
          <a:solidFill>
            <a:srgbClr val="F2FBFA"/>
          </a:solidFill>
          <a:ln>
            <a:solidFill>
              <a:srgbClr val="CDEDEA">
                <a:alpha val="95000"/>
              </a:srgbClr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buNone/>
            </a:pPr>
            <a:r>
              <a:rPr lang="en-US" sz="1380" dirty="0">
                <a:solidFill>
                  <a:srgbClr val="1C2733"/>
                </a:solidFill>
              </a:rPr>
              <a:t>All neurons are active. Dropout is only applied during training.</a:t>
            </a:r>
            <a:endParaRPr lang="en-US" sz="138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73B5C"/>
          </a:solidFill>
          <a:ln w="12700">
            <a:solidFill>
              <a:srgbClr val="173B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18872"/>
            <a:ext cx="12191695" cy="36576"/>
          </a:xfrm>
          <a:prstGeom prst="rect">
            <a:avLst/>
          </a:prstGeom>
          <a:solidFill>
            <a:srgbClr val="18A999"/>
          </a:solidFill>
          <a:ln w="12700">
            <a:solidFill>
              <a:srgbClr val="18A99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65196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7 • Lesson 1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02920" y="384048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73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Batch Normalization: Stabilize Layer Inputs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30352" y="868680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26171"/>
                </a:solidFill>
              </a:rPr>
              <a:t>BatchNorm normalizes intermediate activations so training becomes more stable and often faster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30352" y="1170432"/>
            <a:ext cx="2011680" cy="0"/>
          </a:xfrm>
          <a:prstGeom prst="line">
            <a:avLst/>
          </a:prstGeom>
          <a:noFill/>
          <a:ln w="27940">
            <a:solidFill>
              <a:srgbClr val="18A9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77240" y="1828800"/>
            <a:ext cx="1965960" cy="731520"/>
          </a:xfrm>
          <a:prstGeom prst="rect">
            <a:avLst/>
          </a:prstGeom>
          <a:solidFill>
            <a:srgbClr val="FFE6E6"/>
          </a:solidFill>
          <a:ln w="15240">
            <a:solidFill>
              <a:srgbClr val="FFE6E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B5C"/>
                </a:solidFill>
              </a:rPr>
              <a:t>Dense output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73B5C"/>
                </a:solidFill>
              </a:rPr>
              <a:t>unstable scale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834640" y="2194560"/>
            <a:ext cx="502920" cy="0"/>
          </a:xfrm>
          <a:prstGeom prst="line">
            <a:avLst/>
          </a:prstGeom>
          <a:noFill/>
          <a:ln w="16510">
            <a:solidFill>
              <a:srgbClr val="18A99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383280" y="1691640"/>
            <a:ext cx="2331720" cy="1005840"/>
          </a:xfrm>
          <a:prstGeom prst="rect">
            <a:avLst/>
          </a:prstGeom>
          <a:solidFill>
            <a:srgbClr val="CFF4EE"/>
          </a:solidFill>
          <a:ln w="15240">
            <a:solidFill>
              <a:srgbClr val="CFF4EE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B5C"/>
                </a:solidFill>
              </a:rPr>
              <a:t>BatchNormalization()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73B5C"/>
                </a:solidFill>
              </a:rPr>
              <a:t>mean≈0, std≈1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806440" y="2194560"/>
            <a:ext cx="502920" cy="0"/>
          </a:xfrm>
          <a:prstGeom prst="line">
            <a:avLst/>
          </a:prstGeom>
          <a:noFill/>
          <a:ln w="16510">
            <a:solidFill>
              <a:srgbClr val="18A99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355080" y="1828800"/>
            <a:ext cx="2057400" cy="731520"/>
          </a:xfrm>
          <a:prstGeom prst="rect">
            <a:avLst/>
          </a:prstGeom>
          <a:solidFill>
            <a:srgbClr val="DCEBFF"/>
          </a:solidFill>
          <a:ln w="15240">
            <a:solidFill>
              <a:srgbClr val="DCEBF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B5C"/>
                </a:solidFill>
              </a:rPr>
              <a:t>Next layer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73B5C"/>
                </a:solidFill>
              </a:rPr>
              <a:t>more stable input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68680" y="3794760"/>
            <a:ext cx="6400800" cy="1828800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</a:t>
            </a:r>
            <a:r>
              <a:rPr lang="en-US" sz="1050" dirty="0" err="1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tensorflow.keras.layers</a:t>
            </a:r>
            <a:r>
              <a:rPr lang="en-US" sz="105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import BatchNormalization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</a:t>
            </a:r>
            <a:r>
              <a:rPr lang="en-US" sz="1050" dirty="0" err="1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keras.Sequential</a:t>
            </a:r>
            <a:r>
              <a:rPr lang="en-US" sz="105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([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Dense(128, activation='relu', input_shape=(784,)),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BatchNormalization(),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Dense(64, activation='relu'),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BatchNormalization(),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Dense(10, activation='softmax')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635240" y="3840480"/>
            <a:ext cx="352044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420" b="1" dirty="0">
                <a:solidFill>
                  <a:srgbClr val="173B5C"/>
                </a:solidFill>
              </a:rPr>
              <a:t>When to use</a:t>
            </a:r>
            <a:endParaRPr lang="en-US" sz="1420" dirty="0"/>
          </a:p>
        </p:txBody>
      </p:sp>
      <p:sp>
        <p:nvSpPr>
          <p:cNvPr id="16" name="Text 14"/>
          <p:cNvSpPr/>
          <p:nvPr/>
        </p:nvSpPr>
        <p:spPr>
          <a:xfrm>
            <a:off x="7635240" y="4169664"/>
            <a:ext cx="3520440" cy="585216"/>
          </a:xfrm>
          <a:prstGeom prst="rect">
            <a:avLst/>
          </a:prstGeom>
          <a:solidFill>
            <a:srgbClr val="F8FAFC"/>
          </a:solidFill>
          <a:ln>
            <a:solidFill>
              <a:srgbClr val="D6E0EA">
                <a:alpha val="95000"/>
              </a:srgbClr>
            </a:solidFill>
          </a:ln>
        </p:spPr>
        <p:txBody>
          <a:bodyPr wrap="square" lIns="1016" tIns="1016" rIns="1016" bIns="1016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1C2733"/>
                </a:solidFill>
              </a:rPr>
              <a:t>Useful when training is unstable, when gradients are difficult to control, or when deeper models train slowly.</a:t>
            </a:r>
            <a:endParaRPr lang="en-US" sz="132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73B5C"/>
          </a:solidFill>
          <a:ln w="12700">
            <a:solidFill>
              <a:srgbClr val="173B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18872"/>
            <a:ext cx="12191695" cy="36576"/>
          </a:xfrm>
          <a:prstGeom prst="rect">
            <a:avLst/>
          </a:prstGeom>
          <a:solidFill>
            <a:srgbClr val="18A999"/>
          </a:solidFill>
          <a:ln w="12700">
            <a:solidFill>
              <a:srgbClr val="18A99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65196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7 • Lesson 1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02920" y="384048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73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Early Stopping: Stop Before Overfitting Gets Worse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30352" y="868680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26171"/>
                </a:solidFill>
              </a:rPr>
              <a:t>Monitor validation loss and restore the best model weights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30352" y="1170432"/>
            <a:ext cx="2011680" cy="0"/>
          </a:xfrm>
          <a:prstGeom prst="line">
            <a:avLst/>
          </a:prstGeom>
          <a:noFill/>
          <a:ln w="27940">
            <a:solidFill>
              <a:srgbClr val="18A9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9" name="Chart 0"/>
          <p:cNvGraphicFramePr/>
          <p:nvPr/>
        </p:nvGraphicFramePr>
        <p:xfrm>
          <a:off x="868680" y="1417320"/>
          <a:ext cx="438912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Shape 7"/>
          <p:cNvSpPr/>
          <p:nvPr/>
        </p:nvSpPr>
        <p:spPr>
          <a:xfrm>
            <a:off x="3566160" y="1417320"/>
            <a:ext cx="0" cy="233172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3154680" y="388620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5A623"/>
                </a:solidFill>
              </a:rPr>
              <a:t>Stop here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5A623"/>
                </a:solidFill>
              </a:rPr>
              <a:t>(best val_loss)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217920" y="1325880"/>
            <a:ext cx="5074920" cy="2971800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</a:t>
            </a:r>
            <a:r>
              <a:rPr lang="en-US" sz="1080" dirty="0" err="1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tensorflow.keras.callbacks</a:t>
            </a:r>
            <a:r>
              <a:rPr lang="en-US" sz="108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import EarlyStopping</a:t>
            </a:r>
            <a:endParaRPr lang="en-US" sz="1080" dirty="0"/>
          </a:p>
          <a:p>
            <a:pPr marL="0" indent="0">
              <a:buNone/>
            </a:pP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early_stop = EarlyStopping(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monitor='val_loss',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patience=5,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restore_best_weights=True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80" dirty="0"/>
          </a:p>
          <a:p>
            <a:pPr marL="0" indent="0">
              <a:buNone/>
            </a:pP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model.fit(X_train, y_train, epochs=100,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validation_split=0.2,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callbacks=[early_stop])</a:t>
            </a:r>
            <a:endParaRPr lang="en-US" sz="1080" dirty="0"/>
          </a:p>
        </p:txBody>
      </p:sp>
      <p:sp>
        <p:nvSpPr>
          <p:cNvPr id="13" name="Text 10"/>
          <p:cNvSpPr/>
          <p:nvPr/>
        </p:nvSpPr>
        <p:spPr>
          <a:xfrm>
            <a:off x="868680" y="4892040"/>
            <a:ext cx="1042416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5A623"/>
                </a:solidFill>
              </a:rPr>
              <a:t>Key terms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868680" y="5221224"/>
            <a:ext cx="10424160" cy="356616"/>
          </a:xfrm>
          <a:prstGeom prst="rect">
            <a:avLst/>
          </a:prstGeom>
          <a:solidFill>
            <a:srgbClr val="FFF8E6"/>
          </a:solidFill>
          <a:ln>
            <a:solidFill>
              <a:srgbClr val="F3D999">
                <a:alpha val="95000"/>
              </a:srgbClr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C2733"/>
                </a:solidFill>
              </a:rPr>
              <a:t>monitor = what to watch. patience = how many epochs to wait. restore_best_weights = go back to the best validation point.</a:t>
            </a:r>
            <a:endParaRPr lang="en-US" sz="13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73B5C"/>
          </a:solidFill>
          <a:ln w="12700">
            <a:solidFill>
              <a:srgbClr val="173B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18872"/>
            <a:ext cx="12191695" cy="36576"/>
          </a:xfrm>
          <a:prstGeom prst="rect">
            <a:avLst/>
          </a:prstGeom>
          <a:solidFill>
            <a:srgbClr val="18A999"/>
          </a:solidFill>
          <a:ln w="12700">
            <a:solidFill>
              <a:srgbClr val="18A99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65196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7 • Lesson 1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02920" y="384048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73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Regularization Techniques: Quick Comparison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30352" y="868680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26171"/>
                </a:solidFill>
              </a:rPr>
              <a:t>Each technique reduces overfitting in a different way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30352" y="1170432"/>
            <a:ext cx="2011680" cy="0"/>
          </a:xfrm>
          <a:prstGeom prst="line">
            <a:avLst/>
          </a:prstGeom>
          <a:noFill/>
          <a:ln w="27940">
            <a:solidFill>
              <a:srgbClr val="18A9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1234440"/>
            <a:ext cx="1828800" cy="795528"/>
          </a:xfrm>
          <a:prstGeom prst="rect">
            <a:avLst/>
          </a:prstGeom>
          <a:solidFill>
            <a:srgbClr val="173B5C"/>
          </a:solidFill>
          <a:ln w="6350">
            <a:solidFill>
              <a:srgbClr val="D0DAE5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FFFFFF"/>
                </a:solidFill>
              </a:rPr>
              <a:t>Technique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2331720" y="1234440"/>
            <a:ext cx="3200400" cy="795528"/>
          </a:xfrm>
          <a:prstGeom prst="rect">
            <a:avLst/>
          </a:prstGeom>
          <a:solidFill>
            <a:srgbClr val="173B5C"/>
          </a:solidFill>
          <a:ln w="6350">
            <a:solidFill>
              <a:srgbClr val="D0DAE5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FFFFFF"/>
                </a:solidFill>
              </a:rPr>
              <a:t>What it does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5532120" y="1234440"/>
            <a:ext cx="3017520" cy="795528"/>
          </a:xfrm>
          <a:prstGeom prst="rect">
            <a:avLst/>
          </a:prstGeom>
          <a:solidFill>
            <a:srgbClr val="173B5C"/>
          </a:solidFill>
          <a:ln w="6350">
            <a:solidFill>
              <a:srgbClr val="D0DAE5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FFFFFF"/>
                </a:solidFill>
              </a:rPr>
              <a:t>When to use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8549640" y="1234440"/>
            <a:ext cx="3108960" cy="795528"/>
          </a:xfrm>
          <a:prstGeom prst="rect">
            <a:avLst/>
          </a:prstGeom>
          <a:solidFill>
            <a:srgbClr val="173B5C"/>
          </a:solidFill>
          <a:ln w="6350">
            <a:solidFill>
              <a:srgbClr val="D0DAE5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FFFFFF"/>
                </a:solidFill>
              </a:rPr>
              <a:t>Keras code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502920" y="2029968"/>
            <a:ext cx="1828800" cy="795528"/>
          </a:xfrm>
          <a:prstGeom prst="rect">
            <a:avLst/>
          </a:prstGeom>
          <a:solidFill>
            <a:srgbClr val="F7FAFC"/>
          </a:solidFill>
          <a:ln w="6350">
            <a:solidFill>
              <a:srgbClr val="D0DAE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C2733"/>
                </a:solidFill>
              </a:rPr>
              <a:t>Dropout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2331720" y="2029968"/>
            <a:ext cx="3200400" cy="795528"/>
          </a:xfrm>
          <a:prstGeom prst="rect">
            <a:avLst/>
          </a:prstGeom>
          <a:solidFill>
            <a:srgbClr val="F7FAFC"/>
          </a:solidFill>
          <a:ln w="6350">
            <a:solidFill>
              <a:srgbClr val="D0DAE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C2733"/>
                </a:solidFill>
              </a:rPr>
              <a:t>Randomly disables neurons</a:t>
            </a:r>
            <a:endParaRPr lang="en-US" sz="1080" dirty="0"/>
          </a:p>
        </p:txBody>
      </p:sp>
      <p:sp>
        <p:nvSpPr>
          <p:cNvPr id="15" name="Text 13"/>
          <p:cNvSpPr/>
          <p:nvPr/>
        </p:nvSpPr>
        <p:spPr>
          <a:xfrm>
            <a:off x="5532120" y="2029968"/>
            <a:ext cx="3017520" cy="795528"/>
          </a:xfrm>
          <a:prstGeom prst="rect">
            <a:avLst/>
          </a:prstGeom>
          <a:solidFill>
            <a:srgbClr val="F7FAFC"/>
          </a:solidFill>
          <a:ln w="6350">
            <a:solidFill>
              <a:srgbClr val="D0DAE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C2733"/>
                </a:solidFill>
              </a:rPr>
              <a:t>Deep networks; overfitting</a:t>
            </a:r>
            <a:endParaRPr lang="en-US" sz="1080" dirty="0"/>
          </a:p>
        </p:txBody>
      </p:sp>
      <p:sp>
        <p:nvSpPr>
          <p:cNvPr id="16" name="Text 14"/>
          <p:cNvSpPr/>
          <p:nvPr/>
        </p:nvSpPr>
        <p:spPr>
          <a:xfrm>
            <a:off x="8549640" y="2029968"/>
            <a:ext cx="3108960" cy="795528"/>
          </a:xfrm>
          <a:prstGeom prst="rect">
            <a:avLst/>
          </a:prstGeom>
          <a:solidFill>
            <a:srgbClr val="F7FAFC"/>
          </a:solidFill>
          <a:ln w="6350">
            <a:solidFill>
              <a:srgbClr val="D0DAE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C2733"/>
                </a:solidFill>
              </a:rPr>
              <a:t>Dropout(0.2–0.5)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502920" y="2825496"/>
            <a:ext cx="1828800" cy="795528"/>
          </a:xfrm>
          <a:prstGeom prst="rect">
            <a:avLst/>
          </a:prstGeom>
          <a:solidFill>
            <a:srgbClr val="FFFFFF"/>
          </a:solidFill>
          <a:ln w="6350">
            <a:solidFill>
              <a:srgbClr val="D0DAE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C2733"/>
                </a:solidFill>
              </a:rPr>
              <a:t>BatchNorm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2331720" y="2825496"/>
            <a:ext cx="3200400" cy="795528"/>
          </a:xfrm>
          <a:prstGeom prst="rect">
            <a:avLst/>
          </a:prstGeom>
          <a:solidFill>
            <a:srgbClr val="FFFFFF"/>
          </a:solidFill>
          <a:ln w="6350">
            <a:solidFill>
              <a:srgbClr val="D0DAE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C2733"/>
                </a:solidFill>
              </a:rPr>
              <a:t>Normalizes layer inputs</a:t>
            </a:r>
            <a:endParaRPr lang="en-US" sz="1080" dirty="0"/>
          </a:p>
        </p:txBody>
      </p:sp>
      <p:sp>
        <p:nvSpPr>
          <p:cNvPr id="19" name="Text 17"/>
          <p:cNvSpPr/>
          <p:nvPr/>
        </p:nvSpPr>
        <p:spPr>
          <a:xfrm>
            <a:off x="5532120" y="2825496"/>
            <a:ext cx="3017520" cy="795528"/>
          </a:xfrm>
          <a:prstGeom prst="rect">
            <a:avLst/>
          </a:prstGeom>
          <a:solidFill>
            <a:srgbClr val="FFFFFF"/>
          </a:solidFill>
          <a:ln w="6350">
            <a:solidFill>
              <a:srgbClr val="D0DAE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C2733"/>
                </a:solidFill>
              </a:rPr>
              <a:t>Unstable or slow training</a:t>
            </a:r>
            <a:endParaRPr lang="en-US" sz="1080" dirty="0"/>
          </a:p>
        </p:txBody>
      </p:sp>
      <p:sp>
        <p:nvSpPr>
          <p:cNvPr id="20" name="Text 18"/>
          <p:cNvSpPr/>
          <p:nvPr/>
        </p:nvSpPr>
        <p:spPr>
          <a:xfrm>
            <a:off x="8549640" y="2825496"/>
            <a:ext cx="3108960" cy="795528"/>
          </a:xfrm>
          <a:prstGeom prst="rect">
            <a:avLst/>
          </a:prstGeom>
          <a:solidFill>
            <a:srgbClr val="FFFFFF"/>
          </a:solidFill>
          <a:ln w="6350">
            <a:solidFill>
              <a:srgbClr val="D0DAE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C2733"/>
                </a:solidFill>
              </a:rPr>
              <a:t>BatchNormalization()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502920" y="3621024"/>
            <a:ext cx="1828800" cy="795528"/>
          </a:xfrm>
          <a:prstGeom prst="rect">
            <a:avLst/>
          </a:prstGeom>
          <a:solidFill>
            <a:srgbClr val="F7FAFC"/>
          </a:solidFill>
          <a:ln w="6350">
            <a:solidFill>
              <a:srgbClr val="D0DAE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C2733"/>
                </a:solidFill>
              </a:rPr>
              <a:t>Early Stopping</a:t>
            </a:r>
            <a:endParaRPr lang="en-US" sz="1080" dirty="0"/>
          </a:p>
        </p:txBody>
      </p:sp>
      <p:sp>
        <p:nvSpPr>
          <p:cNvPr id="22" name="Text 20"/>
          <p:cNvSpPr/>
          <p:nvPr/>
        </p:nvSpPr>
        <p:spPr>
          <a:xfrm>
            <a:off x="2331720" y="3621024"/>
            <a:ext cx="3200400" cy="795528"/>
          </a:xfrm>
          <a:prstGeom prst="rect">
            <a:avLst/>
          </a:prstGeom>
          <a:solidFill>
            <a:srgbClr val="F7FAFC"/>
          </a:solidFill>
          <a:ln w="6350">
            <a:solidFill>
              <a:srgbClr val="D0DAE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C2733"/>
                </a:solidFill>
              </a:rPr>
              <a:t>Stops when val_loss plateaus</a:t>
            </a:r>
            <a:endParaRPr lang="en-US" sz="1080" dirty="0"/>
          </a:p>
        </p:txBody>
      </p:sp>
      <p:sp>
        <p:nvSpPr>
          <p:cNvPr id="23" name="Text 21"/>
          <p:cNvSpPr/>
          <p:nvPr/>
        </p:nvSpPr>
        <p:spPr>
          <a:xfrm>
            <a:off x="5532120" y="3621024"/>
            <a:ext cx="3017520" cy="795528"/>
          </a:xfrm>
          <a:prstGeom prst="rect">
            <a:avLst/>
          </a:prstGeom>
          <a:solidFill>
            <a:srgbClr val="F7FAFC"/>
          </a:solidFill>
          <a:ln w="6350">
            <a:solidFill>
              <a:srgbClr val="D0DAE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C2733"/>
                </a:solidFill>
              </a:rPr>
              <a:t>Almost always recommended</a:t>
            </a:r>
            <a:endParaRPr lang="en-US" sz="1080" dirty="0"/>
          </a:p>
        </p:txBody>
      </p:sp>
      <p:sp>
        <p:nvSpPr>
          <p:cNvPr id="24" name="Text 22"/>
          <p:cNvSpPr/>
          <p:nvPr/>
        </p:nvSpPr>
        <p:spPr>
          <a:xfrm>
            <a:off x="8549640" y="3621024"/>
            <a:ext cx="3108960" cy="795528"/>
          </a:xfrm>
          <a:prstGeom prst="rect">
            <a:avLst/>
          </a:prstGeom>
          <a:solidFill>
            <a:srgbClr val="F7FAFC"/>
          </a:solidFill>
          <a:ln w="6350">
            <a:solidFill>
              <a:srgbClr val="D0DAE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C2733"/>
                </a:solidFill>
              </a:rPr>
              <a:t>EarlyStopping(patience=5)</a:t>
            </a:r>
            <a:endParaRPr lang="en-US" sz="1080" dirty="0"/>
          </a:p>
        </p:txBody>
      </p:sp>
      <p:sp>
        <p:nvSpPr>
          <p:cNvPr id="25" name="Text 23"/>
          <p:cNvSpPr/>
          <p:nvPr/>
        </p:nvSpPr>
        <p:spPr>
          <a:xfrm>
            <a:off x="502920" y="4416552"/>
            <a:ext cx="1828800" cy="795528"/>
          </a:xfrm>
          <a:prstGeom prst="rect">
            <a:avLst/>
          </a:prstGeom>
          <a:solidFill>
            <a:srgbClr val="FFFFFF"/>
          </a:solidFill>
          <a:ln w="6350">
            <a:solidFill>
              <a:srgbClr val="D0DAE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C2733"/>
                </a:solidFill>
              </a:rPr>
              <a:t>L2 Regularization</a:t>
            </a:r>
            <a:endParaRPr lang="en-US" sz="1080" dirty="0"/>
          </a:p>
        </p:txBody>
      </p:sp>
      <p:sp>
        <p:nvSpPr>
          <p:cNvPr id="26" name="Text 24"/>
          <p:cNvSpPr/>
          <p:nvPr/>
        </p:nvSpPr>
        <p:spPr>
          <a:xfrm>
            <a:off x="2331720" y="4416552"/>
            <a:ext cx="3200400" cy="795528"/>
          </a:xfrm>
          <a:prstGeom prst="rect">
            <a:avLst/>
          </a:prstGeom>
          <a:solidFill>
            <a:srgbClr val="FFFFFF"/>
          </a:solidFill>
          <a:ln w="6350">
            <a:solidFill>
              <a:srgbClr val="D0DAE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C2733"/>
                </a:solidFill>
              </a:rPr>
              <a:t>Penalizes large weights</a:t>
            </a:r>
            <a:endParaRPr lang="en-US" sz="1080" dirty="0"/>
          </a:p>
        </p:txBody>
      </p:sp>
      <p:sp>
        <p:nvSpPr>
          <p:cNvPr id="27" name="Text 25"/>
          <p:cNvSpPr/>
          <p:nvPr/>
        </p:nvSpPr>
        <p:spPr>
          <a:xfrm>
            <a:off x="5532120" y="4416552"/>
            <a:ext cx="3017520" cy="795528"/>
          </a:xfrm>
          <a:prstGeom prst="rect">
            <a:avLst/>
          </a:prstGeom>
          <a:solidFill>
            <a:srgbClr val="FFFFFF"/>
          </a:solidFill>
          <a:ln w="6350">
            <a:solidFill>
              <a:srgbClr val="D0DAE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C2733"/>
                </a:solidFill>
              </a:rPr>
              <a:t>Overfitting persists</a:t>
            </a:r>
            <a:endParaRPr lang="en-US" sz="1080" dirty="0"/>
          </a:p>
        </p:txBody>
      </p:sp>
      <p:sp>
        <p:nvSpPr>
          <p:cNvPr id="28" name="Text 26"/>
          <p:cNvSpPr/>
          <p:nvPr/>
        </p:nvSpPr>
        <p:spPr>
          <a:xfrm>
            <a:off x="8549640" y="4416552"/>
            <a:ext cx="3108960" cy="795528"/>
          </a:xfrm>
          <a:prstGeom prst="rect">
            <a:avLst/>
          </a:prstGeom>
          <a:solidFill>
            <a:srgbClr val="FFFFFF"/>
          </a:solidFill>
          <a:ln w="6350">
            <a:solidFill>
              <a:srgbClr val="D0DAE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C2733"/>
                </a:solidFill>
              </a:rPr>
              <a:t>kernel_regularizer=l2(0.01)</a:t>
            </a:r>
            <a:endParaRPr lang="en-US" sz="1080" dirty="0"/>
          </a:p>
        </p:txBody>
      </p:sp>
      <p:sp>
        <p:nvSpPr>
          <p:cNvPr id="29" name="Text 27"/>
          <p:cNvSpPr/>
          <p:nvPr/>
        </p:nvSpPr>
        <p:spPr>
          <a:xfrm>
            <a:off x="731520" y="5486400"/>
            <a:ext cx="1074420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420" b="1" dirty="0">
                <a:solidFill>
                  <a:srgbClr val="18A999"/>
                </a:solidFill>
              </a:rPr>
              <a:t>Practical recipe</a:t>
            </a:r>
            <a:endParaRPr lang="en-US" sz="1420" dirty="0"/>
          </a:p>
        </p:txBody>
      </p:sp>
      <p:sp>
        <p:nvSpPr>
          <p:cNvPr id="30" name="Text 28"/>
          <p:cNvSpPr/>
          <p:nvPr/>
        </p:nvSpPr>
        <p:spPr>
          <a:xfrm>
            <a:off x="708660" y="5843016"/>
            <a:ext cx="10927080" cy="587502"/>
          </a:xfrm>
          <a:prstGeom prst="rect">
            <a:avLst/>
          </a:prstGeom>
          <a:solidFill>
            <a:srgbClr val="F2FBFA"/>
          </a:solidFill>
          <a:ln>
            <a:solidFill>
              <a:srgbClr val="CDEDEA">
                <a:alpha val="95000"/>
              </a:srgbClr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1C2733"/>
                </a:solidFill>
              </a:rPr>
              <a:t>Start with ReLU + Adam + validation curves. If validation performance degrades, add Early Stopping first, then Dropout/BatchNorm, then tune model size and learning rate.</a:t>
            </a:r>
            <a:endParaRPr lang="en-US" sz="132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73B5C"/>
          </a:solidFill>
          <a:ln w="12700">
            <a:solidFill>
              <a:srgbClr val="173B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18872"/>
            <a:ext cx="12191695" cy="36576"/>
          </a:xfrm>
          <a:prstGeom prst="rect">
            <a:avLst/>
          </a:prstGeom>
          <a:solidFill>
            <a:srgbClr val="18A999"/>
          </a:solidFill>
          <a:ln w="12700">
            <a:solidFill>
              <a:srgbClr val="18A99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65196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7 • Lesson 1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02920" y="384048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73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Experiment: Shallow vs Deep vs Regularized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30352" y="868680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26171"/>
                </a:solidFill>
              </a:rPr>
              <a:t>Compare three architectures on the same dataset to see the effect of depth and regularization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30352" y="1170432"/>
            <a:ext cx="2011680" cy="0"/>
          </a:xfrm>
          <a:prstGeom prst="line">
            <a:avLst/>
          </a:prstGeom>
          <a:noFill/>
          <a:ln w="27940">
            <a:solidFill>
              <a:srgbClr val="18A9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77240" y="2011680"/>
            <a:ext cx="1737360" cy="731520"/>
          </a:xfrm>
          <a:prstGeom prst="rect">
            <a:avLst/>
          </a:prstGeom>
          <a:solidFill>
            <a:srgbClr val="F5F7FA"/>
          </a:solidFill>
          <a:ln w="15240">
            <a:solidFill>
              <a:srgbClr val="F5F7F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3B5C"/>
                </a:solidFill>
              </a:rPr>
              <a:t>Same dataset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73B5C"/>
                </a:solidFill>
              </a:rPr>
              <a:t>load_digits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606040" y="2377440"/>
            <a:ext cx="548640" cy="0"/>
          </a:xfrm>
          <a:prstGeom prst="line">
            <a:avLst/>
          </a:prstGeom>
          <a:noFill/>
          <a:ln w="16510">
            <a:solidFill>
              <a:srgbClr val="18A99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00400" y="2011680"/>
            <a:ext cx="1828800" cy="731520"/>
          </a:xfrm>
          <a:prstGeom prst="rect">
            <a:avLst/>
          </a:prstGeom>
          <a:solidFill>
            <a:srgbClr val="DCEBFF"/>
          </a:solidFill>
          <a:ln w="15240">
            <a:solidFill>
              <a:srgbClr val="DCEBF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3B5C"/>
                </a:solidFill>
              </a:rPr>
              <a:t>Preprocess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73B5C"/>
                </a:solidFill>
              </a:rPr>
              <a:t>StandardScaler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120640" y="2377440"/>
            <a:ext cx="548640" cy="0"/>
          </a:xfrm>
          <a:prstGeom prst="line">
            <a:avLst/>
          </a:prstGeom>
          <a:noFill/>
          <a:ln w="16510">
            <a:solidFill>
              <a:srgbClr val="18A99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715000" y="2011680"/>
            <a:ext cx="1737360" cy="731520"/>
          </a:xfrm>
          <a:prstGeom prst="rect">
            <a:avLst/>
          </a:prstGeom>
          <a:solidFill>
            <a:srgbClr val="CFF4EE"/>
          </a:solidFill>
          <a:ln w="15240">
            <a:solidFill>
              <a:srgbClr val="CFF4EE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3B5C"/>
                </a:solidFill>
              </a:rPr>
              <a:t>Train 3 models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543800" y="2377440"/>
            <a:ext cx="548640" cy="0"/>
          </a:xfrm>
          <a:prstGeom prst="line">
            <a:avLst/>
          </a:prstGeom>
          <a:noFill/>
          <a:ln w="16510">
            <a:solidFill>
              <a:srgbClr val="18A99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138160" y="2011680"/>
            <a:ext cx="2148840" cy="731520"/>
          </a:xfrm>
          <a:prstGeom prst="rect">
            <a:avLst/>
          </a:prstGeom>
          <a:solidFill>
            <a:srgbClr val="FFF2CC"/>
          </a:solidFill>
          <a:ln w="15240">
            <a:solidFill>
              <a:srgbClr val="FFF2CC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3B5C"/>
                </a:solidFill>
              </a:rPr>
              <a:t>Compare test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73B5C"/>
                </a:solidFill>
              </a:rPr>
              <a:t>accuracy + curves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" y="3794760"/>
            <a:ext cx="1965960" cy="400050"/>
          </a:xfrm>
          <a:prstGeom prst="rect">
            <a:avLst/>
          </a:prstGeom>
          <a:solidFill>
            <a:srgbClr val="173B5C"/>
          </a:solidFill>
          <a:ln w="6350">
            <a:solidFill>
              <a:srgbClr val="D0DAE5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Model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788920" y="3794760"/>
            <a:ext cx="4206240" cy="400050"/>
          </a:xfrm>
          <a:prstGeom prst="rect">
            <a:avLst/>
          </a:prstGeom>
          <a:solidFill>
            <a:srgbClr val="173B5C"/>
          </a:solidFill>
          <a:ln w="6350">
            <a:solidFill>
              <a:srgbClr val="D0DAE5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Architecture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995160" y="3794760"/>
            <a:ext cx="4251960" cy="400050"/>
          </a:xfrm>
          <a:prstGeom prst="rect">
            <a:avLst/>
          </a:prstGeom>
          <a:solidFill>
            <a:srgbClr val="173B5C"/>
          </a:solidFill>
          <a:ln w="6350">
            <a:solidFill>
              <a:srgbClr val="D0DAE5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Expected lesson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22960" y="4194810"/>
            <a:ext cx="1965960" cy="400050"/>
          </a:xfrm>
          <a:prstGeom prst="rect">
            <a:avLst/>
          </a:prstGeom>
          <a:solidFill>
            <a:srgbClr val="F7FAFC"/>
          </a:solidFill>
          <a:ln w="6350">
            <a:solidFill>
              <a:srgbClr val="D0DAE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C2733"/>
                </a:solidFill>
              </a:rPr>
              <a:t>M1 Shallow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2788920" y="4194810"/>
            <a:ext cx="4206240" cy="400050"/>
          </a:xfrm>
          <a:prstGeom prst="rect">
            <a:avLst/>
          </a:prstGeom>
          <a:solidFill>
            <a:srgbClr val="F7FAFC"/>
          </a:solidFill>
          <a:ln w="6350">
            <a:solidFill>
              <a:srgbClr val="D0DAE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C2733"/>
                </a:solidFill>
              </a:rPr>
              <a:t>1 hidden layer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995160" y="4194810"/>
            <a:ext cx="4251960" cy="400050"/>
          </a:xfrm>
          <a:prstGeom prst="rect">
            <a:avLst/>
          </a:prstGeom>
          <a:solidFill>
            <a:srgbClr val="F7FAFC"/>
          </a:solidFill>
          <a:ln w="6350">
            <a:solidFill>
              <a:srgbClr val="D0DAE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C2733"/>
                </a:solidFill>
              </a:rPr>
              <a:t>Simple baseline; may underfit complex data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22960" y="4594860"/>
            <a:ext cx="1965960" cy="400050"/>
          </a:xfrm>
          <a:prstGeom prst="rect">
            <a:avLst/>
          </a:prstGeom>
          <a:solidFill>
            <a:srgbClr val="FFFFFF"/>
          </a:solidFill>
          <a:ln w="6350">
            <a:solidFill>
              <a:srgbClr val="D0DAE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C2733"/>
                </a:solidFill>
              </a:rPr>
              <a:t>M2 Deep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2788920" y="4594860"/>
            <a:ext cx="4206240" cy="400050"/>
          </a:xfrm>
          <a:prstGeom prst="rect">
            <a:avLst/>
          </a:prstGeom>
          <a:solidFill>
            <a:srgbClr val="FFFFFF"/>
          </a:solidFill>
          <a:ln w="6350">
            <a:solidFill>
              <a:srgbClr val="D0DAE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C2733"/>
                </a:solidFill>
              </a:rPr>
              <a:t>5 hidden layers, no regularization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995160" y="4594860"/>
            <a:ext cx="4251960" cy="400050"/>
          </a:xfrm>
          <a:prstGeom prst="rect">
            <a:avLst/>
          </a:prstGeom>
          <a:solidFill>
            <a:srgbClr val="FFFFFF"/>
          </a:solidFill>
          <a:ln w="6350">
            <a:solidFill>
              <a:srgbClr val="D0DAE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C2733"/>
                </a:solidFill>
              </a:rPr>
              <a:t>Higher capacity; may overfit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22960" y="4994910"/>
            <a:ext cx="1965960" cy="400050"/>
          </a:xfrm>
          <a:prstGeom prst="rect">
            <a:avLst/>
          </a:prstGeom>
          <a:solidFill>
            <a:srgbClr val="F7FAFC"/>
          </a:solidFill>
          <a:ln w="6350">
            <a:solidFill>
              <a:srgbClr val="D0DAE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C2733"/>
                </a:solidFill>
              </a:rPr>
              <a:t>M3 Regularized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2788920" y="4994910"/>
            <a:ext cx="4206240" cy="400050"/>
          </a:xfrm>
          <a:prstGeom prst="rect">
            <a:avLst/>
          </a:prstGeom>
          <a:solidFill>
            <a:srgbClr val="F7FAFC"/>
          </a:solidFill>
          <a:ln w="6350">
            <a:solidFill>
              <a:srgbClr val="D0DAE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C2733"/>
                </a:solidFill>
              </a:rPr>
              <a:t>Deep + BatchNorm + Dropout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995160" y="4994910"/>
            <a:ext cx="4251960" cy="400050"/>
          </a:xfrm>
          <a:prstGeom prst="rect">
            <a:avLst/>
          </a:prstGeom>
          <a:solidFill>
            <a:srgbClr val="F7FAFC"/>
          </a:solidFill>
          <a:ln w="6350">
            <a:solidFill>
              <a:srgbClr val="D0DAE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C2733"/>
                </a:solidFill>
              </a:rPr>
              <a:t>Better generalization and stability</a:t>
            </a:r>
            <a:endParaRPr lang="en-US" sz="11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73B5C"/>
          </a:solidFill>
          <a:ln w="12700">
            <a:solidFill>
              <a:srgbClr val="173B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18872"/>
            <a:ext cx="12191695" cy="36576"/>
          </a:xfrm>
          <a:prstGeom prst="rect">
            <a:avLst/>
          </a:prstGeom>
          <a:solidFill>
            <a:srgbClr val="18A999"/>
          </a:solidFill>
          <a:ln w="12700">
            <a:solidFill>
              <a:srgbClr val="18A99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65196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7 • Lesson 1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9784080" y="651967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Deep Learning Course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02920" y="384048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73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Experiment Code Skeleton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30352" y="868680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26171"/>
                </a:solidFill>
              </a:rPr>
              <a:t>Use sklearn digits to keep the lab small and fast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30352" y="1170432"/>
            <a:ext cx="2011680" cy="0"/>
          </a:xfrm>
          <a:prstGeom prst="line">
            <a:avLst/>
          </a:prstGeom>
          <a:noFill/>
          <a:ln w="27940">
            <a:solidFill>
              <a:srgbClr val="18A9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85800" y="1234440"/>
            <a:ext cx="10881360" cy="4754880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tensorflow import </a:t>
            </a:r>
            <a:r>
              <a:rPr lang="en-US" sz="1200" dirty="0" err="1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keras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</a:t>
            </a:r>
            <a:r>
              <a:rPr lang="en-US" sz="1200" dirty="0" err="1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tensorflow.keras.layers</a:t>
            </a: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import Dense, Dropout, BatchNormalization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</a:t>
            </a:r>
            <a:r>
              <a:rPr lang="en-US" sz="1200" dirty="0" err="1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tensorflow.keras.callbacks</a:t>
            </a: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import EarlyStopping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sklearn.datasets import load_digits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sklearn.model_selection import train_test_split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sklearn.preprocessing import StandardScaler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X, y = load_digits(return_X_y=True)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X_train, X_test, y_train, y_test = train_test_split(X, y, test_size=0.2)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scaler = StandardScaler()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X_train = scaler.fit_transform(X_train)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X_test = scaler.transform(X_test)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73B5C"/>
          </a:solidFill>
          <a:ln w="12700">
            <a:solidFill>
              <a:srgbClr val="173B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18872"/>
            <a:ext cx="12191695" cy="36576"/>
          </a:xfrm>
          <a:prstGeom prst="rect">
            <a:avLst/>
          </a:prstGeom>
          <a:solidFill>
            <a:srgbClr val="18A999"/>
          </a:solidFill>
          <a:ln w="12700">
            <a:solidFill>
              <a:srgbClr val="18A99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65196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7 • Lesson 1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9784080" y="651967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Deep Learning Course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02920" y="384048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73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Three Models to Compare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30352" y="868680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26171"/>
                </a:solidFill>
              </a:rPr>
              <a:t>Students should train each model and inspect both metrics and curves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30352" y="1170432"/>
            <a:ext cx="2011680" cy="0"/>
          </a:xfrm>
          <a:prstGeom prst="line">
            <a:avLst/>
          </a:prstGeom>
          <a:noFill/>
          <a:ln w="27940">
            <a:solidFill>
              <a:srgbClr val="18A9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85800" y="1234440"/>
            <a:ext cx="5349240" cy="4937760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Model 1: Shallow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m1 = </a:t>
            </a:r>
            <a:r>
              <a:rPr lang="en-US" sz="1200" dirty="0" err="1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keras.Sequential</a:t>
            </a: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([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Dense(32, activation='relu', input_shape=(64,)),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Dense(10, activation='softmax')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Model 2: Deep, no regularization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m2 = </a:t>
            </a:r>
            <a:r>
              <a:rPr lang="en-US" sz="1200" dirty="0" err="1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keras.Sequential</a:t>
            </a: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([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Dense(128, activation='relu', input_shape=(64,)),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Dense(64, activation='relu'), Dense(64, activation='relu'),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Dense(32, activation='relu'), Dense(32, activation='relu'),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Dense(10, activation='softmax')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63640" y="1234440"/>
            <a:ext cx="5212080" cy="4937760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Model 3: Deep + Regularized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m3 = </a:t>
            </a:r>
            <a:r>
              <a:rPr lang="en-US" sz="1200" dirty="0" err="1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keras.Sequential</a:t>
            </a: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([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Dense(128, activation='relu', input_shape=(64,)),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BatchNormalization(), Dropout(0.3),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Dense(64, activation='relu'),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BatchNormalization(), Dropout(0.3),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Dense(64, activation='relu'),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BatchNormalization(), Dropout(0.2),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Dense(10, activation='softmax')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73B5C"/>
          </a:solidFill>
          <a:ln w="12700">
            <a:solidFill>
              <a:srgbClr val="173B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18872"/>
            <a:ext cx="12191695" cy="36576"/>
          </a:xfrm>
          <a:prstGeom prst="rect">
            <a:avLst/>
          </a:prstGeom>
          <a:solidFill>
            <a:srgbClr val="18A999"/>
          </a:solidFill>
          <a:ln w="12700">
            <a:solidFill>
              <a:srgbClr val="18A99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65196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7 • Lesson 1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02920" y="384048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73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Students Should Interpret the Experiment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30352" y="868680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26171"/>
                </a:solidFill>
              </a:rPr>
              <a:t>Metrics alone are not enough; students must explain model behavior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30352" y="1170432"/>
            <a:ext cx="2011680" cy="0"/>
          </a:xfrm>
          <a:prstGeom prst="line">
            <a:avLst/>
          </a:prstGeom>
          <a:noFill/>
          <a:ln w="27940">
            <a:solidFill>
              <a:srgbClr val="18A9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2960" y="1417320"/>
            <a:ext cx="5029200" cy="2743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C2733"/>
                </a:solidFill>
              </a:rPr>
              <a:t>✓ Compare training accuracy vs validation accuracy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C2733"/>
                </a:solidFill>
              </a:rPr>
              <a:t>✓ Look for a growing gap between train and validation loss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C2733"/>
                </a:solidFill>
              </a:rPr>
              <a:t>✓ Check final test accuracy only after model selection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C2733"/>
                </a:solidFill>
              </a:rPr>
              <a:t>✓ Explain whether the model underfits, overfits, or generalizes well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C2733"/>
                </a:solidFill>
              </a:rPr>
              <a:t>✓ Recommend one next improvement based on evidence</a:t>
            </a:r>
            <a:endParaRPr lang="en-US" sz="1450" dirty="0"/>
          </a:p>
        </p:txBody>
      </p:sp>
      <p:graphicFrame>
        <p:nvGraphicFramePr>
          <p:cNvPr id="10" name="Chart 0"/>
          <p:cNvGraphicFramePr/>
          <p:nvPr/>
        </p:nvGraphicFramePr>
        <p:xfrm>
          <a:off x="6720840" y="1417320"/>
          <a:ext cx="3886200" cy="2011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Text 8"/>
          <p:cNvSpPr/>
          <p:nvPr/>
        </p:nvSpPr>
        <p:spPr>
          <a:xfrm>
            <a:off x="868680" y="4663440"/>
            <a:ext cx="1033272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440" b="1" dirty="0">
                <a:solidFill>
                  <a:srgbClr val="173B5C"/>
                </a:solidFill>
              </a:rPr>
              <a:t>Evidence-based conclusion example</a:t>
            </a:r>
            <a:endParaRPr lang="en-US" sz="1440" dirty="0"/>
          </a:p>
        </p:txBody>
      </p:sp>
      <p:sp>
        <p:nvSpPr>
          <p:cNvPr id="12" name="Text 9"/>
          <p:cNvSpPr/>
          <p:nvPr/>
        </p:nvSpPr>
        <p:spPr>
          <a:xfrm>
            <a:off x="868680" y="4992624"/>
            <a:ext cx="10332720" cy="585216"/>
          </a:xfrm>
          <a:prstGeom prst="rect">
            <a:avLst/>
          </a:prstGeom>
          <a:solidFill>
            <a:srgbClr val="F8FAFC"/>
          </a:solidFill>
          <a:ln>
            <a:solidFill>
              <a:srgbClr val="D6E0EA">
                <a:alpha val="95000"/>
              </a:srgbClr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1C2733"/>
                </a:solidFill>
              </a:rPr>
              <a:t>“M2 achieved high training accuracy but validation loss increased after epoch 15, so it overfit. M3 had slightly lower training accuracy but better validation stability, indicating improved generalization.”</a:t>
            </a:r>
            <a:endParaRPr lang="en-US" sz="134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73B5C"/>
          </a:solidFill>
          <a:ln w="12700">
            <a:solidFill>
              <a:srgbClr val="173B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18872"/>
            <a:ext cx="12191695" cy="36576"/>
          </a:xfrm>
          <a:prstGeom prst="rect">
            <a:avLst/>
          </a:prstGeom>
          <a:solidFill>
            <a:srgbClr val="18A999"/>
          </a:solidFill>
          <a:ln w="12700">
            <a:solidFill>
              <a:srgbClr val="18A99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65196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7 • Lesson 1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02920" y="384048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73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Common Misconceptions to Correct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30352" y="868680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26171"/>
                </a:solidFill>
              </a:rPr>
              <a:t>These mistakes are common when students start deep learning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30352" y="1170432"/>
            <a:ext cx="2011680" cy="0"/>
          </a:xfrm>
          <a:prstGeom prst="line">
            <a:avLst/>
          </a:prstGeom>
          <a:noFill/>
          <a:ln w="27940">
            <a:solidFill>
              <a:srgbClr val="18A9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1234440"/>
            <a:ext cx="3840480" cy="739140"/>
          </a:xfrm>
          <a:prstGeom prst="rect">
            <a:avLst/>
          </a:prstGeom>
          <a:solidFill>
            <a:srgbClr val="173B5C"/>
          </a:solidFill>
          <a:ln w="6350">
            <a:solidFill>
              <a:srgbClr val="D0DAE5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Misconception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480560" y="1234440"/>
            <a:ext cx="7040880" cy="739140"/>
          </a:xfrm>
          <a:prstGeom prst="rect">
            <a:avLst/>
          </a:prstGeom>
          <a:solidFill>
            <a:srgbClr val="173B5C"/>
          </a:solidFill>
          <a:ln w="6350">
            <a:solidFill>
              <a:srgbClr val="D0DAE5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Reality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1973580"/>
            <a:ext cx="3840480" cy="739140"/>
          </a:xfrm>
          <a:prstGeom prst="rect">
            <a:avLst/>
          </a:prstGeom>
          <a:solidFill>
            <a:srgbClr val="F7FAFC"/>
          </a:solidFill>
          <a:ln w="6350">
            <a:solidFill>
              <a:srgbClr val="D0DAE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C2733"/>
                </a:solidFill>
              </a:rPr>
              <a:t>“Deeper is always better”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480560" y="1973580"/>
            <a:ext cx="7040880" cy="739140"/>
          </a:xfrm>
          <a:prstGeom prst="rect">
            <a:avLst/>
          </a:prstGeom>
          <a:solidFill>
            <a:srgbClr val="F7FAFC"/>
          </a:solidFill>
          <a:ln w="6350">
            <a:solidFill>
              <a:srgbClr val="D0DAE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C2733"/>
                </a:solidFill>
              </a:rPr>
              <a:t>Depth needs more data and regularization; otherwise it can overfit badly.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2712720"/>
            <a:ext cx="3840480" cy="7391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AE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C2733"/>
                </a:solidFill>
              </a:rPr>
              <a:t>“Dropout only slows training”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480560" y="2712720"/>
            <a:ext cx="7040880" cy="7391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AE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C2733"/>
                </a:solidFill>
              </a:rPr>
              <a:t>It may slow training slightly, but often improves generalization.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3451860"/>
            <a:ext cx="3840480" cy="739140"/>
          </a:xfrm>
          <a:prstGeom prst="rect">
            <a:avLst/>
          </a:prstGeom>
          <a:solidFill>
            <a:srgbClr val="F7FAFC"/>
          </a:solidFill>
          <a:ln w="6350">
            <a:solidFill>
              <a:srgbClr val="D0DAE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C2733"/>
                </a:solidFill>
              </a:rPr>
              <a:t>“BatchNorm replaces Dropout”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480560" y="3451860"/>
            <a:ext cx="7040880" cy="739140"/>
          </a:xfrm>
          <a:prstGeom prst="rect">
            <a:avLst/>
          </a:prstGeom>
          <a:solidFill>
            <a:srgbClr val="F7FAFC"/>
          </a:solidFill>
          <a:ln w="6350">
            <a:solidFill>
              <a:srgbClr val="D0DAE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C2733"/>
                </a:solidFill>
              </a:rPr>
              <a:t>They solve different problems: stability vs overfitting.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4191000"/>
            <a:ext cx="3840480" cy="7391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AE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C2733"/>
                </a:solidFill>
              </a:rPr>
              <a:t>“Training accuracy proves success”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480560" y="4191000"/>
            <a:ext cx="7040880" cy="7391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AE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C2733"/>
                </a:solidFill>
              </a:rPr>
              <a:t>Generalization requires validation/test performance.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4930140"/>
            <a:ext cx="3840480" cy="739140"/>
          </a:xfrm>
          <a:prstGeom prst="rect">
            <a:avLst/>
          </a:prstGeom>
          <a:solidFill>
            <a:srgbClr val="F7FAFC"/>
          </a:solidFill>
          <a:ln w="6350">
            <a:solidFill>
              <a:srgbClr val="D0DAE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C2733"/>
                </a:solidFill>
              </a:rPr>
              <a:t>“Vanishing gradients are solved forever”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480560" y="4930140"/>
            <a:ext cx="7040880" cy="739140"/>
          </a:xfrm>
          <a:prstGeom prst="rect">
            <a:avLst/>
          </a:prstGeom>
          <a:solidFill>
            <a:srgbClr val="F7FAFC"/>
          </a:solidFill>
          <a:ln w="6350">
            <a:solidFill>
              <a:srgbClr val="D0DAE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C2733"/>
                </a:solidFill>
              </a:rPr>
              <a:t>ReLU and BatchNorm help, but very deep networks still need special architectures.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73B5C"/>
          </a:solidFill>
          <a:ln w="12700">
            <a:solidFill>
              <a:srgbClr val="173B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18872"/>
            <a:ext cx="12191695" cy="36576"/>
          </a:xfrm>
          <a:prstGeom prst="rect">
            <a:avLst/>
          </a:prstGeom>
          <a:solidFill>
            <a:srgbClr val="18A999"/>
          </a:solidFill>
          <a:ln w="12700">
            <a:solidFill>
              <a:srgbClr val="18A99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65196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7 • Lesson 1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9784080" y="651967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Deep Learning Course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02920" y="384048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73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Classroom Discussion Questions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530352" y="1170432"/>
            <a:ext cx="2011680" cy="0"/>
          </a:xfrm>
          <a:prstGeom prst="line">
            <a:avLst/>
          </a:prstGeom>
          <a:noFill/>
          <a:ln w="27940">
            <a:solidFill>
              <a:srgbClr val="18A9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2960" y="1325880"/>
            <a:ext cx="411480" cy="411480"/>
          </a:xfrm>
          <a:prstGeom prst="rect">
            <a:avLst/>
          </a:prstGeom>
          <a:solidFill>
            <a:srgbClr val="18A999"/>
          </a:solidFill>
          <a:ln w="15240">
            <a:solidFill>
              <a:srgbClr val="18A99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417320" y="1307592"/>
            <a:ext cx="9784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C2733"/>
                </a:solidFill>
              </a:rPr>
              <a:t>Why do deeper networks usually need more data?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960" y="2167128"/>
            <a:ext cx="411480" cy="411480"/>
          </a:xfrm>
          <a:prstGeom prst="rect">
            <a:avLst/>
          </a:prstGeom>
          <a:solidFill>
            <a:srgbClr val="18A999"/>
          </a:solidFill>
          <a:ln w="15240">
            <a:solidFill>
              <a:srgbClr val="18A99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17320" y="2148840"/>
            <a:ext cx="9784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C2733"/>
                </a:solidFill>
              </a:rPr>
              <a:t>If Dropout disables neurons randomly, why can the model still predict accurately at test time?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2960" y="3008376"/>
            <a:ext cx="411480" cy="411480"/>
          </a:xfrm>
          <a:prstGeom prst="rect">
            <a:avLst/>
          </a:prstGeom>
          <a:solidFill>
            <a:srgbClr val="18A999"/>
          </a:solidFill>
          <a:ln w="15240">
            <a:solidFill>
              <a:srgbClr val="18A99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417320" y="2990088"/>
            <a:ext cx="9784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C2733"/>
                </a:solidFill>
              </a:rPr>
              <a:t>A model has 99% training accuracy and 72% test accuracy. What would you try first?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2960" y="3849624"/>
            <a:ext cx="411480" cy="411480"/>
          </a:xfrm>
          <a:prstGeom prst="rect">
            <a:avLst/>
          </a:prstGeom>
          <a:solidFill>
            <a:srgbClr val="18A999"/>
          </a:solidFill>
          <a:ln w="15240">
            <a:solidFill>
              <a:srgbClr val="18A99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17320" y="3831336"/>
            <a:ext cx="9784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C2733"/>
                </a:solidFill>
              </a:rPr>
              <a:t>Why does ReLU help vanishing gradients more than sigmoid?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22960" y="4690872"/>
            <a:ext cx="411480" cy="411480"/>
          </a:xfrm>
          <a:prstGeom prst="rect">
            <a:avLst/>
          </a:prstGeom>
          <a:solidFill>
            <a:srgbClr val="18A999"/>
          </a:solidFill>
          <a:ln w="15240">
            <a:solidFill>
              <a:srgbClr val="18A99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17320" y="4672584"/>
            <a:ext cx="9784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C2733"/>
                </a:solidFill>
              </a:rPr>
              <a:t>How do learning curves guide architecture decisions?</a:t>
            </a:r>
            <a:endParaRPr lang="en-US" sz="16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73B5C"/>
          </a:solidFill>
          <a:ln w="12700">
            <a:solidFill>
              <a:srgbClr val="173B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18872"/>
            <a:ext cx="12191695" cy="36576"/>
          </a:xfrm>
          <a:prstGeom prst="rect">
            <a:avLst/>
          </a:prstGeom>
          <a:solidFill>
            <a:srgbClr val="18A999"/>
          </a:solidFill>
          <a:ln w="12700">
            <a:solidFill>
              <a:srgbClr val="18A99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65196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Practical Assignment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9784080" y="651967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Deep Learning Course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02920" y="384048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73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Student Lab Task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30352" y="868680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26171"/>
                </a:solidFill>
              </a:rPr>
              <a:t>Build, train, compare, and explain three Keras models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30352" y="1170432"/>
            <a:ext cx="2011680" cy="0"/>
          </a:xfrm>
          <a:prstGeom prst="line">
            <a:avLst/>
          </a:prstGeom>
          <a:noFill/>
          <a:ln w="27940">
            <a:solidFill>
              <a:srgbClr val="18A9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77240" y="1234440"/>
            <a:ext cx="5486400" cy="4297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C2733"/>
                </a:solidFill>
              </a:rPr>
              <a:t>✓ Implement the shallow, deep, and regularized models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C2733"/>
                </a:solidFill>
              </a:rPr>
              <a:t>✓ Use the same train/test split for all models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C2733"/>
                </a:solidFill>
              </a:rPr>
              <a:t>✓ Compile all models using Adam and suitable multiclass loss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C2733"/>
                </a:solidFill>
              </a:rPr>
              <a:t>✓ Use EarlyStopping for at least the regularized model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C2733"/>
                </a:solidFill>
              </a:rPr>
              <a:t>✓ Plot training and validation loss for each model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C2733"/>
                </a:solidFill>
              </a:rPr>
              <a:t>✓ Report test accuracy and explain the learning curve pattern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C2733"/>
                </a:solidFill>
              </a:rPr>
              <a:t>✓ Write a short conclusion: which model generalizes best and why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537960" y="1325880"/>
            <a:ext cx="452628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8A999"/>
                </a:solidFill>
              </a:rPr>
              <a:t>Expected deliverables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537960" y="1655064"/>
            <a:ext cx="4526280" cy="1133856"/>
          </a:xfrm>
          <a:prstGeom prst="rect">
            <a:avLst/>
          </a:prstGeom>
          <a:solidFill>
            <a:srgbClr val="F2FBFA"/>
          </a:solidFill>
          <a:ln>
            <a:solidFill>
              <a:srgbClr val="CDEDEA">
                <a:alpha val="95000"/>
              </a:srgbClr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C2733"/>
                </a:solidFill>
              </a:rPr>
              <a:t>1 Jupyter notebook + 1 short report slide. The report must include architecture table, learning curves, final test accuracy, and evidence-based interpretation.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537960" y="3337560"/>
            <a:ext cx="452628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5A623"/>
                </a:solidFill>
              </a:rPr>
              <a:t>Optional extension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537960" y="3666744"/>
            <a:ext cx="4526280" cy="813816"/>
          </a:xfrm>
          <a:prstGeom prst="rect">
            <a:avLst/>
          </a:prstGeom>
          <a:solidFill>
            <a:srgbClr val="FFF8E6"/>
          </a:solidFill>
          <a:ln>
            <a:solidFill>
              <a:srgbClr val="F3D999">
                <a:alpha val="95000"/>
              </a:srgbClr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C2733"/>
                </a:solidFill>
              </a:rPr>
              <a:t>Try changing Dropout rate from 0.2 to 0.5. What happens to training speed, validation curve, and test accuracy?</a:t>
            </a:r>
            <a:endParaRPr lang="en-US" sz="13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73B5C"/>
          </a:solidFill>
          <a:ln w="12700">
            <a:solidFill>
              <a:srgbClr val="173B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18872"/>
            <a:ext cx="12191695" cy="36576"/>
          </a:xfrm>
          <a:prstGeom prst="rect">
            <a:avLst/>
          </a:prstGeom>
          <a:solidFill>
            <a:srgbClr val="18A999"/>
          </a:solidFill>
          <a:ln w="12700">
            <a:solidFill>
              <a:srgbClr val="18A99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65196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Summary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9784080" y="651967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Deep Learning Course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02920" y="384048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73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Takeaways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30352" y="868680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26171"/>
                </a:solidFill>
              </a:rPr>
              <a:t>What students should remember after this lecture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30352" y="1170432"/>
            <a:ext cx="2011680" cy="0"/>
          </a:xfrm>
          <a:prstGeom prst="line">
            <a:avLst/>
          </a:prstGeom>
          <a:noFill/>
          <a:ln w="27940">
            <a:solidFill>
              <a:srgbClr val="18A9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2960" y="1417320"/>
            <a:ext cx="2194560" cy="502920"/>
          </a:xfrm>
          <a:prstGeom prst="rect">
            <a:avLst/>
          </a:prstGeom>
          <a:solidFill>
            <a:srgbClr val="CFF4EE"/>
          </a:solidFill>
          <a:ln w="15240">
            <a:solidFill>
              <a:srgbClr val="CFF4EE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B5C"/>
                </a:solidFill>
              </a:rPr>
              <a:t>Keras workflow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246120" y="150876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C2733"/>
                </a:solidFill>
              </a:rPr>
              <a:t>Define → Compile → Fit → Evaluate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2240280"/>
            <a:ext cx="2194560" cy="502920"/>
          </a:xfrm>
          <a:prstGeom prst="rect">
            <a:avLst/>
          </a:prstGeom>
          <a:solidFill>
            <a:srgbClr val="DCEBFF"/>
          </a:solidFill>
          <a:ln w="15240">
            <a:solidFill>
              <a:srgbClr val="DCEBF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B5C"/>
                </a:solidFill>
              </a:rPr>
              <a:t>Learning curves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246120" y="233172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C2733"/>
                </a:solidFill>
              </a:rPr>
              <a:t>Diagnose good fit, overfitting, and underfitting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2960" y="3063240"/>
            <a:ext cx="2194560" cy="502920"/>
          </a:xfrm>
          <a:prstGeom prst="rect">
            <a:avLst/>
          </a:prstGeom>
          <a:solidFill>
            <a:srgbClr val="EEE6FF"/>
          </a:solidFill>
          <a:ln w="15240">
            <a:solidFill>
              <a:srgbClr val="EEE6F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B5C"/>
                </a:solidFill>
              </a:rPr>
              <a:t>Depth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246120" y="315468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C2733"/>
                </a:solidFill>
              </a:rPr>
              <a:t>Deep networks learn hierarchical features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2960" y="3886200"/>
            <a:ext cx="2194560" cy="502920"/>
          </a:xfrm>
          <a:prstGeom prst="rect">
            <a:avLst/>
          </a:prstGeom>
          <a:solidFill>
            <a:srgbClr val="FFE6E6"/>
          </a:solidFill>
          <a:ln w="15240">
            <a:solidFill>
              <a:srgbClr val="FFE6E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B5C"/>
                </a:solidFill>
              </a:rPr>
              <a:t>Gradient issues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246120" y="397764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C2733"/>
                </a:solidFill>
              </a:rPr>
              <a:t>Vanishing/exploding gradients make training difficult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2960" y="4709160"/>
            <a:ext cx="2194560" cy="502920"/>
          </a:xfrm>
          <a:prstGeom prst="rect">
            <a:avLst/>
          </a:prstGeom>
          <a:solidFill>
            <a:srgbClr val="FFF2CC"/>
          </a:solidFill>
          <a:ln w="15240">
            <a:solidFill>
              <a:srgbClr val="FFF2CC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B5C"/>
                </a:solidFill>
              </a:rPr>
              <a:t>Regularization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246120" y="480060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C2733"/>
                </a:solidFill>
              </a:rPr>
              <a:t>Dropout, BatchNorm, Early Stopping improve generalization</a:t>
            </a:r>
            <a:endParaRPr lang="en-US" sz="15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73B5C"/>
          </a:solidFill>
          <a:ln w="12700">
            <a:solidFill>
              <a:srgbClr val="173B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18872"/>
            <a:ext cx="12191695" cy="36576"/>
          </a:xfrm>
          <a:prstGeom prst="rect">
            <a:avLst/>
          </a:prstGeom>
          <a:solidFill>
            <a:srgbClr val="18A999"/>
          </a:solidFill>
          <a:ln w="12700">
            <a:solidFill>
              <a:srgbClr val="18A99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65196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Self-Check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9784080" y="651967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Deep Learning Course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02920" y="384048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73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Self-Check Before Moving to CNNs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530352" y="1170432"/>
            <a:ext cx="2011680" cy="0"/>
          </a:xfrm>
          <a:prstGeom prst="line">
            <a:avLst/>
          </a:prstGeom>
          <a:noFill/>
          <a:ln w="27940">
            <a:solidFill>
              <a:srgbClr val="18A9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14400" y="1417320"/>
            <a:ext cx="9875520" cy="3017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C2733"/>
                </a:solidFill>
              </a:rPr>
              <a:t>✓ Build a Keras Sequential model from memory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C2733"/>
                </a:solidFill>
              </a:rPr>
              <a:t>✓ Explain compile: loss, optimizer, and metrics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C2733"/>
                </a:solidFill>
              </a:rPr>
              <a:t>✓ Plot and interpret learning curves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C2733"/>
                </a:solidFill>
              </a:rPr>
              <a:t>✓ Explain vanishing gradients with a numerical example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C2733"/>
                </a:solidFill>
              </a:rPr>
              <a:t>✓ Apply Dropout, BatchNorm, and EarlyStopping in Keras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C2733"/>
                </a:solidFill>
              </a:rPr>
              <a:t>✓ Design a fair comparison between shallow, deep, and regularized networks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914400" y="5166360"/>
            <a:ext cx="987552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E74D4"/>
                </a:solidFill>
              </a:rPr>
              <a:t>Next lesson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914400" y="5495544"/>
            <a:ext cx="9875520" cy="402336"/>
          </a:xfrm>
          <a:prstGeom prst="rect">
            <a:avLst/>
          </a:prstGeom>
          <a:solidFill>
            <a:srgbClr val="EAF4FA"/>
          </a:solidFill>
          <a:ln>
            <a:solidFill>
              <a:srgbClr val="BBD1F0">
                <a:alpha val="95000"/>
              </a:srgbClr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C2733"/>
                </a:solidFill>
              </a:rPr>
              <a:t>Convolutional Neural Networks (CNNs): convolution, filters, pooling, and why CNNs are powerful for image data.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3773</TotalTime>
  <Words>3563</Words>
  <Application>Microsoft Office PowerPoint</Application>
  <PresentationFormat>Widescreen</PresentationFormat>
  <Paragraphs>605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2" baseType="lpstr">
      <vt:lpstr>Aptos</vt:lpstr>
      <vt:lpstr>Aptos Display</vt:lpstr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TensorFlow/Keras &amp; Deep Neural Networks</dc:title>
  <dc:subject>TensorFlow/Keras, Learning Curves, Deep Neural Networks and Challenges</dc:subject>
  <dc:creator>OpenAI</dc:creator>
  <cp:lastModifiedBy>Eng.Maha Altalk</cp:lastModifiedBy>
  <cp:revision>5</cp:revision>
  <dcterms:created xsi:type="dcterms:W3CDTF">2026-06-07T23:20:41Z</dcterms:created>
  <dcterms:modified xsi:type="dcterms:W3CDTF">2026-08-18T17:22:27Z</dcterms:modified>
</cp:coreProperties>
</file>