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2000"/>
  <p:notesSz cx="6858000" cy="12192000"/>
  <p:embeddedFontLst>
    <p:embeddedFont>
      <p:font typeface="Play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jMm2E+xUUB6klEuTsyB5rVv/24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Play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font" Target="fonts/Play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flat">
              <a:solidFill>
                <a:srgbClr val="2E74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4D4"/>
              </a:solidFill>
              <a:ln w="9525" cap="flat">
                <a:solidFill>
                  <a:srgbClr val="2E74D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</c:v>
                </c:pt>
                <c:pt idx="1">
                  <c:v>0.65</c:v>
                </c:pt>
                <c:pt idx="2">
                  <c:v>0.48</c:v>
                </c:pt>
                <c:pt idx="3">
                  <c:v>0.34</c:v>
                </c:pt>
                <c:pt idx="4">
                  <c:v>0.25</c:v>
                </c:pt>
                <c:pt idx="5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BE-454C-9B39-E47CADB49E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ln w="25400" cap="flat">
              <a:solidFill>
                <a:srgbClr val="D953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</c:v>
                </c:pt>
                <c:pt idx="1">
                  <c:v>0.68</c:v>
                </c:pt>
                <c:pt idx="2">
                  <c:v>0.52</c:v>
                </c:pt>
                <c:pt idx="3">
                  <c:v>0.38</c:v>
                </c:pt>
                <c:pt idx="4">
                  <c:v>0.31</c:v>
                </c:pt>
                <c:pt idx="5">
                  <c:v>0.28000000000000003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BE-454C-9B39-E47CADB49E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flat">
              <a:solidFill>
                <a:srgbClr val="2E74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4D4"/>
              </a:solidFill>
              <a:ln w="9525" cap="flat">
                <a:solidFill>
                  <a:srgbClr val="2E74D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</c:v>
                </c:pt>
                <c:pt idx="1">
                  <c:v>0.65</c:v>
                </c:pt>
                <c:pt idx="2">
                  <c:v>0.48</c:v>
                </c:pt>
                <c:pt idx="3">
                  <c:v>0.34</c:v>
                </c:pt>
                <c:pt idx="4">
                  <c:v>0.25</c:v>
                </c:pt>
                <c:pt idx="5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C3-49A9-8A40-3D9FFB9F98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ln w="25400" cap="flat">
              <a:solidFill>
                <a:srgbClr val="D953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</c:v>
                </c:pt>
                <c:pt idx="1">
                  <c:v>0.66</c:v>
                </c:pt>
                <c:pt idx="2">
                  <c:v>0.51</c:v>
                </c:pt>
                <c:pt idx="3">
                  <c:v>0.55000000000000004</c:v>
                </c:pt>
                <c:pt idx="4">
                  <c:v>0.67</c:v>
                </c:pt>
                <c:pt idx="5">
                  <c:v>0.82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C3-49A9-8A40-3D9FFB9F98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flat">
              <a:solidFill>
                <a:srgbClr val="2E74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4D4"/>
              </a:solidFill>
              <a:ln w="9525" cap="flat">
                <a:solidFill>
                  <a:srgbClr val="2E74D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0.86</c:v>
                </c:pt>
                <c:pt idx="1">
                  <c:v>0.83</c:v>
                </c:pt>
                <c:pt idx="2">
                  <c:v>0.81</c:v>
                </c:pt>
                <c:pt idx="3">
                  <c:v>0.78</c:v>
                </c:pt>
                <c:pt idx="4">
                  <c:v>0.77</c:v>
                </c:pt>
                <c:pt idx="5">
                  <c:v>0.76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24-45EC-A8B0-E2A799527D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ln w="25400" cap="flat">
              <a:solidFill>
                <a:srgbClr val="D953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0.88</c:v>
                </c:pt>
                <c:pt idx="1">
                  <c:v>0.85</c:v>
                </c:pt>
                <c:pt idx="2">
                  <c:v>0.83</c:v>
                </c:pt>
                <c:pt idx="3">
                  <c:v>0.81</c:v>
                </c:pt>
                <c:pt idx="4">
                  <c:v>0.79</c:v>
                </c:pt>
                <c:pt idx="5">
                  <c:v>0.78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24-45EC-A8B0-E2A799527D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4" name="Google Shape;434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0" name="Google Shape;520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7" name="Google Shape;53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8" name="Google Shape;558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8" name="Google Shape;588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7" name="Google Shape;637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1"/>
          <p:cNvCxnSpPr/>
          <p:nvPr/>
        </p:nvCxnSpPr>
        <p:spPr>
          <a:xfrm>
            <a:off x="502920" y="635508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5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" name="Google Shape;10;p31"/>
          <p:cNvSpPr/>
          <p:nvPr/>
        </p:nvSpPr>
        <p:spPr>
          <a:xfrm>
            <a:off x="566928" y="6446520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Deep Learning • Hyperparameter Tuning &amp; Model Analysis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1"/>
          <p:cNvSpPr txBox="1"/>
          <p:nvPr>
            <p:ph idx="12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idx="12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B33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9326880" y="411480"/>
            <a:ext cx="2194560" cy="2194560"/>
          </a:xfrm>
          <a:prstGeom prst="ellipse">
            <a:avLst/>
          </a:prstGeom>
          <a:solidFill>
            <a:srgbClr val="1D4ED8">
              <a:alpha val="45098"/>
            </a:srgbClr>
          </a:solidFill>
          <a:ln cap="flat" cmpd="sng" w="12700">
            <a:solidFill>
              <a:srgbClr val="1D4E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37160" y="4709160"/>
            <a:ext cx="685800" cy="685800"/>
          </a:xfrm>
          <a:prstGeom prst="ellipse">
            <a:avLst/>
          </a:prstGeom>
          <a:solidFill>
            <a:srgbClr val="60A5FA">
              <a:alpha val="18039"/>
            </a:srgbClr>
          </a:solidFill>
          <a:ln cap="flat" cmpd="sng" w="12700">
            <a:solidFill>
              <a:srgbClr val="60A5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13232" y="12344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Deep Learning II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85800" y="1691640"/>
            <a:ext cx="77724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Play"/>
              <a:buNone/>
            </a:pPr>
            <a:r>
              <a:rPr b="1" lang="en-US" sz="3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Hyperparameter Tuning</a:t>
            </a: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Play"/>
              <a:buNone/>
            </a:pPr>
            <a:r>
              <a:rPr b="1" lang="en-US" sz="3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&amp; Model Analysis</a:t>
            </a: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13232" y="3822192"/>
            <a:ext cx="1143000" cy="347472"/>
          </a:xfrm>
          <a:prstGeom prst="roundRect">
            <a:avLst>
              <a:gd fmla="val 21053" name="adj"/>
            </a:avLst>
          </a:prstGeom>
          <a:solidFill>
            <a:srgbClr val="0F2D52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77240" y="3922776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BFDBFE"/>
                </a:solidFill>
                <a:latin typeface="Arial"/>
                <a:ea typeface="Arial"/>
                <a:cs typeface="Arial"/>
                <a:sym typeface="Arial"/>
              </a:rPr>
              <a:t>diagnose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130552" y="3822192"/>
            <a:ext cx="1143000" cy="347472"/>
          </a:xfrm>
          <a:prstGeom prst="roundRect">
            <a:avLst>
              <a:gd fmla="val 21053" name="adj"/>
            </a:avLst>
          </a:prstGeom>
          <a:solidFill>
            <a:srgbClr val="0F2D52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194560" y="3922776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BFDBFE"/>
                </a:solidFill>
                <a:latin typeface="Arial"/>
                <a:ea typeface="Arial"/>
                <a:cs typeface="Arial"/>
                <a:sym typeface="Arial"/>
              </a:rPr>
              <a:t>tune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547872" y="3822192"/>
            <a:ext cx="1143000" cy="347472"/>
          </a:xfrm>
          <a:prstGeom prst="roundRect">
            <a:avLst>
              <a:gd fmla="val 21053" name="adj"/>
            </a:avLst>
          </a:prstGeom>
          <a:solidFill>
            <a:srgbClr val="0F2D52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611880" y="3922776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BFDBFE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965192" y="3822192"/>
            <a:ext cx="1143000" cy="347472"/>
          </a:xfrm>
          <a:prstGeom prst="roundRect">
            <a:avLst>
              <a:gd fmla="val 21053" name="adj"/>
            </a:avLst>
          </a:prstGeom>
          <a:solidFill>
            <a:srgbClr val="0F2D52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029200" y="3922776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BFDBFE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31520" y="599846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Learning goal: move from “trying settings” to evidence-based model improvement.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Learning Outcomes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By the end, students should reason about experiments—not just run model.fit().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68680" y="1280160"/>
            <a:ext cx="402336" cy="40233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78408" y="1389888"/>
            <a:ext cx="182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481328" y="126187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Diagnose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971800" y="1261872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Read train/dev curves and identify underfitting, overfitting, or optimization problems.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68680" y="2130552"/>
            <a:ext cx="402336" cy="402336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78408" y="2240280"/>
            <a:ext cx="182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481328" y="2112264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Tune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971800" y="2112264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Choose meaningful hyperparameters and search spaces instead of blindly trying values.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68680" y="2980944"/>
            <a:ext cx="402336" cy="402336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78408" y="3090672"/>
            <a:ext cx="182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481328" y="296265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971800" y="2962656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Use dev/test splits correctly and avoid leakage during tuning.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68680" y="3831336"/>
            <a:ext cx="402336" cy="402336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78408" y="3941064"/>
            <a:ext cx="182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481328" y="381304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971800" y="381304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Use error analysis, ablations, and sensitivity checks to justify decisions.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68680" y="4681728"/>
            <a:ext cx="402336" cy="402336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78408" y="4791456"/>
            <a:ext cx="182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481328" y="466344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971800" y="466344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Track experiments and communicate what changed, why, and what improved.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028432" y="5349240"/>
            <a:ext cx="3383280" cy="685800"/>
          </a:xfrm>
          <a:prstGeom prst="roundRect">
            <a:avLst>
              <a:gd fmla="val 10667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193024" y="5477256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Key principle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193024" y="5824728"/>
            <a:ext cx="3054096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718"/>
              <a:buFont typeface="Arial"/>
              <a:buNone/>
            </a:pPr>
            <a:r>
              <a:rPr lang="en-US" sz="719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Tuning is guided diagnosis, not trial-and-error.</a:t>
            </a:r>
            <a:endParaRPr sz="71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Lecture Roadmap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A model-improvement cycle inspired by Stanford CS230 project practice.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31520" y="2103120"/>
            <a:ext cx="141732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96112" y="226771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234440" y="2267712"/>
            <a:ext cx="7498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20"/>
              <a:buFont typeface="Arial"/>
              <a:buNone/>
            </a:pPr>
            <a:r>
              <a:rPr b="1" lang="en-US" sz="112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Set up protocol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2221992" y="2551176"/>
            <a:ext cx="475488" cy="0"/>
          </a:xfrm>
          <a:prstGeom prst="straightConnector1">
            <a:avLst/>
          </a:prstGeom>
          <a:noFill/>
          <a:ln cap="flat" cmpd="sng" w="1777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" name="Google Shape;72;p3"/>
          <p:cNvSpPr/>
          <p:nvPr/>
        </p:nvSpPr>
        <p:spPr>
          <a:xfrm>
            <a:off x="2788920" y="2103120"/>
            <a:ext cx="141732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953512" y="226771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291840" y="2267712"/>
            <a:ext cx="7498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20"/>
              <a:buFont typeface="Arial"/>
              <a:buNone/>
            </a:pPr>
            <a:r>
              <a:rPr b="1" lang="en-US" sz="112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Analyze curves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4279392" y="2551176"/>
            <a:ext cx="475488" cy="0"/>
          </a:xfrm>
          <a:prstGeom prst="straightConnector1">
            <a:avLst/>
          </a:prstGeom>
          <a:noFill/>
          <a:ln cap="flat" cmpd="sng" w="1777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p3"/>
          <p:cNvSpPr/>
          <p:nvPr/>
        </p:nvSpPr>
        <p:spPr>
          <a:xfrm>
            <a:off x="4846320" y="2103120"/>
            <a:ext cx="141732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010912" y="226771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349240" y="2267712"/>
            <a:ext cx="7498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784"/>
              <a:buFont typeface="Arial"/>
              <a:buNone/>
            </a:pPr>
            <a:r>
              <a:rPr b="1" lang="en-US" sz="784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Tune systematically</a:t>
            </a:r>
            <a:endParaRPr sz="78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3"/>
          <p:cNvCxnSpPr/>
          <p:nvPr/>
        </p:nvCxnSpPr>
        <p:spPr>
          <a:xfrm>
            <a:off x="6336792" y="2551176"/>
            <a:ext cx="475488" cy="0"/>
          </a:xfrm>
          <a:prstGeom prst="straightConnector1">
            <a:avLst/>
          </a:prstGeom>
          <a:noFill/>
          <a:ln cap="flat" cmpd="sng" w="1777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" name="Google Shape;80;p3"/>
          <p:cNvSpPr/>
          <p:nvPr/>
        </p:nvSpPr>
        <p:spPr>
          <a:xfrm>
            <a:off x="6903720" y="2103120"/>
            <a:ext cx="141732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068312" y="226771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406640" y="2267712"/>
            <a:ext cx="7498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20"/>
              <a:buFont typeface="Arial"/>
              <a:buNone/>
            </a:pPr>
            <a:r>
              <a:rPr b="1" lang="en-US" sz="112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Inspect errors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8394192" y="2551176"/>
            <a:ext cx="475488" cy="0"/>
          </a:xfrm>
          <a:prstGeom prst="straightConnector1">
            <a:avLst/>
          </a:prstGeom>
          <a:noFill/>
          <a:ln cap="flat" cmpd="sng" w="1777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" name="Google Shape;84;p3"/>
          <p:cNvSpPr/>
          <p:nvPr/>
        </p:nvSpPr>
        <p:spPr>
          <a:xfrm>
            <a:off x="8961120" y="2103120"/>
            <a:ext cx="141732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9125712" y="226771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464040" y="2267712"/>
            <a:ext cx="7498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20"/>
              <a:buFont typeface="Arial"/>
              <a:buNone/>
            </a:pPr>
            <a:r>
              <a:rPr b="1" lang="en-US" sz="112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Report decisions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097280" y="4023360"/>
            <a:ext cx="9966960" cy="777240"/>
          </a:xfrm>
          <a:prstGeom prst="roundRect">
            <a:avLst>
              <a:gd fmla="val 941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261872" y="4178808"/>
            <a:ext cx="9637776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Build baseline → train → inspect train/dev behavior → change one decision → re-train → compare → document.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Parameters vs. Hyperparameters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What the model learns vs. what we choose before training.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22960" y="1417320"/>
            <a:ext cx="4800600" cy="347472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987552" y="1545336"/>
            <a:ext cx="44714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987552" y="1892808"/>
            <a:ext cx="4471416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Learned during training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Weights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Biases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BatchNorm moving statistics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They change because the optimizer updates them to reduce loss.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537960" y="1417320"/>
            <a:ext cx="4800600" cy="347472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702552" y="1545336"/>
            <a:ext cx="44714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Hyperparameters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702552" y="1892808"/>
            <a:ext cx="4471416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Chosen before or around training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Learning rate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Batch size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Number of layers / neurons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Dropout, weight decay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Optimizer, epochs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They control how the model learns.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4"/>
          <p:cNvCxnSpPr/>
          <p:nvPr/>
        </p:nvCxnSpPr>
        <p:spPr>
          <a:xfrm>
            <a:off x="5806440" y="3154680"/>
            <a:ext cx="548640" cy="0"/>
          </a:xfrm>
          <a:prstGeom prst="straightConnector1">
            <a:avLst/>
          </a:prstGeom>
          <a:noFill/>
          <a:ln cap="flat" cmpd="sng" w="1777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" name="Google Shape;104;p4"/>
          <p:cNvSpPr/>
          <p:nvPr/>
        </p:nvSpPr>
        <p:spPr>
          <a:xfrm>
            <a:off x="4297680" y="533095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Training data + optimizer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Why Hyperparameter Tuning Matters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same architecture can behave very differently under different choices.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31520" y="1234440"/>
            <a:ext cx="3291840" cy="4023360"/>
          </a:xfrm>
          <a:prstGeom prst="roundRect">
            <a:avLst>
              <a:gd fmla="val 2222" name="adj"/>
            </a:avLst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96112" y="1362456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Too simple / weak training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896112" y="1709928"/>
            <a:ext cx="296265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Loss remains high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Both train and validation scores poor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Model cannot capture signal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434840" y="1234440"/>
            <a:ext cx="3291840" cy="4023360"/>
          </a:xfrm>
          <a:prstGeom prst="roundRect">
            <a:avLst>
              <a:gd fmla="val 2222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99432" y="1362456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Balanced configuration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599432" y="1709928"/>
            <a:ext cx="296265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Train loss decreases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Validation improves too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Generalization gap is acceptable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8138160" y="1234440"/>
            <a:ext cx="3291840" cy="4023360"/>
          </a:xfrm>
          <a:prstGeom prst="roundRect">
            <a:avLst>
              <a:gd fmla="val 2222" name="adj"/>
            </a:avLst>
          </a:prstGeom>
          <a:solidFill>
            <a:srgbClr val="FEF3C7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8302752" y="1362456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Too complex / unstable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302752" y="1709928"/>
            <a:ext cx="296265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Training may memorize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Validation may degrade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Training may oscillate or diverge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097280" y="57150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Tuning changes model capacity, optimization behavior, and regularization pressure.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Model Analysis Before Tuning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Do not tune blindly—first identify the failure mode.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77240" y="1325880"/>
            <a:ext cx="2743200" cy="32004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41832" y="1453896"/>
            <a:ext cx="2414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Observe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941832" y="1801368"/>
            <a:ext cx="2414016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Training loss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Validation loss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Metrics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709160" y="1325880"/>
            <a:ext cx="2743200" cy="32004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873752" y="1453896"/>
            <a:ext cx="2414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Diagnose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873752" y="1801368"/>
            <a:ext cx="2414016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Underfitting?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Overfitting?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Optimization unstable?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Metric mismatch?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641080" y="1325880"/>
            <a:ext cx="2743200" cy="32004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805672" y="1453896"/>
            <a:ext cx="2414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Intervene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8805672" y="1801368"/>
            <a:ext cx="2414016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Change capacity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Change LR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Add regularization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Clean data / metric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3611880" y="2880360"/>
            <a:ext cx="978408" cy="0"/>
          </a:xfrm>
          <a:prstGeom prst="straightConnector1">
            <a:avLst/>
          </a:prstGeom>
          <a:noFill/>
          <a:ln cap="flat" cmpd="sng" w="1777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1" name="Google Shape;141;p6"/>
          <p:cNvCxnSpPr/>
          <p:nvPr/>
        </p:nvCxnSpPr>
        <p:spPr>
          <a:xfrm>
            <a:off x="7543800" y="2880360"/>
            <a:ext cx="978408" cy="0"/>
          </a:xfrm>
          <a:prstGeom prst="straightConnector1">
            <a:avLst/>
          </a:prstGeom>
          <a:noFill/>
          <a:ln cap="flat" cmpd="sng" w="1777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p6"/>
          <p:cNvSpPr/>
          <p:nvPr/>
        </p:nvSpPr>
        <p:spPr>
          <a:xfrm>
            <a:off x="2331720" y="5120640"/>
            <a:ext cx="7452360" cy="594360"/>
          </a:xfrm>
          <a:prstGeom prst="roundRect">
            <a:avLst>
              <a:gd fmla="val 12308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496312" y="5276088"/>
            <a:ext cx="7123176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Rule: every tuning experiment should answer a diagnostic question.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Evaluation Protocol: Train / Dev / Test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A clean protocol prevents misleading tuning results.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914400" y="1920240"/>
            <a:ext cx="2880360" cy="1371600"/>
          </a:xfrm>
          <a:prstGeom prst="roundRect">
            <a:avLst>
              <a:gd fmla="val 5333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078992" y="2048256"/>
            <a:ext cx="25511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078992" y="2395728"/>
            <a:ext cx="25511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Fit weights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Fit preprocessors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663440" y="1920240"/>
            <a:ext cx="2880360" cy="1371600"/>
          </a:xfrm>
          <a:prstGeom prst="roundRect">
            <a:avLst>
              <a:gd fmla="val 5333" name="adj"/>
            </a:avLst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828032" y="2048256"/>
            <a:ext cx="25511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Dev / Validation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828032" y="2395728"/>
            <a:ext cx="25511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Choose settings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Compare models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412480" y="1920240"/>
            <a:ext cx="2880360" cy="1371600"/>
          </a:xfrm>
          <a:prstGeom prst="roundRect">
            <a:avLst>
              <a:gd fmla="val 5333" name="adj"/>
            </a:avLst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577072" y="2048256"/>
            <a:ext cx="25511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577072" y="2395728"/>
            <a:ext cx="25511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Choose settings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Compare models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8641080" y="2596896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Final unbiased estimate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after decisions are frozen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7"/>
          <p:cNvCxnSpPr/>
          <p:nvPr/>
        </p:nvCxnSpPr>
        <p:spPr>
          <a:xfrm>
            <a:off x="3886200" y="2606040"/>
            <a:ext cx="594360" cy="0"/>
          </a:xfrm>
          <a:prstGeom prst="straightConnector1">
            <a:avLst/>
          </a:prstGeom>
          <a:noFill/>
          <a:ln cap="flat" cmpd="sng" w="1777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7"/>
          <p:cNvCxnSpPr/>
          <p:nvPr/>
        </p:nvCxnSpPr>
        <p:spPr>
          <a:xfrm>
            <a:off x="7635240" y="2606040"/>
            <a:ext cx="594360" cy="0"/>
          </a:xfrm>
          <a:prstGeom prst="straightConnector1">
            <a:avLst/>
          </a:prstGeom>
          <a:noFill/>
          <a:ln cap="flat" cmpd="sng" w="1777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" name="Google Shape;164;p7"/>
          <p:cNvSpPr/>
          <p:nvPr/>
        </p:nvSpPr>
        <p:spPr>
          <a:xfrm>
            <a:off x="1280160" y="4617720"/>
            <a:ext cx="9692640" cy="822960"/>
          </a:xfrm>
          <a:prstGeom prst="roundRect">
            <a:avLst>
              <a:gd fmla="val 8889" name="adj"/>
            </a:avLst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444752" y="4745736"/>
            <a:ext cx="93634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Avoid data leakage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444752" y="5093208"/>
            <a:ext cx="93634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Do not tune, preprocess, or select features using the test set. Test is used once at the end.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Loss Function vs. Evaluation Metric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Training signal and success measure are related—but not identical.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31520" y="1417320"/>
            <a:ext cx="4892040" cy="342900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896112" y="1545336"/>
            <a:ext cx="45628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Loss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896112" y="1892808"/>
            <a:ext cx="4562856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Used during training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Differentiable when possible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Optimizer minimizes it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Examples: Cross-Entropy, MSE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Question: How wrong is the model mathematically?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537960" y="1417320"/>
            <a:ext cx="4892040" cy="342900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702552" y="1545336"/>
            <a:ext cx="45628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702552" y="1892808"/>
            <a:ext cx="4562856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Used for evaluation and selection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Can be non-differentiable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Must match task cost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Examples: F1, AUC, Recall, MAE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Question: How useful is the model for the problem?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005840" y="5522976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 model can improve loss but not the metric you care about—always monitor both.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5C"/>
          </a:solidFill>
          <a:ln cap="flat" cmpd="sng" w="12700">
            <a:solidFill>
              <a:srgbClr val="173B5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0" y="118872"/>
            <a:ext cx="12191695" cy="36576"/>
          </a:xfrm>
          <a:prstGeom prst="rect">
            <a:avLst/>
          </a:prstGeom>
          <a:solidFill>
            <a:srgbClr val="18A999"/>
          </a:solidFill>
          <a:ln cap="flat" cmpd="sng" w="12700">
            <a:solidFill>
              <a:srgbClr val="18A99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57200" y="651967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Unit 6 • Lesson 5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02920" y="384048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C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73B5C"/>
                </a:solidFill>
                <a:latin typeface="Play"/>
                <a:ea typeface="Play"/>
                <a:cs typeface="Play"/>
                <a:sym typeface="Play"/>
              </a:rPr>
              <a:t>Three Learning Curve Patterns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30352" y="86868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1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26171"/>
                </a:solidFill>
                <a:latin typeface="Arial"/>
                <a:ea typeface="Arial"/>
                <a:cs typeface="Arial"/>
                <a:sym typeface="Arial"/>
              </a:rPr>
              <a:t>Use these patterns to decide what to change next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9"/>
          <p:cNvCxnSpPr/>
          <p:nvPr/>
        </p:nvCxnSpPr>
        <p:spPr>
          <a:xfrm>
            <a:off x="530352" y="1170432"/>
            <a:ext cx="2011680" cy="0"/>
          </a:xfrm>
          <a:prstGeom prst="straightConnector1">
            <a:avLst/>
          </a:prstGeom>
          <a:noFill/>
          <a:ln cap="flat" cmpd="sng" w="27925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94" name="Google Shape;194;p9"/>
          <p:cNvGraphicFramePr/>
          <p:nvPr/>
        </p:nvGraphicFramePr>
        <p:xfrm>
          <a:off x="731520" y="1417320"/>
          <a:ext cx="2926080" cy="17373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95" name="Google Shape;195;p9"/>
          <p:cNvSpPr/>
          <p:nvPr/>
        </p:nvSpPr>
        <p:spPr>
          <a:xfrm>
            <a:off x="1143000" y="329184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D5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EAD5B"/>
                </a:solidFill>
                <a:latin typeface="Arial"/>
                <a:ea typeface="Arial"/>
                <a:cs typeface="Arial"/>
                <a:sym typeface="Arial"/>
              </a:rPr>
              <a:t>Good Fit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22960" y="3621024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1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526171"/>
                </a:solidFill>
                <a:latin typeface="Arial"/>
                <a:ea typeface="Arial"/>
                <a:cs typeface="Arial"/>
                <a:sym typeface="Arial"/>
              </a:rPr>
              <a:t>Train and validation loss decrease together.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7" name="Google Shape;197;p9"/>
          <p:cNvGraphicFramePr/>
          <p:nvPr/>
        </p:nvGraphicFramePr>
        <p:xfrm>
          <a:off x="4617720" y="1417320"/>
          <a:ext cx="2926080" cy="173736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98" name="Google Shape;198;p9"/>
          <p:cNvSpPr/>
          <p:nvPr/>
        </p:nvSpPr>
        <p:spPr>
          <a:xfrm>
            <a:off x="5029200" y="329184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Overfitting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700016" y="3621024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1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526171"/>
                </a:solidFill>
                <a:latin typeface="Arial"/>
                <a:ea typeface="Arial"/>
                <a:cs typeface="Arial"/>
                <a:sym typeface="Arial"/>
              </a:rPr>
              <a:t>Training loss keeps decreasing while validation loss rises.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0" name="Google Shape;200;p9"/>
          <p:cNvGraphicFramePr/>
          <p:nvPr/>
        </p:nvGraphicFramePr>
        <p:xfrm>
          <a:off x="8503920" y="1417320"/>
          <a:ext cx="2926080" cy="173736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201" name="Google Shape;201;p9"/>
          <p:cNvSpPr/>
          <p:nvPr/>
        </p:nvSpPr>
        <p:spPr>
          <a:xfrm>
            <a:off x="8915400" y="329184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Underfitting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577072" y="3621024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1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526171"/>
                </a:solidFill>
                <a:latin typeface="Arial"/>
                <a:ea typeface="Arial"/>
                <a:cs typeface="Arial"/>
                <a:sym typeface="Arial"/>
              </a:rPr>
              <a:t>Both losses stay high; model is too simple or poorly trained.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777240" y="4919472"/>
            <a:ext cx="10561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B5C"/>
              </a:buClr>
              <a:buSzPts val="1480"/>
              <a:buFont typeface="Arial"/>
              <a:buNone/>
            </a:pPr>
            <a:r>
              <a:rPr b="1" lang="en-US" sz="1480">
                <a:solidFill>
                  <a:srgbClr val="173B5C"/>
                </a:solidFill>
                <a:latin typeface="Arial"/>
                <a:ea typeface="Arial"/>
                <a:cs typeface="Arial"/>
                <a:sym typeface="Arial"/>
              </a:rPr>
              <a:t>Decision guide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777240" y="5248656"/>
            <a:ext cx="10561320" cy="402336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D6E0EA">
                <a:alpha val="9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2733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1C2733"/>
                </a:solidFill>
                <a:latin typeface="Arial"/>
                <a:ea typeface="Arial"/>
                <a:cs typeface="Arial"/>
                <a:sym typeface="Arial"/>
              </a:rPr>
              <a:t>Overfitting → add regularization, reduce model size, more data, Early Stopping. Underfitting → train longer, increase capacity, improve features, tune learning rate.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Three Common Failure Modes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Different curves imply different interventions.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777240" y="1325880"/>
            <a:ext cx="3200400" cy="4160520"/>
          </a:xfrm>
          <a:prstGeom prst="roundRect">
            <a:avLst>
              <a:gd fmla="val 2286" name="adj"/>
            </a:avLst>
          </a:prstGeom>
          <a:solidFill>
            <a:srgbClr val="FEE2E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941832" y="1453896"/>
            <a:ext cx="2871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Underfitting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941832" y="1801368"/>
            <a:ext cx="2871216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Signal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 high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Dev high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Possible action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Increase capacity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 longer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Improve features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572000" y="1325880"/>
            <a:ext cx="3200400" cy="4160520"/>
          </a:xfrm>
          <a:prstGeom prst="roundRect">
            <a:avLst>
              <a:gd fmla="val 2286" name="adj"/>
            </a:avLst>
          </a:prstGeom>
          <a:solidFill>
            <a:srgbClr val="FEF3C7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736592" y="1453896"/>
            <a:ext cx="2871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Overfitting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736592" y="1801368"/>
            <a:ext cx="2871216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Signal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 low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Dev high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Possible action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Add data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Regularize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Simplify model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8366760" y="1325880"/>
            <a:ext cx="3200400" cy="4160520"/>
          </a:xfrm>
          <a:prstGeom prst="roundRect">
            <a:avLst>
              <a:gd fmla="val 2286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8531352" y="1453896"/>
            <a:ext cx="2871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Optimization issue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8531352" y="1801368"/>
            <a:ext cx="2871216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Signal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 unstable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Dev unstable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Possible action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Reduce LR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Normalize inputs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Change optimizer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Hyperparameter Map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Group hyperparameters by what they control.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685800" y="1234440"/>
            <a:ext cx="4983480" cy="1417320"/>
          </a:xfrm>
          <a:prstGeom prst="roundRect">
            <a:avLst>
              <a:gd fmla="val 5161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850392" y="1362456"/>
            <a:ext cx="46542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Optimization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850392" y="1709928"/>
            <a:ext cx="46542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learning rate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optimizer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batch size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6400800" y="1234440"/>
            <a:ext cx="4983480" cy="1417320"/>
          </a:xfrm>
          <a:prstGeom prst="roundRect">
            <a:avLst>
              <a:gd fmla="val 5161" name="adj"/>
            </a:avLst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565392" y="1362456"/>
            <a:ext cx="46542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Capacity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565392" y="1709928"/>
            <a:ext cx="46542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layers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neurons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activation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685800" y="3383280"/>
            <a:ext cx="4983480" cy="1417320"/>
          </a:xfrm>
          <a:prstGeom prst="roundRect">
            <a:avLst>
              <a:gd fmla="val 5161" name="adj"/>
            </a:avLst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850392" y="3511296"/>
            <a:ext cx="46542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850392" y="3858768"/>
            <a:ext cx="46542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dropout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weight decay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early stopping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400800" y="3383280"/>
            <a:ext cx="4983480" cy="1417320"/>
          </a:xfrm>
          <a:prstGeom prst="roundRect">
            <a:avLst>
              <a:gd fmla="val 5161" name="adj"/>
            </a:avLst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6565392" y="3511296"/>
            <a:ext cx="46542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Data / training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565392" y="3858768"/>
            <a:ext cx="46542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epochs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augmentation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sampling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097280" y="58064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Ask: which group most likely addresses the failure mode I observed?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Learning Rate: The Most Sensitive Knob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It controls the step size of parameter updates.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822960" y="1417320"/>
            <a:ext cx="3200400" cy="3291840"/>
          </a:xfrm>
          <a:prstGeom prst="roundRect">
            <a:avLst>
              <a:gd fmla="val 2286" name="adj"/>
            </a:avLst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987552" y="1545336"/>
            <a:ext cx="2871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Too high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987552" y="1892808"/>
            <a:ext cx="2871216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Loss jumps or diverges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Training unstable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May never settle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4480560" y="1417320"/>
            <a:ext cx="3200400" cy="3291840"/>
          </a:xfrm>
          <a:prstGeom prst="roundRect">
            <a:avLst>
              <a:gd fmla="val 2286" name="adj"/>
            </a:avLst>
          </a:prstGeom>
          <a:solidFill>
            <a:srgbClr val="FEF3C7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4645152" y="1545336"/>
            <a:ext cx="2871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Too low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4645152" y="1892808"/>
            <a:ext cx="2871216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Loss decreases slowly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Training takes too long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May look stuck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8138160" y="1417320"/>
            <a:ext cx="3200400" cy="3291840"/>
          </a:xfrm>
          <a:prstGeom prst="roundRect">
            <a:avLst>
              <a:gd fmla="val 2286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8302752" y="1545336"/>
            <a:ext cx="2871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Reasonable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8302752" y="1892808"/>
            <a:ext cx="2871216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Loss decreases steadily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Validation improves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Updates are stable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822960" y="53035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Practical search: try learning rates on a log scale, e.g., 1e-4, 3e-4, 1e-3, 3e-3.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Batch Size and Epochs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How much data is seen before each update—and how many passes are made.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822960" y="1325880"/>
            <a:ext cx="3291840" cy="416052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987552" y="1453896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Batch size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987552" y="1801368"/>
            <a:ext cx="2962656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Number of examples used before one update.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0"/>
              <a:buFont typeface="Arial"/>
              <a:buNone/>
            </a:pPr>
            <a:r>
              <a:t/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Small batch: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noisier updates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may generalize well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0"/>
              <a:buFont typeface="Arial"/>
              <a:buNone/>
            </a:pPr>
            <a:r>
              <a:t/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Large batch: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stable gradients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higher memory cost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4434840" y="1325880"/>
            <a:ext cx="3291840" cy="416052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4599432" y="1453896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Epochs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599432" y="1801368"/>
            <a:ext cx="2962656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One epoch = one full pass through the training data.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0"/>
              <a:buFont typeface="Arial"/>
              <a:buNone/>
            </a:pPr>
            <a:r>
              <a:t/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Too few: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undertraining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0"/>
              <a:buFont typeface="Arial"/>
              <a:buNone/>
            </a:pPr>
            <a:r>
              <a:t/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Too many: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risk overfitting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wasted compute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8046720" y="1325880"/>
            <a:ext cx="3291840" cy="416052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8211312" y="1453896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Early stopping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8211312" y="1801368"/>
            <a:ext cx="2962656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Stop training when validation stops improving.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0"/>
              <a:buFont typeface="Arial"/>
              <a:buNone/>
            </a:pPr>
            <a:r>
              <a:t/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Use a held-out dev set.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0"/>
              <a:buFont typeface="Arial"/>
              <a:buNone/>
            </a:pPr>
            <a:r>
              <a:t/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80"/>
              <a:buFont typeface="Arial"/>
              <a:buNone/>
            </a:pPr>
            <a:r>
              <a:rPr lang="en-US" sz="13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Treat it as regularization and compute control.</a:t>
            </a:r>
            <a:endParaRPr sz="13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Capacity Hyperparameters: Depth and Width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They determine how much structure the network can represent.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822960" y="1325880"/>
            <a:ext cx="4846320" cy="3566160"/>
          </a:xfrm>
          <a:prstGeom prst="roundRect">
            <a:avLst>
              <a:gd fmla="val 2051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987552" y="1453896"/>
            <a:ext cx="4517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Depth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987552" y="1801368"/>
            <a:ext cx="4517136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Number of hidden layers.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More layers can learn more hierarchical representations, but can be harder to train and easier to overfit.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6492240" y="1325880"/>
            <a:ext cx="4846320" cy="3566160"/>
          </a:xfrm>
          <a:prstGeom prst="roundRect">
            <a:avLst>
              <a:gd fmla="val 2051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6656832" y="1453896"/>
            <a:ext cx="4517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Width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6656832" y="1801368"/>
            <a:ext cx="4517136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Number of neurons per layer.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Wider layers can represent more patterns, but increase parameters and compute.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914400" y="5376672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Capacity should match the complexity of the signal—not the ambition of the developer.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4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Regularization Hyperparameters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Reduce overfitting by constraining the model or training process.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777240" y="1325880"/>
            <a:ext cx="49834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941832" y="1453896"/>
            <a:ext cx="46542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Dropout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941832" y="1801368"/>
            <a:ext cx="46542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Randomly disables neurons during training to reduce co-adaptation.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6492240" y="1325880"/>
            <a:ext cx="49834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6656832" y="1453896"/>
            <a:ext cx="46542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Weight decay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6656832" y="1801368"/>
            <a:ext cx="46542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Penalizes large weights so the model prefers simpler solutions.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777240" y="3291840"/>
            <a:ext cx="49834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941832" y="3419856"/>
            <a:ext cx="46542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Early stopping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941832" y="3767328"/>
            <a:ext cx="46542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Stops when validation performance stops improving.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6492240" y="3291840"/>
            <a:ext cx="49834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6656832" y="3419856"/>
            <a:ext cx="46542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Data augmentation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6656832" y="3767328"/>
            <a:ext cx="46542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Creates realistic variations to expand the effective training set.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1143000" y="5715000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Use regularization when training improves but validation does not.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Optimizer Choices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Backpropagation computes gradients; the optimizer uses them to update parameters.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822960" y="1417320"/>
            <a:ext cx="3291840" cy="3566160"/>
          </a:xfrm>
          <a:prstGeom prst="roundRect">
            <a:avLst>
              <a:gd fmla="val 2222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987552" y="1545336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SGD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987552" y="1892808"/>
            <a:ext cx="2962656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Simple and transparent.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Can generalize well.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May require careful LR schedules and momentum.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4434840" y="1417320"/>
            <a:ext cx="3291840" cy="3566160"/>
          </a:xfrm>
          <a:prstGeom prst="roundRect">
            <a:avLst>
              <a:gd fmla="val 2222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4599432" y="1545336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Adam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4599432" y="1892808"/>
            <a:ext cx="2962656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Adaptive learning rates.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Often strong default.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Can train quickly on many problems.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8046720" y="1417320"/>
            <a:ext cx="3291840" cy="3566160"/>
          </a:xfrm>
          <a:prstGeom prst="roundRect">
            <a:avLst>
              <a:gd fmla="val 2222" name="adj"/>
            </a:avLst>
          </a:prstGeom>
          <a:solidFill>
            <a:srgbClr val="FEF3C7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8211312" y="1545336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Scheduler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8211312" y="1892808"/>
            <a:ext cx="2962656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Changes learning rate during training.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Can improve convergence after early progress slows.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1188720" y="5532120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Do not compare optimizers unless the learning rates are reasonably tuned.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6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/>
          <p:nvPr/>
        </p:nvSpPr>
        <p:spPr>
          <a:xfrm>
            <a:off x="530352" y="34747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5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72554"/>
                </a:solidFill>
                <a:latin typeface="Play"/>
                <a:ea typeface="Play"/>
                <a:cs typeface="Play"/>
                <a:sym typeface="Play"/>
              </a:rPr>
              <a:t>Hyperparameter Tuning: Starter Values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548640" y="80467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 practical baseline for neural networks — start simple, tune using validation performance.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548640" y="1261872"/>
            <a:ext cx="2148840" cy="411480"/>
          </a:xfrm>
          <a:prstGeom prst="rect">
            <a:avLst/>
          </a:prstGeom>
          <a:solidFill>
            <a:srgbClr val="1E3A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Hyperparameter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2697480" y="1261872"/>
            <a:ext cx="2057400" cy="411480"/>
          </a:xfrm>
          <a:prstGeom prst="rect">
            <a:avLst/>
          </a:prstGeom>
          <a:solidFill>
            <a:srgbClr val="1E3A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Good Starting Value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4754880" y="1261872"/>
            <a:ext cx="3063240" cy="411480"/>
          </a:xfrm>
          <a:prstGeom prst="rect">
            <a:avLst/>
          </a:prstGeom>
          <a:solidFill>
            <a:srgbClr val="1E3A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Common Values to Try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7818120" y="1261872"/>
            <a:ext cx="3840480" cy="411480"/>
          </a:xfrm>
          <a:prstGeom prst="rect">
            <a:avLst/>
          </a:prstGeom>
          <a:solidFill>
            <a:srgbClr val="1E3A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Quick Note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548640" y="1673352"/>
            <a:ext cx="21488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Hidden Layers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2697480" y="1673352"/>
            <a:ext cx="20574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4754880" y="1673352"/>
            <a:ext cx="3063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1, 2, 3, 4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7818120" y="1673352"/>
            <a:ext cx="38404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More layers increase model capacity.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548640" y="2130552"/>
            <a:ext cx="2148840" cy="51206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Neurons / Layer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2697480" y="2130552"/>
            <a:ext cx="2057400" cy="51206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64 → 32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4754880" y="2130552"/>
            <a:ext cx="3063240" cy="51206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16, 32, 64, 128, 256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7818120" y="2130552"/>
            <a:ext cx="3840480" cy="51206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Increase if underfitting; reduce/regularize if overfitting.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548640" y="2642616"/>
            <a:ext cx="21488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Batch Size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2697480" y="2642616"/>
            <a:ext cx="205740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4754880" y="2642616"/>
            <a:ext cx="30632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16, 32, 64, 128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7818120" y="2642616"/>
            <a:ext cx="384048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Larger batches train faster but may generalize differently.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548640" y="3154680"/>
            <a:ext cx="2148840" cy="457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Learning Rate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2697480" y="3154680"/>
            <a:ext cx="2057400" cy="457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0.001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4754880" y="3154680"/>
            <a:ext cx="3063240" cy="457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0.01, 0.001, 0.0001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7818120" y="3154680"/>
            <a:ext cx="3840480" cy="457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One of the most important values to tune.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548640" y="3611880"/>
            <a:ext cx="21488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Optimizer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2697480" y="3611880"/>
            <a:ext cx="20574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Adam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4754880" y="3611880"/>
            <a:ext cx="3063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Adam, AdamW, RMSprop, SGD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7818120" y="3611880"/>
            <a:ext cx="38404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Adam is a strong default for most starts.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548640" y="4069080"/>
            <a:ext cx="2148840" cy="457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Activation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2697480" y="4069080"/>
            <a:ext cx="2057400" cy="457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ReLU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4754880" y="4069080"/>
            <a:ext cx="3063240" cy="457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ReLU, LeakyReLU, GELU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7818120" y="4069080"/>
            <a:ext cx="3840480" cy="457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ReLU is simple and effective for hidden layers.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548640" y="4526280"/>
            <a:ext cx="21488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Epochs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2697480" y="4526280"/>
            <a:ext cx="205740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100 + Early Stopping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4754880" y="4526280"/>
            <a:ext cx="30632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20, 50, 100, 200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7818120" y="4526280"/>
            <a:ext cx="384048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 early stopping instead of relying on a fixed number.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548640" y="5038344"/>
            <a:ext cx="2148840" cy="51206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Dropout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2697480" y="5038344"/>
            <a:ext cx="2057400" cy="51206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0.2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4754880" y="5038344"/>
            <a:ext cx="3063240" cy="51206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0, 0.1, 0.2, 0.3, 0.5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7818120" y="5038344"/>
            <a:ext cx="3840480" cy="51206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Helpful when validation performance is worse than training.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548640" y="5550408"/>
            <a:ext cx="21488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L2 Regularization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2697480" y="5550408"/>
            <a:ext cx="20574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1e-4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4754880" y="5550408"/>
            <a:ext cx="3063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0, 1e-5, 1e-4, 1e-3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7818120" y="5550408"/>
            <a:ext cx="38404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Penalizes overly large weights.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548640" y="6318504"/>
            <a:ext cx="11109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Recommended baseline: 2 layers • 64→32 neurons • ReLU • Adam • LR=0.001 • Batch=32 • Dropout=0.2 • EarlyStopping=10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Search Spaces: Choose Ranges Intelligently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8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range and scale matter as much as the search algorithm.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731520" y="1325880"/>
            <a:ext cx="3703320" cy="374904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896112" y="1453896"/>
            <a:ext cx="3374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Linear scale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896112" y="1801368"/>
            <a:ext cx="3374136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Useful when values have comparable meaning.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number of layers: 1–5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dropout: 0.0–0.5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batch size choices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4617720" y="1325880"/>
            <a:ext cx="3703320" cy="374904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4782312" y="1453896"/>
            <a:ext cx="3374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Log scale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4782312" y="1801368"/>
            <a:ext cx="3374136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Useful when orders of magnitude matter.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learning rate: 1e-5 to 1e-2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weight decay: 1e-6 to 1e-2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8503920" y="1325880"/>
            <a:ext cx="2880360" cy="374904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8668512" y="1453896"/>
            <a:ext cx="25511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Discrete choices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8668512" y="1801368"/>
            <a:ext cx="2551176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Useful for categorical settings.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optimizer: SGD/Adam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activation: ReLU/Tanh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architecture variant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8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9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548640" y="47548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Key Methods for Finding the Best Hyperparameters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548640" y="1024128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Start with a diagnostic question, then choose a search strategy that matches your time budget and experiment cost.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19"/>
          <p:cNvCxnSpPr/>
          <p:nvPr/>
        </p:nvCxnSpPr>
        <p:spPr>
          <a:xfrm>
            <a:off x="1143000" y="2898648"/>
            <a:ext cx="9601200" cy="0"/>
          </a:xfrm>
          <a:prstGeom prst="straightConnector1">
            <a:avLst/>
          </a:prstGeom>
          <a:noFill/>
          <a:ln cap="flat" cmpd="sng" w="38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19"/>
          <p:cNvSpPr/>
          <p:nvPr/>
        </p:nvSpPr>
        <p:spPr>
          <a:xfrm>
            <a:off x="1325880" y="2542032"/>
            <a:ext cx="713232" cy="71323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9"/>
          <p:cNvSpPr/>
          <p:nvPr/>
        </p:nvSpPr>
        <p:spPr>
          <a:xfrm>
            <a:off x="1325880" y="267919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822960" y="169164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Grid Search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640080" y="202996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Try every combination in a fixed grid.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640080" y="3401568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Best for: small search spaces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9"/>
          <p:cNvSpPr/>
          <p:nvPr/>
        </p:nvSpPr>
        <p:spPr>
          <a:xfrm>
            <a:off x="3703320" y="2542032"/>
            <a:ext cx="713232" cy="713232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9"/>
          <p:cNvSpPr/>
          <p:nvPr/>
        </p:nvSpPr>
        <p:spPr>
          <a:xfrm>
            <a:off x="3703320" y="267919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3200400" y="169164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Random Search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3017520" y="202996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Sample combinations randomly from ranges.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3017520" y="3401568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Best for: limited compute budget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6080760" y="2542032"/>
            <a:ext cx="713232" cy="71323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9"/>
          <p:cNvSpPr/>
          <p:nvPr/>
        </p:nvSpPr>
        <p:spPr>
          <a:xfrm>
            <a:off x="6080760" y="267919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5577840" y="169164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Bayesian Optimization</a:t>
            </a:r>
            <a:endParaRPr sz="12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5394960" y="202996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 previous trials to choose better next trials.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5394960" y="3401568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Best for: expensive training runs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8458200" y="2542032"/>
            <a:ext cx="713232" cy="71323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9"/>
          <p:cNvSpPr/>
          <p:nvPr/>
        </p:nvSpPr>
        <p:spPr>
          <a:xfrm>
            <a:off x="8458200" y="267919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7955280" y="169164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Hyperband / Successive Halving</a:t>
            </a:r>
            <a:endParaRPr sz="12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7772400" y="202996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Start many trials, stop weak ones early.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7772400" y="3401568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Best for: many candidates with early signals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685800" y="4160520"/>
            <a:ext cx="1083564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960120" y="43708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Practical workflow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2788920" y="4352544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Baseline  →  Broad search  →  Analyze learning curves  →  Narrow search  →  Confirm on validation/test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960120" y="4745736"/>
            <a:ext cx="9966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Rule: change one main decision at a time so you can explain what improved and why.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777240" y="565099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Tools that automate search: Optuna, KerasTuner, Ray Tune, Weights &amp; Biases Sweeps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777240" y="5961888"/>
            <a:ext cx="10789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They run search strategies, log trials, compare validation performance, and help reproduce experiments.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Grid Search vs. Random Search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Stanford CS230 emphasizes that the hyperparameter space is often too large to try exhaustively.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0"/>
          <p:cNvSpPr/>
          <p:nvPr/>
        </p:nvSpPr>
        <p:spPr>
          <a:xfrm>
            <a:off x="777240" y="1234440"/>
            <a:ext cx="480060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0"/>
          <p:cNvSpPr/>
          <p:nvPr/>
        </p:nvSpPr>
        <p:spPr>
          <a:xfrm>
            <a:off x="941832" y="1362456"/>
            <a:ext cx="44714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Grid search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0"/>
          <p:cNvSpPr/>
          <p:nvPr/>
        </p:nvSpPr>
        <p:spPr>
          <a:xfrm>
            <a:off x="941832" y="1709928"/>
            <a:ext cx="4471416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Systematic but can waste trials on unimportant dimensions.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1828800" y="315468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1828800" y="361188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1828800" y="406908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0"/>
          <p:cNvSpPr/>
          <p:nvPr/>
        </p:nvSpPr>
        <p:spPr>
          <a:xfrm>
            <a:off x="2651760" y="315468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0"/>
          <p:cNvSpPr/>
          <p:nvPr/>
        </p:nvSpPr>
        <p:spPr>
          <a:xfrm>
            <a:off x="2651760" y="361188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2651760" y="406908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3474720" y="315468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3474720" y="361188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0"/>
          <p:cNvSpPr/>
          <p:nvPr/>
        </p:nvSpPr>
        <p:spPr>
          <a:xfrm>
            <a:off x="3474720" y="406908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p20"/>
          <p:cNvCxnSpPr/>
          <p:nvPr/>
        </p:nvCxnSpPr>
        <p:spPr>
          <a:xfrm>
            <a:off x="1508760" y="2971800"/>
            <a:ext cx="274320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20"/>
          <p:cNvCxnSpPr/>
          <p:nvPr/>
        </p:nvCxnSpPr>
        <p:spPr>
          <a:xfrm>
            <a:off x="1508760" y="4251960"/>
            <a:ext cx="274320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3" name="Google Shape;453;p20"/>
          <p:cNvSpPr/>
          <p:nvPr/>
        </p:nvSpPr>
        <p:spPr>
          <a:xfrm>
            <a:off x="6629400" y="1234440"/>
            <a:ext cx="480060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6793992" y="1362456"/>
            <a:ext cx="44714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Random search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6793992" y="1709928"/>
            <a:ext cx="4471416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Often covers more unique values of each hyperparameter under a limited budget.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7543800" y="3200400"/>
            <a:ext cx="118872" cy="1188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8138160" y="3840480"/>
            <a:ext cx="118872" cy="1188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8823960" y="3401568"/>
            <a:ext cx="118872" cy="1188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9509760" y="4251960"/>
            <a:ext cx="118872" cy="1188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10149840" y="3127248"/>
            <a:ext cx="118872" cy="1188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10652760" y="3657600"/>
            <a:ext cx="118872" cy="1188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7863840" y="4434840"/>
            <a:ext cx="118872" cy="1188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9966960" y="3840480"/>
            <a:ext cx="118872" cy="1188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9006840" y="4023360"/>
            <a:ext cx="118872" cy="1188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914400" y="566928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Random search is especially useful when only a few hyperparameters strongly affect performance.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0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1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A Practical Coarse-to-Fine Tuning Workflow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Start broad, then zoom in around promising regions.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1"/>
          <p:cNvSpPr/>
          <p:nvPr/>
        </p:nvSpPr>
        <p:spPr>
          <a:xfrm>
            <a:off x="640080" y="2057400"/>
            <a:ext cx="1920240" cy="960120"/>
          </a:xfrm>
          <a:prstGeom prst="chevron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768096" y="23317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87"/>
              <a:buFont typeface="Arial"/>
              <a:buNone/>
            </a:pPr>
            <a:r>
              <a:rPr b="1" lang="en-US" sz="1388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1097280" y="222199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1097280" y="2487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 a simple working model.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2907792" y="2057400"/>
            <a:ext cx="1920240" cy="960120"/>
          </a:xfrm>
          <a:prstGeom prst="chevron">
            <a:avLst>
              <a:gd fmla="val 50000" name="adj"/>
            </a:avLst>
          </a:prstGeom>
          <a:solidFill>
            <a:srgbClr val="EDE9FE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3035808" y="23317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87"/>
              <a:buFont typeface="Arial"/>
              <a:buNone/>
            </a:pPr>
            <a:r>
              <a:rPr b="1" lang="en-US" sz="1388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3364992" y="222199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Broad search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3364992" y="2487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Try wide ranges with few epochs.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5175504" y="2057400"/>
            <a:ext cx="1920240" cy="960120"/>
          </a:xfrm>
          <a:prstGeom prst="chevron">
            <a:avLst>
              <a:gd fmla="val 50000" name="adj"/>
            </a:avLst>
          </a:prstGeom>
          <a:solidFill>
            <a:srgbClr val="FEF3C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5303520" y="23317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87"/>
              <a:buFont typeface="Arial"/>
              <a:buNone/>
            </a:pPr>
            <a:r>
              <a:rPr b="1" lang="en-US" sz="1388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5632704" y="222199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5632704" y="2487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Identify sensitive hyperparameters.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7443216" y="2057400"/>
            <a:ext cx="1920240" cy="960120"/>
          </a:xfrm>
          <a:prstGeom prst="chevron">
            <a:avLst>
              <a:gd fmla="val 50000" name="adj"/>
            </a:avLst>
          </a:prstGeom>
          <a:solidFill>
            <a:srgbClr val="DCFCE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7571232" y="23317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87"/>
              <a:buFont typeface="Arial"/>
              <a:buNone/>
            </a:pPr>
            <a:r>
              <a:rPr b="1" lang="en-US" sz="1388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7900416" y="222199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Narrow search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7900416" y="2487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Zoom in around promising values.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9710928" y="2057400"/>
            <a:ext cx="1920240" cy="96012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9838944" y="23317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87"/>
              <a:buFont typeface="Arial"/>
              <a:buNone/>
            </a:pPr>
            <a:r>
              <a:rPr b="1" lang="en-US" sz="1388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10168128" y="222199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Confirm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10168128" y="2487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Re-train and evaluate on dev/test.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1463040" y="4160520"/>
            <a:ext cx="9326880" cy="822960"/>
          </a:xfrm>
          <a:prstGeom prst="roundRect">
            <a:avLst>
              <a:gd fmla="val 888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1627632" y="4288536"/>
            <a:ext cx="89976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Good experiment question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1627632" y="4636008"/>
            <a:ext cx="89976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“Does lowering the learning rate fix instability?” is better than “Let’s try random values.”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1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2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Beyond Random Search: Bayesian Optimization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Use previous experiments to choose the next experiment more intelligently.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822960" y="1417320"/>
            <a:ext cx="2880360" cy="347472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987552" y="1545336"/>
            <a:ext cx="25511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Idea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987552" y="1892808"/>
            <a:ext cx="2551176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Treat validation performance as an unknown function of hyperparameters.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Each experiment gives one observation.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4663440" y="1417320"/>
            <a:ext cx="2880360" cy="347472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4828032" y="1545336"/>
            <a:ext cx="25511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Explore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2"/>
          <p:cNvSpPr/>
          <p:nvPr/>
        </p:nvSpPr>
        <p:spPr>
          <a:xfrm>
            <a:off x="4828032" y="1892808"/>
            <a:ext cx="2551176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Try uncertain regions where the model does not know enough yet.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2"/>
          <p:cNvSpPr/>
          <p:nvPr/>
        </p:nvSpPr>
        <p:spPr>
          <a:xfrm>
            <a:off x="8503920" y="1417320"/>
            <a:ext cx="2880360" cy="347472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2"/>
          <p:cNvSpPr/>
          <p:nvPr/>
        </p:nvSpPr>
        <p:spPr>
          <a:xfrm>
            <a:off x="8668512" y="1545336"/>
            <a:ext cx="25511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Exploit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8668512" y="1892808"/>
            <a:ext cx="2551176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Try regions likely to perform well based on past trials.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4" name="Google Shape;514;p22"/>
          <p:cNvCxnSpPr/>
          <p:nvPr/>
        </p:nvCxnSpPr>
        <p:spPr>
          <a:xfrm>
            <a:off x="3840480" y="2926080"/>
            <a:ext cx="658368" cy="0"/>
          </a:xfrm>
          <a:prstGeom prst="straightConnector1">
            <a:avLst/>
          </a:prstGeom>
          <a:noFill/>
          <a:ln cap="flat" cmpd="sng" w="1777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5" name="Google Shape;515;p22"/>
          <p:cNvCxnSpPr/>
          <p:nvPr/>
        </p:nvCxnSpPr>
        <p:spPr>
          <a:xfrm>
            <a:off x="7680960" y="2926080"/>
            <a:ext cx="658368" cy="0"/>
          </a:xfrm>
          <a:prstGeom prst="straightConnector1">
            <a:avLst/>
          </a:prstGeom>
          <a:noFill/>
          <a:ln cap="flat" cmpd="sng" w="1777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6" name="Google Shape;516;p22"/>
          <p:cNvSpPr/>
          <p:nvPr/>
        </p:nvSpPr>
        <p:spPr>
          <a:xfrm>
            <a:off x="1097280" y="55321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Bayesian optimization is useful when each experiment is expensive.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2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3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Experiment Tracking and Reproducibility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3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You cannot tune what you cannot compare.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3"/>
          <p:cNvSpPr/>
          <p:nvPr/>
        </p:nvSpPr>
        <p:spPr>
          <a:xfrm>
            <a:off x="685800" y="1280160"/>
            <a:ext cx="3383280" cy="4206240"/>
          </a:xfrm>
          <a:prstGeom prst="roundRect">
            <a:avLst>
              <a:gd fmla="val 2162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3"/>
          <p:cNvSpPr/>
          <p:nvPr/>
        </p:nvSpPr>
        <p:spPr>
          <a:xfrm>
            <a:off x="850392" y="1408176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Log the setup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3"/>
          <p:cNvSpPr/>
          <p:nvPr/>
        </p:nvSpPr>
        <p:spPr>
          <a:xfrm>
            <a:off x="850392" y="1755648"/>
            <a:ext cx="3054096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Dataset version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Train/dev/test split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Preprocessing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Random seed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Code version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3"/>
          <p:cNvSpPr/>
          <p:nvPr/>
        </p:nvSpPr>
        <p:spPr>
          <a:xfrm>
            <a:off x="4434840" y="1280160"/>
            <a:ext cx="3383280" cy="4206240"/>
          </a:xfrm>
          <a:prstGeom prst="roundRect">
            <a:avLst>
              <a:gd fmla="val 2162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3"/>
          <p:cNvSpPr/>
          <p:nvPr/>
        </p:nvSpPr>
        <p:spPr>
          <a:xfrm>
            <a:off x="4599432" y="1408176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Log hyperparameters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4599432" y="1755648"/>
            <a:ext cx="3054096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LR, optimizer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Batch size, epochs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Architecture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Dropout/regularization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Early stopping rules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8183880" y="1280160"/>
            <a:ext cx="3383280" cy="4206240"/>
          </a:xfrm>
          <a:prstGeom prst="roundRect">
            <a:avLst>
              <a:gd fmla="val 2162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3"/>
          <p:cNvSpPr/>
          <p:nvPr/>
        </p:nvSpPr>
        <p:spPr>
          <a:xfrm>
            <a:off x="8348472" y="1408176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Log outcomes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3"/>
          <p:cNvSpPr/>
          <p:nvPr/>
        </p:nvSpPr>
        <p:spPr>
          <a:xfrm>
            <a:off x="8348472" y="1755648"/>
            <a:ext cx="3054096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Train/dev/test metrics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Curves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Confusion matrix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Error examples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• Notes and conclusion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3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4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TensorBoard: What to Watch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4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Monitoring curves and diagnostics helps you decide what to change next.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4"/>
          <p:cNvSpPr/>
          <p:nvPr/>
        </p:nvSpPr>
        <p:spPr>
          <a:xfrm>
            <a:off x="777240" y="1325880"/>
            <a:ext cx="4892040" cy="1298448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4"/>
          <p:cNvSpPr/>
          <p:nvPr/>
        </p:nvSpPr>
        <p:spPr>
          <a:xfrm>
            <a:off x="941832" y="1453896"/>
            <a:ext cx="45628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Scalars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4"/>
          <p:cNvSpPr/>
          <p:nvPr/>
        </p:nvSpPr>
        <p:spPr>
          <a:xfrm>
            <a:off x="941832" y="1801368"/>
            <a:ext cx="4562856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train/val loss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train/val accuracy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4"/>
          <p:cNvSpPr/>
          <p:nvPr/>
        </p:nvSpPr>
        <p:spPr>
          <a:xfrm>
            <a:off x="6446520" y="1325880"/>
            <a:ext cx="4892040" cy="1298448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4"/>
          <p:cNvSpPr/>
          <p:nvPr/>
        </p:nvSpPr>
        <p:spPr>
          <a:xfrm>
            <a:off x="6611112" y="1453896"/>
            <a:ext cx="45628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Histograms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4"/>
          <p:cNvSpPr/>
          <p:nvPr/>
        </p:nvSpPr>
        <p:spPr>
          <a:xfrm>
            <a:off x="6611112" y="1801368"/>
            <a:ext cx="4562856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biases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77240" y="3383280"/>
            <a:ext cx="4892040" cy="1298448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4"/>
          <p:cNvSpPr/>
          <p:nvPr/>
        </p:nvSpPr>
        <p:spPr>
          <a:xfrm>
            <a:off x="941832" y="3511296"/>
            <a:ext cx="45628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4"/>
          <p:cNvSpPr/>
          <p:nvPr/>
        </p:nvSpPr>
        <p:spPr>
          <a:xfrm>
            <a:off x="941832" y="3858768"/>
            <a:ext cx="4562856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sample inputs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predictions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errors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4"/>
          <p:cNvSpPr/>
          <p:nvPr/>
        </p:nvSpPr>
        <p:spPr>
          <a:xfrm>
            <a:off x="6446520" y="3383280"/>
            <a:ext cx="4892040" cy="1298448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4"/>
          <p:cNvSpPr/>
          <p:nvPr/>
        </p:nvSpPr>
        <p:spPr>
          <a:xfrm>
            <a:off x="6611112" y="3511296"/>
            <a:ext cx="45628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4"/>
          <p:cNvSpPr/>
          <p:nvPr/>
        </p:nvSpPr>
        <p:spPr>
          <a:xfrm>
            <a:off x="6611112" y="3858768"/>
            <a:ext cx="4562856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which classes are confused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class-level failure modes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4"/>
          <p:cNvSpPr/>
          <p:nvPr/>
        </p:nvSpPr>
        <p:spPr>
          <a:xfrm>
            <a:off x="1005840" y="576072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 single final score hides the training story. TensorBoard makes the story visible.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4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5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Practical Keras Tuning Workflow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5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Connect the concepts to the code students will use.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5"/>
          <p:cNvSpPr/>
          <p:nvPr/>
        </p:nvSpPr>
        <p:spPr>
          <a:xfrm>
            <a:off x="822960" y="1207008"/>
            <a:ext cx="457200" cy="320040"/>
          </a:xfrm>
          <a:prstGeom prst="roundRect">
            <a:avLst>
              <a:gd fmla="val 17143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5"/>
          <p:cNvSpPr/>
          <p:nvPr/>
        </p:nvSpPr>
        <p:spPr>
          <a:xfrm>
            <a:off x="932688" y="1275588"/>
            <a:ext cx="237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5"/>
          <p:cNvSpPr/>
          <p:nvPr/>
        </p:nvSpPr>
        <p:spPr>
          <a:xfrm>
            <a:off x="1463040" y="123444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model = Sequential(...)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5"/>
          <p:cNvSpPr/>
          <p:nvPr/>
        </p:nvSpPr>
        <p:spPr>
          <a:xfrm>
            <a:off x="4617720" y="1234440"/>
            <a:ext cx="585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Architecture / capacity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5"/>
          <p:cNvSpPr/>
          <p:nvPr/>
        </p:nvSpPr>
        <p:spPr>
          <a:xfrm>
            <a:off x="822960" y="2075688"/>
            <a:ext cx="457200" cy="320040"/>
          </a:xfrm>
          <a:prstGeom prst="roundRect">
            <a:avLst>
              <a:gd fmla="val 17143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5"/>
          <p:cNvSpPr/>
          <p:nvPr/>
        </p:nvSpPr>
        <p:spPr>
          <a:xfrm>
            <a:off x="932688" y="2144268"/>
            <a:ext cx="237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5"/>
          <p:cNvSpPr/>
          <p:nvPr/>
        </p:nvSpPr>
        <p:spPr>
          <a:xfrm>
            <a:off x="1463040" y="210312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model.compile(...)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5"/>
          <p:cNvSpPr/>
          <p:nvPr/>
        </p:nvSpPr>
        <p:spPr>
          <a:xfrm>
            <a:off x="4617720" y="2103120"/>
            <a:ext cx="585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Loss + optimizer + metrics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5"/>
          <p:cNvSpPr/>
          <p:nvPr/>
        </p:nvSpPr>
        <p:spPr>
          <a:xfrm>
            <a:off x="822960" y="2944368"/>
            <a:ext cx="457200" cy="320040"/>
          </a:xfrm>
          <a:prstGeom prst="roundRect">
            <a:avLst>
              <a:gd fmla="val 17143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5"/>
          <p:cNvSpPr/>
          <p:nvPr/>
        </p:nvSpPr>
        <p:spPr>
          <a:xfrm>
            <a:off x="932688" y="3012948"/>
            <a:ext cx="237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5"/>
          <p:cNvSpPr/>
          <p:nvPr/>
        </p:nvSpPr>
        <p:spPr>
          <a:xfrm>
            <a:off x="1463040" y="297180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model.fit(...)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5"/>
          <p:cNvSpPr/>
          <p:nvPr/>
        </p:nvSpPr>
        <p:spPr>
          <a:xfrm>
            <a:off x="4617720" y="2971800"/>
            <a:ext cx="585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Training loop: epochs, batches, validation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5"/>
          <p:cNvSpPr/>
          <p:nvPr/>
        </p:nvSpPr>
        <p:spPr>
          <a:xfrm>
            <a:off x="822960" y="3813048"/>
            <a:ext cx="457200" cy="320040"/>
          </a:xfrm>
          <a:prstGeom prst="roundRect">
            <a:avLst>
              <a:gd fmla="val 17143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5"/>
          <p:cNvSpPr/>
          <p:nvPr/>
        </p:nvSpPr>
        <p:spPr>
          <a:xfrm>
            <a:off x="932688" y="3881628"/>
            <a:ext cx="237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5"/>
          <p:cNvSpPr/>
          <p:nvPr/>
        </p:nvSpPr>
        <p:spPr>
          <a:xfrm>
            <a:off x="1463040" y="384048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history.history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5"/>
          <p:cNvSpPr/>
          <p:nvPr/>
        </p:nvSpPr>
        <p:spPr>
          <a:xfrm>
            <a:off x="4617720" y="3840480"/>
            <a:ext cx="585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Learning curves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5"/>
          <p:cNvSpPr/>
          <p:nvPr/>
        </p:nvSpPr>
        <p:spPr>
          <a:xfrm>
            <a:off x="822960" y="4681728"/>
            <a:ext cx="457200" cy="320040"/>
          </a:xfrm>
          <a:prstGeom prst="roundRect">
            <a:avLst>
              <a:gd fmla="val 17143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5"/>
          <p:cNvSpPr/>
          <p:nvPr/>
        </p:nvSpPr>
        <p:spPr>
          <a:xfrm>
            <a:off x="932688" y="4750308"/>
            <a:ext cx="2377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5"/>
          <p:cNvSpPr/>
          <p:nvPr/>
        </p:nvSpPr>
        <p:spPr>
          <a:xfrm>
            <a:off x="1463040" y="470916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evaluate / predict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5"/>
          <p:cNvSpPr/>
          <p:nvPr/>
        </p:nvSpPr>
        <p:spPr>
          <a:xfrm>
            <a:off x="4617720" y="4709160"/>
            <a:ext cx="585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Final evaluation + error analysis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5"/>
          <p:cNvSpPr/>
          <p:nvPr/>
        </p:nvSpPr>
        <p:spPr>
          <a:xfrm>
            <a:off x="914400" y="5623560"/>
            <a:ext cx="10241280" cy="411480"/>
          </a:xfrm>
          <a:prstGeom prst="roundRect">
            <a:avLst>
              <a:gd fmla="val 17778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5"/>
          <p:cNvSpPr/>
          <p:nvPr/>
        </p:nvSpPr>
        <p:spPr>
          <a:xfrm>
            <a:off x="1078992" y="5779008"/>
            <a:ext cx="9912096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06"/>
              <a:buFont typeface="Arial"/>
              <a:buNone/>
            </a:pPr>
            <a:r>
              <a:rPr lang="en-US" sz="906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Hyperparameter tuning in Keras means repeatedly changing these choices, then comparing validation behavior.</a:t>
            </a:r>
            <a:endParaRPr sz="90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5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6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Mini Case Study: Training Curve Diagnosis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6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What would you tune first?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6"/>
          <p:cNvSpPr/>
          <p:nvPr/>
        </p:nvSpPr>
        <p:spPr>
          <a:xfrm>
            <a:off x="685800" y="1143000"/>
            <a:ext cx="3337560" cy="4343400"/>
          </a:xfrm>
          <a:prstGeom prst="roundRect">
            <a:avLst>
              <a:gd fmla="val 2192" name="adj"/>
            </a:avLst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850392" y="1271016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Case A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6"/>
          <p:cNvSpPr/>
          <p:nvPr/>
        </p:nvSpPr>
        <p:spPr>
          <a:xfrm>
            <a:off x="850392" y="1618488"/>
            <a:ext cx="3008376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 loss high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Validation loss high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Accuracy low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Likely issue: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Underfitting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6"/>
          <p:cNvSpPr/>
          <p:nvPr/>
        </p:nvSpPr>
        <p:spPr>
          <a:xfrm>
            <a:off x="4434840" y="1143000"/>
            <a:ext cx="3337560" cy="4343400"/>
          </a:xfrm>
          <a:prstGeom prst="roundRect">
            <a:avLst>
              <a:gd fmla="val 2192" name="adj"/>
            </a:avLst>
          </a:prstGeom>
          <a:solidFill>
            <a:srgbClr val="FEF3C7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6"/>
          <p:cNvSpPr/>
          <p:nvPr/>
        </p:nvSpPr>
        <p:spPr>
          <a:xfrm>
            <a:off x="4599432" y="1271016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Case B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6"/>
          <p:cNvSpPr/>
          <p:nvPr/>
        </p:nvSpPr>
        <p:spPr>
          <a:xfrm>
            <a:off x="4599432" y="1618488"/>
            <a:ext cx="3008376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 loss low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Validation loss high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Large gap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Likely issue: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Overfitting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6"/>
          <p:cNvSpPr/>
          <p:nvPr/>
        </p:nvSpPr>
        <p:spPr>
          <a:xfrm>
            <a:off x="8183880" y="1143000"/>
            <a:ext cx="3337560" cy="4343400"/>
          </a:xfrm>
          <a:prstGeom prst="roundRect">
            <a:avLst>
              <a:gd fmla="val 2192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6"/>
          <p:cNvSpPr/>
          <p:nvPr/>
        </p:nvSpPr>
        <p:spPr>
          <a:xfrm>
            <a:off x="8348472" y="1271016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Case C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6"/>
          <p:cNvSpPr/>
          <p:nvPr/>
        </p:nvSpPr>
        <p:spPr>
          <a:xfrm>
            <a:off x="8348472" y="1618488"/>
            <a:ext cx="3008376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Loss oscillates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Validation unstable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No smooth improvement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Likely issue: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Optimization problem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6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7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Final Checklist for Model Analysis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7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Use this before claiming “best model”.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7"/>
          <p:cNvSpPr/>
          <p:nvPr/>
        </p:nvSpPr>
        <p:spPr>
          <a:xfrm>
            <a:off x="822960" y="1170432"/>
            <a:ext cx="310896" cy="310896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896112" y="1220724"/>
            <a:ext cx="164592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7"/>
          <p:cNvSpPr/>
          <p:nvPr/>
        </p:nvSpPr>
        <p:spPr>
          <a:xfrm>
            <a:off x="1325880" y="1188720"/>
            <a:ext cx="9509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Data split is clean and test set was not used for tuning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7"/>
          <p:cNvSpPr/>
          <p:nvPr/>
        </p:nvSpPr>
        <p:spPr>
          <a:xfrm>
            <a:off x="822960" y="1737360"/>
            <a:ext cx="310896" cy="310896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896112" y="1787652"/>
            <a:ext cx="164592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1325880" y="1755648"/>
            <a:ext cx="9509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Baseline is documented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822960" y="2304288"/>
            <a:ext cx="310896" cy="310896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896112" y="2354580"/>
            <a:ext cx="164592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7"/>
          <p:cNvSpPr/>
          <p:nvPr/>
        </p:nvSpPr>
        <p:spPr>
          <a:xfrm>
            <a:off x="1325880" y="2322576"/>
            <a:ext cx="9509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Train/dev curves are inspected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822960" y="2871216"/>
            <a:ext cx="310896" cy="310896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7"/>
          <p:cNvSpPr/>
          <p:nvPr/>
        </p:nvSpPr>
        <p:spPr>
          <a:xfrm>
            <a:off x="896112" y="2921508"/>
            <a:ext cx="164592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7"/>
          <p:cNvSpPr/>
          <p:nvPr/>
        </p:nvSpPr>
        <p:spPr>
          <a:xfrm>
            <a:off x="1325880" y="2889504"/>
            <a:ext cx="9509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Failure mode is diagnosed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7"/>
          <p:cNvSpPr/>
          <p:nvPr/>
        </p:nvSpPr>
        <p:spPr>
          <a:xfrm>
            <a:off x="822960" y="3438144"/>
            <a:ext cx="310896" cy="310896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7"/>
          <p:cNvSpPr/>
          <p:nvPr/>
        </p:nvSpPr>
        <p:spPr>
          <a:xfrm>
            <a:off x="896112" y="3488436"/>
            <a:ext cx="164592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7"/>
          <p:cNvSpPr/>
          <p:nvPr/>
        </p:nvSpPr>
        <p:spPr>
          <a:xfrm>
            <a:off x="1325880" y="3456432"/>
            <a:ext cx="9509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Search space and scale are justified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7"/>
          <p:cNvSpPr/>
          <p:nvPr/>
        </p:nvSpPr>
        <p:spPr>
          <a:xfrm>
            <a:off x="822960" y="4005072"/>
            <a:ext cx="310896" cy="310896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7"/>
          <p:cNvSpPr/>
          <p:nvPr/>
        </p:nvSpPr>
        <p:spPr>
          <a:xfrm>
            <a:off x="896112" y="4055364"/>
            <a:ext cx="164592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7"/>
          <p:cNvSpPr/>
          <p:nvPr/>
        </p:nvSpPr>
        <p:spPr>
          <a:xfrm>
            <a:off x="1325880" y="4023360"/>
            <a:ext cx="9509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Experiments are logged and reproducible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7"/>
          <p:cNvSpPr/>
          <p:nvPr/>
        </p:nvSpPr>
        <p:spPr>
          <a:xfrm>
            <a:off x="822960" y="4572000"/>
            <a:ext cx="310896" cy="310896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7"/>
          <p:cNvSpPr/>
          <p:nvPr/>
        </p:nvSpPr>
        <p:spPr>
          <a:xfrm>
            <a:off x="896112" y="4622292"/>
            <a:ext cx="164592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7"/>
          <p:cNvSpPr/>
          <p:nvPr/>
        </p:nvSpPr>
        <p:spPr>
          <a:xfrm>
            <a:off x="1325880" y="4590288"/>
            <a:ext cx="9509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Final choice considers performance and complexity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7"/>
          <p:cNvSpPr/>
          <p:nvPr/>
        </p:nvSpPr>
        <p:spPr>
          <a:xfrm>
            <a:off x="822960" y="5138928"/>
            <a:ext cx="310896" cy="310896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7"/>
          <p:cNvSpPr/>
          <p:nvPr/>
        </p:nvSpPr>
        <p:spPr>
          <a:xfrm>
            <a:off x="896112" y="5189220"/>
            <a:ext cx="164592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7"/>
          <p:cNvSpPr/>
          <p:nvPr/>
        </p:nvSpPr>
        <p:spPr>
          <a:xfrm>
            <a:off x="1325880" y="5157216"/>
            <a:ext cx="9509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20"/>
              <a:buFont typeface="Arial"/>
              <a:buNone/>
            </a:pPr>
            <a:r>
              <a:rPr lang="en-US" sz="132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Errors are analyzed and limitations are stated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7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8"/>
          <p:cNvSpPr/>
          <p:nvPr/>
        </p:nvSpPr>
        <p:spPr>
          <a:xfrm>
            <a:off x="548640" y="292608"/>
            <a:ext cx="11064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Summary and Academic Inspiration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8"/>
          <p:cNvSpPr/>
          <p:nvPr/>
        </p:nvSpPr>
        <p:spPr>
          <a:xfrm>
            <a:off x="566928" y="749808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Hyperparameter tuning is scientific model improvement.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8"/>
          <p:cNvSpPr/>
          <p:nvPr/>
        </p:nvSpPr>
        <p:spPr>
          <a:xfrm>
            <a:off x="731520" y="1234440"/>
            <a:ext cx="1033272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8"/>
          <p:cNvSpPr/>
          <p:nvPr/>
        </p:nvSpPr>
        <p:spPr>
          <a:xfrm>
            <a:off x="896112" y="1362456"/>
            <a:ext cx="44256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Five takeaways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8"/>
          <p:cNvSpPr/>
          <p:nvPr/>
        </p:nvSpPr>
        <p:spPr>
          <a:xfrm>
            <a:off x="896112" y="1709928"/>
            <a:ext cx="4425696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1. Diagnose before tuning.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2. Use clean train/dev/test protocol.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3. Search intelligently, often coarse-to-fine.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4. Track every experiment.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5. Explain the final model through evidence</a:t>
            </a:r>
            <a:r>
              <a:rPr lang="en-US" sz="1500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8"/>
          <p:cNvSpPr/>
          <p:nvPr/>
        </p:nvSpPr>
        <p:spPr>
          <a:xfrm>
            <a:off x="822960" y="5715000"/>
            <a:ext cx="10698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Final message: The best model is not just the highest score; it is the best-supported decision.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8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2026-08-18T08:43:04Z</dcterms:created>
  <dc:creator>OpenAI</dc:creator>
</cp:coreProperties>
</file>