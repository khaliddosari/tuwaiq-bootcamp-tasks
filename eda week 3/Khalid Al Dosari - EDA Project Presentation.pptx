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York City Airbnb — 48,895 listings across all five boroughs, snapshot from 2019. My question was simple: what actually sets the price of a listing? I'll spend the first half on the data quality problems I had to fix before I could trust anything, and the second half on what the cleaned data showed.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listing — the host, the location, the price, the review history. Ten numeric columns, but two of them, id and host_id, are identifiers rather than measurements. There's no target variable; this is an unlabelled market snapshot, and price is what you'd predict if you modelled it. One flag up front: one in five listings has never been reviewed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problems, six decisions. Two are worth pausing on. Number two — pandas said zero duplicates, which only means no two rows are identical across all sixteen columns. Define a duplicate the way the business would, same host at the same coordinates at the same price, and 217 appear. And number six — those 1,250-night minimums are not errors. The listing names say things like 'not available'. Hosts are faking a pause button, so I capped rather than deleted. The value is a signal about host behaviour, not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column except availability is full of outliers. But an outlier is not the same as an error. A ten thousand dollar penthouse is a real listing. A host with 327 properties is a real business. So I kept all of them and capped only minimum_nights, because that was the one case where the value was logically impossible rather than merely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distribution leans right. The gap between the mean of 152 and the median of 105 is the whole story — quoting the average overstates what a normal guest actually pays by nearly fifty dollars. The median is the honest number. Availability is the interesting exception: it's bimodal, clustering at zero days and at 365. Hosts are either fully committed or effectively dormant, with very little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categorical columns are imbalanced. Shared rooms are two percent of supply. Manhattan and Brooklyn together are eighty-five percent. And they interact — Manhattan skews to entire homes, outer boroughs to private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most interesting finding for me. I expected review volume or availability to move with price. They don't — every correlation with price is under 0.08 in absolute terms, which is effectively zero, and the scatter plots confirm it with no visible structure. Price in this market is simply not explained by how busy a listing is. It's location and room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capped at a thousand on the left, otherwise a few luxury listings flatten everything. Most of the market is under two hundred. Split by borough on the right — Manhattan at 196 against the Bronx at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type is the sharpest divide in the data. An entire home is 211, a private room 90. Two and a half times over for privacy. On the right, a negative result — reviews and availability are unrelated.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 neighbourhoods, but listings pile into a handful. Practically that means it's high cardinality and imbalanced — most neighbourhoods have too few listings to estimate a price, so you group the tail or fall back to borough.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Location and room type set the price, and nothing else comes close. The median is the honest number to quote, not the mean. Activity metrics are not a pricing signal at all. And two structural findings worth flagging: a fifth of all listings have never been reviewed, and professional operators running hundreds of units now sit alongside the median host, who runs exactly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recommendations, each traceable to a finding. Pricing guidance drops the useless features. The badge closes the review gap. The pause toggle fixes a behaviour the data caught. And duplicate flagging closes the gap that let 217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Hardest was the duplicates — no key, so I had to define what the same listing means. Best judgement was keeping the impossible minimum_nights, because reading the names turned dirt into a finding.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18320" y="-1554480"/>
            <a:ext cx="4480560" cy="4480560"/>
          </a:xfrm>
          <a:prstGeom prst="ellipse">
            <a:avLst/>
          </a:prstGeom>
          <a:solidFill>
            <a:srgbClr val="9B78F7">
              <a:alpha val="22000"/>
            </a:srgbClr>
          </a:solidFill>
          <a:ln w="12700">
            <a:solidFill>
              <a:srgbClr val="333333"/>
            </a:solidFill>
            <a:prstDash val="solid"/>
          </a:ln>
        </p:spPr>
      </p:sp>
      <p:sp>
        <p:nvSpPr>
          <p:cNvPr id="3" name="Shape 1"/>
          <p:cNvSpPr/>
          <p:nvPr/>
        </p:nvSpPr>
        <p:spPr>
          <a:xfrm>
            <a:off x="10972800" y="4572000"/>
            <a:ext cx="2377440" cy="2377440"/>
          </a:xfrm>
          <a:prstGeom prst="ellipse">
            <a:avLst/>
          </a:prstGeom>
          <a:solidFill>
            <a:srgbClr val="522CBA">
              <a:alpha val="14000"/>
            </a:srgbClr>
          </a:solidFill>
          <a:ln w="12700">
            <a:solidFill>
              <a:srgbClr val="333333"/>
            </a:solidFill>
            <a:prstDash val="solid"/>
          </a:ln>
        </p:spPr>
      </p:sp>
      <p:sp>
        <p:nvSpPr>
          <p:cNvPr id="4" name="Text 2"/>
          <p:cNvSpPr/>
          <p:nvPr/>
        </p:nvSpPr>
        <p:spPr>
          <a:xfrm>
            <a:off x="822960" y="1691640"/>
            <a:ext cx="8229600" cy="310896"/>
          </a:xfrm>
          <a:prstGeom prst="rect">
            <a:avLst/>
          </a:prstGeom>
          <a:noFill/>
          <a:ln/>
        </p:spPr>
        <p:txBody>
          <a:bodyPr wrap="square" lIns="0" tIns="0" rIns="0" bIns="0" rtlCol="0" anchor="ctr"/>
          <a:lstStyle/>
          <a:p>
            <a:pPr indent="0" marL="0">
              <a:buNone/>
            </a:pPr>
            <a:r>
              <a:rPr lang="en-US" sz="1300" b="1" spc="300" kern="0" dirty="0">
                <a:solidFill>
                  <a:srgbClr val="9B78F7"/>
                </a:solidFill>
                <a:latin typeface="Calibri" pitchFamily="34" charset="0"/>
                <a:ea typeface="Calibri" pitchFamily="34" charset="-122"/>
                <a:cs typeface="Calibri" pitchFamily="34" charset="-120"/>
              </a:rPr>
              <a:t>EXPLORATORY DATA ANALYSIS</a:t>
            </a:r>
            <a:endParaRPr lang="en-US" sz="1300" dirty="0"/>
          </a:p>
        </p:txBody>
      </p:sp>
      <p:sp>
        <p:nvSpPr>
          <p:cNvPr id="5" name="Text 3"/>
          <p:cNvSpPr/>
          <p:nvPr/>
        </p:nvSpPr>
        <p:spPr>
          <a:xfrm>
            <a:off x="822960" y="2103120"/>
            <a:ext cx="8595360" cy="1737360"/>
          </a:xfrm>
          <a:prstGeom prst="rect">
            <a:avLst/>
          </a:prstGeom>
          <a:noFill/>
          <a:ln/>
        </p:spPr>
        <p:txBody>
          <a:bodyPr wrap="square" lIns="0" tIns="0" rIns="0" bIns="0" rtlCol="0" anchor="ctr"/>
          <a:lstStyle/>
          <a:p>
            <a:pPr indent="0" marL="0">
              <a:lnSpc>
                <a:spcPts val="5200"/>
              </a:lnSpc>
              <a:buNone/>
            </a:pPr>
            <a:r>
              <a:rPr lang="en-US" sz="4800" b="1" dirty="0">
                <a:solidFill>
                  <a:srgbClr val="522CBA"/>
                </a:solidFill>
                <a:latin typeface="Cambria" pitchFamily="34" charset="0"/>
                <a:ea typeface="Cambria" pitchFamily="34" charset="-122"/>
                <a:cs typeface="Cambria" pitchFamily="34" charset="-120"/>
              </a:rPr>
              <a:t>New York City</a:t>
            </a:r>
            <a:endParaRPr lang="en-US" sz="4800" dirty="0"/>
          </a:p>
          <a:p>
            <a:pPr indent="0" marL="0">
              <a:lnSpc>
                <a:spcPts val="5200"/>
              </a:lnSpc>
              <a:buNone/>
            </a:pPr>
            <a:r>
              <a:rPr lang="en-US" sz="4800" b="1" dirty="0">
                <a:solidFill>
                  <a:srgbClr val="522CBA"/>
                </a:solidFill>
                <a:latin typeface="Cambria" pitchFamily="34" charset="0"/>
                <a:ea typeface="Cambria" pitchFamily="34" charset="-122"/>
                <a:cs typeface="Cambria" pitchFamily="34" charset="-120"/>
              </a:rPr>
              <a:t>Airbnb Listings</a:t>
            </a:r>
            <a:endParaRPr lang="en-US" sz="4800" dirty="0"/>
          </a:p>
        </p:txBody>
      </p:sp>
      <p:sp>
        <p:nvSpPr>
          <p:cNvPr id="6" name="Text 4"/>
          <p:cNvSpPr/>
          <p:nvPr/>
        </p:nvSpPr>
        <p:spPr>
          <a:xfrm>
            <a:off x="822960" y="3950208"/>
            <a:ext cx="8046720" cy="365760"/>
          </a:xfrm>
          <a:prstGeom prst="rect">
            <a:avLst/>
          </a:prstGeom>
          <a:noFill/>
          <a:ln/>
        </p:spPr>
        <p:txBody>
          <a:bodyPr wrap="square" lIns="0" tIns="0" rIns="0" bIns="0" rtlCol="0" anchor="ctr"/>
          <a:lstStyle/>
          <a:p>
            <a:pPr indent="0" marL="0">
              <a:buNone/>
            </a:pPr>
            <a:r>
              <a:rPr lang="en-US" sz="1700" i="1" dirty="0">
                <a:solidFill>
                  <a:srgbClr val="000000"/>
                </a:solidFill>
                <a:latin typeface="Calibri" pitchFamily="34" charset="0"/>
                <a:ea typeface="Calibri" pitchFamily="34" charset="-122"/>
                <a:cs typeface="Calibri" pitchFamily="34" charset="-120"/>
              </a:rPr>
              <a:t>What drives the price of a bed for the night?</a:t>
            </a:r>
            <a:endParaRPr lang="en-US" sz="1700" dirty="0"/>
          </a:p>
        </p:txBody>
      </p:sp>
      <p:sp>
        <p:nvSpPr>
          <p:cNvPr id="7" name="Text 5"/>
          <p:cNvSpPr/>
          <p:nvPr/>
        </p:nvSpPr>
        <p:spPr>
          <a:xfrm>
            <a:off x="822960" y="4800600"/>
            <a:ext cx="1965960" cy="475488"/>
          </a:xfrm>
          <a:prstGeom prst="rect">
            <a:avLst/>
          </a:prstGeom>
          <a:noFill/>
          <a:ln/>
        </p:spPr>
        <p:txBody>
          <a:bodyPr wrap="square" lIns="0" tIns="0" rIns="0" bIns="0" rtlCol="0" anchor="ctr"/>
          <a:lstStyle/>
          <a:p>
            <a:pPr indent="0" marL="0">
              <a:buNone/>
            </a:pPr>
            <a:r>
              <a:rPr lang="en-US" sz="2700" b="1" dirty="0">
                <a:solidFill>
                  <a:srgbClr val="9B78F7"/>
                </a:solidFill>
                <a:latin typeface="Cambria" pitchFamily="34" charset="0"/>
                <a:ea typeface="Cambria" pitchFamily="34" charset="-122"/>
                <a:cs typeface="Cambria" pitchFamily="34" charset="-120"/>
              </a:rPr>
              <a:t>48,895</a:t>
            </a:r>
            <a:endParaRPr lang="en-US" sz="2700" dirty="0"/>
          </a:p>
        </p:txBody>
      </p:sp>
      <p:sp>
        <p:nvSpPr>
          <p:cNvPr id="8" name="Text 6"/>
          <p:cNvSpPr/>
          <p:nvPr/>
        </p:nvSpPr>
        <p:spPr>
          <a:xfrm>
            <a:off x="822960" y="5285232"/>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Calibri" pitchFamily="34" charset="0"/>
                <a:ea typeface="Calibri" pitchFamily="34" charset="-122"/>
                <a:cs typeface="Calibri" pitchFamily="34" charset="-120"/>
              </a:rPr>
              <a:t>listings</a:t>
            </a:r>
            <a:endParaRPr lang="en-US" sz="1200" dirty="0"/>
          </a:p>
        </p:txBody>
      </p:sp>
      <p:sp>
        <p:nvSpPr>
          <p:cNvPr id="9" name="Text 7"/>
          <p:cNvSpPr/>
          <p:nvPr/>
        </p:nvSpPr>
        <p:spPr>
          <a:xfrm>
            <a:off x="2971800" y="4800600"/>
            <a:ext cx="1965960" cy="475488"/>
          </a:xfrm>
          <a:prstGeom prst="rect">
            <a:avLst/>
          </a:prstGeom>
          <a:noFill/>
          <a:ln/>
        </p:spPr>
        <p:txBody>
          <a:bodyPr wrap="square" lIns="0" tIns="0" rIns="0" bIns="0" rtlCol="0" anchor="ctr"/>
          <a:lstStyle/>
          <a:p>
            <a:pPr indent="0" marL="0">
              <a:buNone/>
            </a:pPr>
            <a:r>
              <a:rPr lang="en-US" sz="2700" b="1" dirty="0">
                <a:solidFill>
                  <a:srgbClr val="9B78F7"/>
                </a:solidFill>
                <a:latin typeface="Cambria" pitchFamily="34" charset="0"/>
                <a:ea typeface="Cambria" pitchFamily="34" charset="-122"/>
                <a:cs typeface="Cambria" pitchFamily="34" charset="-120"/>
              </a:rPr>
              <a:t>5</a:t>
            </a:r>
            <a:endParaRPr lang="en-US" sz="2700" dirty="0"/>
          </a:p>
        </p:txBody>
      </p:sp>
      <p:sp>
        <p:nvSpPr>
          <p:cNvPr id="10" name="Text 8"/>
          <p:cNvSpPr/>
          <p:nvPr/>
        </p:nvSpPr>
        <p:spPr>
          <a:xfrm>
            <a:off x="2971800" y="5285232"/>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Calibri" pitchFamily="34" charset="0"/>
                <a:ea typeface="Calibri" pitchFamily="34" charset="-122"/>
                <a:cs typeface="Calibri" pitchFamily="34" charset="-120"/>
              </a:rPr>
              <a:t>boroughs</a:t>
            </a:r>
            <a:endParaRPr lang="en-US" sz="1200" dirty="0"/>
          </a:p>
        </p:txBody>
      </p:sp>
      <p:sp>
        <p:nvSpPr>
          <p:cNvPr id="11" name="Text 9"/>
          <p:cNvSpPr/>
          <p:nvPr/>
        </p:nvSpPr>
        <p:spPr>
          <a:xfrm>
            <a:off x="5120640" y="4800600"/>
            <a:ext cx="1965960" cy="475488"/>
          </a:xfrm>
          <a:prstGeom prst="rect">
            <a:avLst/>
          </a:prstGeom>
          <a:noFill/>
          <a:ln/>
        </p:spPr>
        <p:txBody>
          <a:bodyPr wrap="square" lIns="0" tIns="0" rIns="0" bIns="0" rtlCol="0" anchor="ctr"/>
          <a:lstStyle/>
          <a:p>
            <a:pPr indent="0" marL="0">
              <a:buNone/>
            </a:pPr>
            <a:r>
              <a:rPr lang="en-US" sz="2700" b="1" dirty="0">
                <a:solidFill>
                  <a:srgbClr val="9B78F7"/>
                </a:solidFill>
                <a:latin typeface="Cambria" pitchFamily="34" charset="0"/>
                <a:ea typeface="Cambria" pitchFamily="34" charset="-122"/>
                <a:cs typeface="Cambria" pitchFamily="34" charset="-120"/>
              </a:rPr>
              <a:t>221</a:t>
            </a:r>
            <a:endParaRPr lang="en-US" sz="2700" dirty="0"/>
          </a:p>
        </p:txBody>
      </p:sp>
      <p:sp>
        <p:nvSpPr>
          <p:cNvPr id="12" name="Text 10"/>
          <p:cNvSpPr/>
          <p:nvPr/>
        </p:nvSpPr>
        <p:spPr>
          <a:xfrm>
            <a:off x="5120640" y="5285232"/>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Calibri" pitchFamily="34" charset="0"/>
                <a:ea typeface="Calibri" pitchFamily="34" charset="-122"/>
                <a:cs typeface="Calibri" pitchFamily="34" charset="-120"/>
              </a:rPr>
              <a:t>neighbourhoods</a:t>
            </a:r>
            <a:endParaRPr lang="en-US" sz="1200" dirty="0"/>
          </a:p>
        </p:txBody>
      </p:sp>
      <p:sp>
        <p:nvSpPr>
          <p:cNvPr id="13" name="Text 11"/>
          <p:cNvSpPr/>
          <p:nvPr/>
        </p:nvSpPr>
        <p:spPr>
          <a:xfrm>
            <a:off x="7269480" y="4800600"/>
            <a:ext cx="1965960" cy="475488"/>
          </a:xfrm>
          <a:prstGeom prst="rect">
            <a:avLst/>
          </a:prstGeom>
          <a:noFill/>
          <a:ln/>
        </p:spPr>
        <p:txBody>
          <a:bodyPr wrap="square" lIns="0" tIns="0" rIns="0" bIns="0" rtlCol="0" anchor="ctr"/>
          <a:lstStyle/>
          <a:p>
            <a:pPr indent="0" marL="0">
              <a:buNone/>
            </a:pPr>
            <a:r>
              <a:rPr lang="en-US" sz="2700" b="1" dirty="0">
                <a:solidFill>
                  <a:srgbClr val="9B78F7"/>
                </a:solidFill>
                <a:latin typeface="Cambria" pitchFamily="34" charset="0"/>
                <a:ea typeface="Cambria" pitchFamily="34" charset="-122"/>
                <a:cs typeface="Cambria" pitchFamily="34" charset="-120"/>
              </a:rPr>
              <a:t>16</a:t>
            </a:r>
            <a:endParaRPr lang="en-US" sz="2700" dirty="0"/>
          </a:p>
        </p:txBody>
      </p:sp>
      <p:sp>
        <p:nvSpPr>
          <p:cNvPr id="14" name="Text 12"/>
          <p:cNvSpPr/>
          <p:nvPr/>
        </p:nvSpPr>
        <p:spPr>
          <a:xfrm>
            <a:off x="7269480" y="5285232"/>
            <a:ext cx="1965960" cy="274320"/>
          </a:xfrm>
          <a:prstGeom prst="rect">
            <a:avLst/>
          </a:prstGeom>
          <a:noFill/>
          <a:ln/>
        </p:spPr>
        <p:txBody>
          <a:bodyPr wrap="square" lIns="0" tIns="0" rIns="0" bIns="0" rtlCol="0" anchor="ctr"/>
          <a:lstStyle/>
          <a:p>
            <a:pPr indent="0" marL="0">
              <a:buNone/>
            </a:pPr>
            <a:r>
              <a:rPr lang="en-US" sz="1200" dirty="0">
                <a:solidFill>
                  <a:srgbClr val="000000"/>
                </a:solidFill>
                <a:latin typeface="Calibri" pitchFamily="34" charset="0"/>
                <a:ea typeface="Calibri" pitchFamily="34" charset="-122"/>
                <a:cs typeface="Calibri" pitchFamily="34" charset="-120"/>
              </a:rPr>
              <a:t>columns</a:t>
            </a:r>
            <a:endParaRPr lang="en-US" sz="1200" dirty="0"/>
          </a:p>
        </p:txBody>
      </p:sp>
      <p:sp>
        <p:nvSpPr>
          <p:cNvPr id="15" name="Text 13"/>
          <p:cNvSpPr/>
          <p:nvPr/>
        </p:nvSpPr>
        <p:spPr>
          <a:xfrm>
            <a:off x="822960" y="6035040"/>
            <a:ext cx="8229600" cy="292608"/>
          </a:xfrm>
          <a:prstGeom prst="rect">
            <a:avLst/>
          </a:prstGeom>
          <a:noFill/>
          <a:ln/>
        </p:spPr>
        <p:txBody>
          <a:bodyPr wrap="square" lIns="0" tIns="0" rIns="0" bIns="0" rtlCol="0" anchor="ctr"/>
          <a:lstStyle/>
          <a:p>
            <a:pPr indent="0" marL="0">
              <a:buNone/>
            </a:pPr>
            <a:r>
              <a:rPr lang="en-US" sz="1300" b="1" dirty="0">
                <a:solidFill>
                  <a:srgbClr val="522CBA"/>
                </a:solidFill>
                <a:latin typeface="Calibri" pitchFamily="34" charset="0"/>
                <a:ea typeface="Calibri" pitchFamily="34" charset="-122"/>
                <a:cs typeface="Calibri" pitchFamily="34" charset="-120"/>
              </a:rPr>
              <a:t>Khalid Al Dosari  ·  Tuwaiq Bootcamp</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The data</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One row = one listing</a:t>
            </a:r>
            <a:endParaRPr lang="en-US" sz="1500" dirty="0"/>
          </a:p>
        </p:txBody>
      </p:sp>
      <p:sp>
        <p:nvSpPr>
          <p:cNvPr id="4" name="Shape 2"/>
          <p:cNvSpPr/>
          <p:nvPr/>
        </p:nvSpPr>
        <p:spPr>
          <a:xfrm>
            <a:off x="566928"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5" name="Text 3"/>
          <p:cNvSpPr/>
          <p:nvPr/>
        </p:nvSpPr>
        <p:spPr>
          <a:xfrm>
            <a:off x="768096" y="1773936"/>
            <a:ext cx="2286000" cy="512064"/>
          </a:xfrm>
          <a:prstGeom prst="rect">
            <a:avLst/>
          </a:prstGeom>
          <a:noFill/>
          <a:ln/>
        </p:spPr>
        <p:txBody>
          <a:bodyPr wrap="square" lIns="0" tIns="0" rIns="0" bIns="0" rtlCol="0" anchor="ctr"/>
          <a:lstStyle/>
          <a:p>
            <a:pPr indent="0" marL="0">
              <a:buNone/>
            </a:pPr>
            <a:r>
              <a:rPr lang="en-US" sz="2500" b="1" dirty="0">
                <a:solidFill>
                  <a:srgbClr val="522CBA"/>
                </a:solidFill>
                <a:latin typeface="Cambria" pitchFamily="34" charset="0"/>
                <a:ea typeface="Cambria" pitchFamily="34" charset="-122"/>
                <a:cs typeface="Cambria" pitchFamily="34" charset="-120"/>
              </a:rPr>
              <a:t>48,895</a:t>
            </a:r>
            <a:endParaRPr lang="en-US" sz="2500" dirty="0"/>
          </a:p>
        </p:txBody>
      </p:sp>
      <p:sp>
        <p:nvSpPr>
          <p:cNvPr id="6" name="Text 4"/>
          <p:cNvSpPr/>
          <p:nvPr/>
        </p:nvSpPr>
        <p:spPr>
          <a:xfrm>
            <a:off x="768096"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rows</a:t>
            </a:r>
            <a:endParaRPr lang="en-US" sz="1300" dirty="0"/>
          </a:p>
        </p:txBody>
      </p:sp>
      <p:sp>
        <p:nvSpPr>
          <p:cNvPr id="7" name="Shape 5"/>
          <p:cNvSpPr/>
          <p:nvPr/>
        </p:nvSpPr>
        <p:spPr>
          <a:xfrm>
            <a:off x="3392424"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Text 6"/>
          <p:cNvSpPr/>
          <p:nvPr/>
        </p:nvSpPr>
        <p:spPr>
          <a:xfrm>
            <a:off x="3593592" y="1773936"/>
            <a:ext cx="2286000" cy="512064"/>
          </a:xfrm>
          <a:prstGeom prst="rect">
            <a:avLst/>
          </a:prstGeom>
          <a:noFill/>
          <a:ln/>
        </p:spPr>
        <p:txBody>
          <a:bodyPr wrap="square" lIns="0" tIns="0" rIns="0" bIns="0" rtlCol="0" anchor="ctr"/>
          <a:lstStyle/>
          <a:p>
            <a:pPr indent="0" marL="0">
              <a:buNone/>
            </a:pPr>
            <a:r>
              <a:rPr lang="en-US" sz="2500" b="1" dirty="0">
                <a:solidFill>
                  <a:srgbClr val="522CBA"/>
                </a:solidFill>
                <a:latin typeface="Cambria" pitchFamily="34" charset="0"/>
                <a:ea typeface="Cambria" pitchFamily="34" charset="-122"/>
                <a:cs typeface="Cambria" pitchFamily="34" charset="-120"/>
              </a:rPr>
              <a:t>16</a:t>
            </a:r>
            <a:endParaRPr lang="en-US" sz="2500" dirty="0"/>
          </a:p>
        </p:txBody>
      </p:sp>
      <p:sp>
        <p:nvSpPr>
          <p:cNvPr id="9" name="Text 7"/>
          <p:cNvSpPr/>
          <p:nvPr/>
        </p:nvSpPr>
        <p:spPr>
          <a:xfrm>
            <a:off x="3593592"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columns</a:t>
            </a:r>
            <a:endParaRPr lang="en-US" sz="1300" dirty="0"/>
          </a:p>
        </p:txBody>
      </p:sp>
      <p:sp>
        <p:nvSpPr>
          <p:cNvPr id="10" name="Shape 8"/>
          <p:cNvSpPr/>
          <p:nvPr/>
        </p:nvSpPr>
        <p:spPr>
          <a:xfrm>
            <a:off x="6217920"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1" name="Text 9"/>
          <p:cNvSpPr/>
          <p:nvPr/>
        </p:nvSpPr>
        <p:spPr>
          <a:xfrm>
            <a:off x="6419088" y="1773936"/>
            <a:ext cx="2286000" cy="512064"/>
          </a:xfrm>
          <a:prstGeom prst="rect">
            <a:avLst/>
          </a:prstGeom>
          <a:noFill/>
          <a:ln/>
        </p:spPr>
        <p:txBody>
          <a:bodyPr wrap="square" lIns="0" tIns="0" rIns="0" bIns="0" rtlCol="0" anchor="ctr"/>
          <a:lstStyle/>
          <a:p>
            <a:pPr indent="0" marL="0">
              <a:buNone/>
            </a:pPr>
            <a:r>
              <a:rPr lang="en-US" sz="2500" b="1" dirty="0">
                <a:solidFill>
                  <a:srgbClr val="522CBA"/>
                </a:solidFill>
                <a:latin typeface="Cambria" pitchFamily="34" charset="0"/>
                <a:ea typeface="Cambria" pitchFamily="34" charset="-122"/>
                <a:cs typeface="Cambria" pitchFamily="34" charset="-120"/>
              </a:rPr>
              <a:t>20.3%</a:t>
            </a:r>
            <a:endParaRPr lang="en-US" sz="2500" dirty="0"/>
          </a:p>
        </p:txBody>
      </p:sp>
      <p:sp>
        <p:nvSpPr>
          <p:cNvPr id="12" name="Text 10"/>
          <p:cNvSpPr/>
          <p:nvPr/>
        </p:nvSpPr>
        <p:spPr>
          <a:xfrm>
            <a:off x="6419088"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never reviewed</a:t>
            </a:r>
            <a:endParaRPr lang="en-US" sz="1300" dirty="0"/>
          </a:p>
        </p:txBody>
      </p:sp>
      <p:sp>
        <p:nvSpPr>
          <p:cNvPr id="13" name="Shape 11"/>
          <p:cNvSpPr/>
          <p:nvPr/>
        </p:nvSpPr>
        <p:spPr>
          <a:xfrm>
            <a:off x="9043416" y="1591056"/>
            <a:ext cx="2615184" cy="1298448"/>
          </a:xfrm>
          <a:prstGeom prst="roundRect">
            <a:avLst>
              <a:gd name="adj" fmla="val 563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4" name="Text 12"/>
          <p:cNvSpPr/>
          <p:nvPr/>
        </p:nvSpPr>
        <p:spPr>
          <a:xfrm>
            <a:off x="9244584" y="1773936"/>
            <a:ext cx="2286000" cy="512064"/>
          </a:xfrm>
          <a:prstGeom prst="rect">
            <a:avLst/>
          </a:prstGeom>
          <a:noFill/>
          <a:ln/>
        </p:spPr>
        <p:txBody>
          <a:bodyPr wrap="square" lIns="0" tIns="0" rIns="0" bIns="0" rtlCol="0" anchor="ctr"/>
          <a:lstStyle/>
          <a:p>
            <a:pPr indent="0" marL="0">
              <a:buNone/>
            </a:pPr>
            <a:r>
              <a:rPr lang="en-US" sz="2500" b="1" dirty="0">
                <a:solidFill>
                  <a:srgbClr val="522CBA"/>
                </a:solidFill>
                <a:latin typeface="Cambria" pitchFamily="34" charset="0"/>
                <a:ea typeface="Cambria" pitchFamily="34" charset="-122"/>
                <a:cs typeface="Cambria" pitchFamily="34" charset="-120"/>
              </a:rPr>
              <a:t>8 Jul 2019</a:t>
            </a:r>
            <a:endParaRPr lang="en-US" sz="2500" dirty="0"/>
          </a:p>
        </p:txBody>
      </p:sp>
      <p:sp>
        <p:nvSpPr>
          <p:cNvPr id="15" name="Text 13"/>
          <p:cNvSpPr/>
          <p:nvPr/>
        </p:nvSpPr>
        <p:spPr>
          <a:xfrm>
            <a:off x="9244584" y="2304288"/>
            <a:ext cx="2286000" cy="402336"/>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last review</a:t>
            </a:r>
            <a:endParaRPr lang="en-US" sz="1300" dirty="0"/>
          </a:p>
        </p:txBody>
      </p:sp>
      <p:sp>
        <p:nvSpPr>
          <p:cNvPr id="16" name="Shape 14"/>
          <p:cNvSpPr/>
          <p:nvPr/>
        </p:nvSpPr>
        <p:spPr>
          <a:xfrm>
            <a:off x="566928" y="3127248"/>
            <a:ext cx="5532120" cy="3017520"/>
          </a:xfrm>
          <a:prstGeom prst="roundRect">
            <a:avLst>
              <a:gd name="adj" fmla="val 242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7" name="Text 15"/>
          <p:cNvSpPr/>
          <p:nvPr/>
        </p:nvSpPr>
        <p:spPr>
          <a:xfrm>
            <a:off x="841248" y="3328416"/>
            <a:ext cx="5029200" cy="329184"/>
          </a:xfrm>
          <a:prstGeom prst="rect">
            <a:avLst/>
          </a:prstGeom>
          <a:noFill/>
          <a:ln/>
        </p:spPr>
        <p:txBody>
          <a:bodyPr wrap="square" lIns="0" tIns="0" rIns="0" bIns="0" rtlCol="0" anchor="ctr"/>
          <a:lstStyle/>
          <a:p>
            <a:pPr indent="0" marL="0">
              <a:buNone/>
            </a:pPr>
            <a:r>
              <a:rPr lang="en-US" sz="1700" b="1" dirty="0">
                <a:solidFill>
                  <a:srgbClr val="9B78F7"/>
                </a:solidFill>
                <a:latin typeface="Calibri" pitchFamily="34" charset="0"/>
                <a:ea typeface="Calibri" pitchFamily="34" charset="-122"/>
                <a:cs typeface="Calibri" pitchFamily="34" charset="-120"/>
              </a:rPr>
              <a:t>Numerical</a:t>
            </a:r>
            <a:endParaRPr lang="en-US" sz="1700" dirty="0"/>
          </a:p>
        </p:txBody>
      </p:sp>
      <p:sp>
        <p:nvSpPr>
          <p:cNvPr id="18" name="Text 16"/>
          <p:cNvSpPr/>
          <p:nvPr/>
        </p:nvSpPr>
        <p:spPr>
          <a:xfrm>
            <a:off x="841248" y="3712464"/>
            <a:ext cx="4983480" cy="1737360"/>
          </a:xfrm>
          <a:prstGeom prst="rect">
            <a:avLst/>
          </a:prstGeom>
          <a:noFill/>
          <a:ln/>
        </p:spPr>
        <p:txBody>
          <a:bodyPr wrap="square" lIns="0" tIns="0" rIns="0" bIns="0" rtlCol="0" anchor="ctr"/>
          <a:lstStyle/>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price · minimum_nights · availability_365</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number_of_reviews · reviews_per_month</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calculated_host_listings_count</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id and host_id are labels, not measurements</a:t>
            </a:r>
            <a:endParaRPr lang="en-US" sz="1500" dirty="0"/>
          </a:p>
        </p:txBody>
      </p:sp>
      <p:sp>
        <p:nvSpPr>
          <p:cNvPr id="19" name="Text 17"/>
          <p:cNvSpPr/>
          <p:nvPr/>
        </p:nvSpPr>
        <p:spPr>
          <a:xfrm>
            <a:off x="841248" y="5577840"/>
            <a:ext cx="4983480" cy="365760"/>
          </a:xfrm>
          <a:prstGeom prst="rect">
            <a:avLst/>
          </a:prstGeom>
          <a:noFill/>
          <a:ln/>
        </p:spPr>
        <p:txBody>
          <a:bodyPr wrap="square" lIns="0" tIns="0" rIns="0" bIns="0" rtlCol="0" anchor="ctr"/>
          <a:lstStyle/>
          <a:p>
            <a:pPr indent="0" marL="0">
              <a:buNone/>
            </a:pPr>
            <a:r>
              <a:rPr lang="en-US" sz="1400" b="1" dirty="0">
                <a:solidFill>
                  <a:srgbClr val="522CBA"/>
                </a:solidFill>
                <a:latin typeface="Calibri" pitchFamily="34" charset="0"/>
                <a:ea typeface="Calibri" pitchFamily="34" charset="-122"/>
                <a:cs typeface="Calibri" pitchFamily="34" charset="-120"/>
              </a:rPr>
              <a:t>No target variable — price if modelled</a:t>
            </a:r>
            <a:endParaRPr lang="en-US" sz="1400" dirty="0"/>
          </a:p>
        </p:txBody>
      </p:sp>
      <p:sp>
        <p:nvSpPr>
          <p:cNvPr id="20" name="Shape 18"/>
          <p:cNvSpPr/>
          <p:nvPr/>
        </p:nvSpPr>
        <p:spPr>
          <a:xfrm>
            <a:off x="6355080" y="3127248"/>
            <a:ext cx="5285232" cy="3017520"/>
          </a:xfrm>
          <a:prstGeom prst="roundRect">
            <a:avLst>
              <a:gd name="adj" fmla="val 2424"/>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1" name="Text 19"/>
          <p:cNvSpPr/>
          <p:nvPr/>
        </p:nvSpPr>
        <p:spPr>
          <a:xfrm>
            <a:off x="6629400" y="3328416"/>
            <a:ext cx="4754880" cy="329184"/>
          </a:xfrm>
          <a:prstGeom prst="rect">
            <a:avLst/>
          </a:prstGeom>
          <a:noFill/>
          <a:ln/>
        </p:spPr>
        <p:txBody>
          <a:bodyPr wrap="square" lIns="0" tIns="0" rIns="0" bIns="0" rtlCol="0" anchor="ctr"/>
          <a:lstStyle/>
          <a:p>
            <a:pPr indent="0" marL="0">
              <a:buNone/>
            </a:pPr>
            <a:r>
              <a:rPr lang="en-US" sz="1700" b="1" dirty="0">
                <a:solidFill>
                  <a:srgbClr val="9B78F7"/>
                </a:solidFill>
                <a:latin typeface="Calibri" pitchFamily="34" charset="0"/>
                <a:ea typeface="Calibri" pitchFamily="34" charset="-122"/>
                <a:cs typeface="Calibri" pitchFamily="34" charset="-120"/>
              </a:rPr>
              <a:t>Categorical</a:t>
            </a:r>
            <a:endParaRPr lang="en-US" sz="1700" dirty="0"/>
          </a:p>
        </p:txBody>
      </p:sp>
      <p:sp>
        <p:nvSpPr>
          <p:cNvPr id="22" name="Text 20"/>
          <p:cNvSpPr/>
          <p:nvPr/>
        </p:nvSpPr>
        <p:spPr>
          <a:xfrm>
            <a:off x="6629400" y="3712464"/>
            <a:ext cx="4754880" cy="1737360"/>
          </a:xfrm>
          <a:prstGeom prst="rect">
            <a:avLst/>
          </a:prstGeom>
          <a:noFill/>
          <a:ln/>
        </p:spPr>
        <p:txBody>
          <a:bodyPr wrap="square" lIns="0" tIns="0" rIns="0" bIns="0" rtlCol="0" anchor="ctr"/>
          <a:lstStyle/>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neighbourhood_group — 5 boroughs</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neighbourhood — 221, imbalanced</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room_type — 3 values</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host_name — free text</a:t>
            </a:r>
            <a:endParaRPr lang="en-US" sz="1500" dirty="0"/>
          </a:p>
        </p:txBody>
      </p:sp>
      <p:sp>
        <p:nvSpPr>
          <p:cNvPr id="23" name="Text 21"/>
          <p:cNvSpPr/>
          <p:nvPr/>
        </p:nvSpPr>
        <p:spPr>
          <a:xfrm>
            <a:off x="6629400" y="5577840"/>
            <a:ext cx="4754880" cy="365760"/>
          </a:xfrm>
          <a:prstGeom prst="rect">
            <a:avLst/>
          </a:prstGeom>
          <a:noFill/>
          <a:ln/>
        </p:spPr>
        <p:txBody>
          <a:bodyPr wrap="square" lIns="0" tIns="0" rIns="0" bIns="0" rtlCol="0" anchor="ctr"/>
          <a:lstStyle/>
          <a:p>
            <a:pPr indent="0" marL="0">
              <a:buNone/>
            </a:pPr>
            <a:r>
              <a:rPr lang="en-US" sz="1400" b="1" dirty="0">
                <a:solidFill>
                  <a:srgbClr val="522CBA"/>
                </a:solidFill>
                <a:latin typeface="Calibri" pitchFamily="34" charset="0"/>
                <a:ea typeface="Calibri" pitchFamily="34" charset="-122"/>
                <a:cs typeface="Calibri" pitchFamily="34" charset="-120"/>
              </a:rPr>
              <a:t>Not categorical — name, last_review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Six problems, six fixes</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The decision matters more than the method</a:t>
            </a:r>
            <a:endParaRPr lang="en-US" sz="1500" dirty="0"/>
          </a:p>
        </p:txBody>
      </p:sp>
      <p:sp>
        <p:nvSpPr>
          <p:cNvPr id="4" name="Text 2"/>
          <p:cNvSpPr/>
          <p:nvPr/>
        </p:nvSpPr>
        <p:spPr>
          <a:xfrm>
            <a:off x="1481328" y="1481328"/>
            <a:ext cx="2743200" cy="256032"/>
          </a:xfrm>
          <a:prstGeom prst="rect">
            <a:avLst/>
          </a:prstGeom>
          <a:noFill/>
          <a:ln/>
        </p:spPr>
        <p:txBody>
          <a:bodyPr wrap="square" lIns="0" tIns="0" rIns="0" bIns="0" rtlCol="0" anchor="ctr"/>
          <a:lstStyle/>
          <a:p>
            <a:pPr indent="0" marL="0">
              <a:buNone/>
            </a:pPr>
            <a:r>
              <a:rPr lang="en-US" sz="1100" b="1" spc="200" kern="0" dirty="0">
                <a:solidFill>
                  <a:srgbClr val="9B78F7"/>
                </a:solidFill>
                <a:latin typeface="Calibri" pitchFamily="34" charset="0"/>
                <a:ea typeface="Calibri" pitchFamily="34" charset="-122"/>
                <a:cs typeface="Calibri" pitchFamily="34" charset="-120"/>
              </a:rPr>
              <a:t>PROBLEM</a:t>
            </a:r>
            <a:endParaRPr lang="en-US" sz="1100" dirty="0"/>
          </a:p>
        </p:txBody>
      </p:sp>
      <p:sp>
        <p:nvSpPr>
          <p:cNvPr id="5" name="Text 3"/>
          <p:cNvSpPr/>
          <p:nvPr/>
        </p:nvSpPr>
        <p:spPr>
          <a:xfrm>
            <a:off x="4315968" y="1481328"/>
            <a:ext cx="3566160" cy="256032"/>
          </a:xfrm>
          <a:prstGeom prst="rect">
            <a:avLst/>
          </a:prstGeom>
          <a:noFill/>
          <a:ln/>
        </p:spPr>
        <p:txBody>
          <a:bodyPr wrap="square" lIns="0" tIns="0" rIns="0" bIns="0" rtlCol="0" anchor="ctr"/>
          <a:lstStyle/>
          <a:p>
            <a:pPr indent="0" marL="0">
              <a:buNone/>
            </a:pPr>
            <a:r>
              <a:rPr lang="en-US" sz="1100" b="1" spc="200" kern="0" dirty="0">
                <a:solidFill>
                  <a:srgbClr val="9B78F7"/>
                </a:solidFill>
                <a:latin typeface="Calibri" pitchFamily="34" charset="0"/>
                <a:ea typeface="Calibri" pitchFamily="34" charset="-122"/>
                <a:cs typeface="Calibri" pitchFamily="34" charset="-120"/>
              </a:rPr>
              <a:t>WHAT I FOUND</a:t>
            </a:r>
            <a:endParaRPr lang="en-US" sz="1100" dirty="0"/>
          </a:p>
        </p:txBody>
      </p:sp>
      <p:sp>
        <p:nvSpPr>
          <p:cNvPr id="6" name="Text 4"/>
          <p:cNvSpPr/>
          <p:nvPr/>
        </p:nvSpPr>
        <p:spPr>
          <a:xfrm>
            <a:off x="8001000" y="1481328"/>
            <a:ext cx="3383280" cy="256032"/>
          </a:xfrm>
          <a:prstGeom prst="rect">
            <a:avLst/>
          </a:prstGeom>
          <a:noFill/>
          <a:ln/>
        </p:spPr>
        <p:txBody>
          <a:bodyPr wrap="square" lIns="0" tIns="0" rIns="0" bIns="0" rtlCol="0" anchor="ctr"/>
          <a:lstStyle/>
          <a:p>
            <a:pPr indent="0" marL="0">
              <a:buNone/>
            </a:pPr>
            <a:r>
              <a:rPr lang="en-US" sz="1100" b="1" spc="200" kern="0" dirty="0">
                <a:solidFill>
                  <a:srgbClr val="9B78F7"/>
                </a:solidFill>
                <a:latin typeface="Calibri" pitchFamily="34" charset="0"/>
                <a:ea typeface="Calibri" pitchFamily="34" charset="-122"/>
                <a:cs typeface="Calibri" pitchFamily="34" charset="-120"/>
              </a:rPr>
              <a:t>FIX</a:t>
            </a:r>
            <a:endParaRPr lang="en-US" sz="1100" dirty="0"/>
          </a:p>
        </p:txBody>
      </p:sp>
      <p:sp>
        <p:nvSpPr>
          <p:cNvPr id="7" name="Shape 5"/>
          <p:cNvSpPr/>
          <p:nvPr/>
        </p:nvSpPr>
        <p:spPr>
          <a:xfrm>
            <a:off x="566928" y="1828800"/>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8" name="Shape 6"/>
          <p:cNvSpPr/>
          <p:nvPr/>
        </p:nvSpPr>
        <p:spPr>
          <a:xfrm>
            <a:off x="822960" y="1984248"/>
            <a:ext cx="384048" cy="384048"/>
          </a:xfrm>
          <a:prstGeom prst="ellipse">
            <a:avLst/>
          </a:prstGeom>
          <a:solidFill>
            <a:srgbClr val="522CBA"/>
          </a:solidFill>
          <a:ln w="12700">
            <a:solidFill>
              <a:srgbClr val="333333"/>
            </a:solidFill>
            <a:prstDash val="solid"/>
          </a:ln>
        </p:spPr>
      </p:sp>
      <p:sp>
        <p:nvSpPr>
          <p:cNvPr id="9" name="Text 7"/>
          <p:cNvSpPr/>
          <p:nvPr/>
        </p:nvSpPr>
        <p:spPr>
          <a:xfrm>
            <a:off x="822960" y="1984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p:nvPr/>
        </p:nvSpPr>
        <p:spPr>
          <a:xfrm>
            <a:off x="1481328" y="1856232"/>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Missing values</a:t>
            </a:r>
            <a:endParaRPr lang="en-US" sz="1500" dirty="0"/>
          </a:p>
        </p:txBody>
      </p:sp>
      <p:sp>
        <p:nvSpPr>
          <p:cNvPr id="11" name="Text 9"/>
          <p:cNvSpPr/>
          <p:nvPr/>
        </p:nvSpPr>
        <p:spPr>
          <a:xfrm>
            <a:off x="4315968" y="1856232"/>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9,901 with no reviews — 20.3%</a:t>
            </a:r>
            <a:endParaRPr lang="en-US" sz="1400" dirty="0"/>
          </a:p>
        </p:txBody>
      </p:sp>
      <p:sp>
        <p:nvSpPr>
          <p:cNvPr id="12" name="Text 10"/>
          <p:cNvSpPr/>
          <p:nvPr/>
        </p:nvSpPr>
        <p:spPr>
          <a:xfrm>
            <a:off x="8001000" y="1856232"/>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reviews_per_month → 0</a:t>
            </a:r>
            <a:endParaRPr lang="en-US" sz="1500" dirty="0"/>
          </a:p>
        </p:txBody>
      </p:sp>
      <p:sp>
        <p:nvSpPr>
          <p:cNvPr id="13" name="Shape 11"/>
          <p:cNvSpPr/>
          <p:nvPr/>
        </p:nvSpPr>
        <p:spPr>
          <a:xfrm>
            <a:off x="566928" y="2587752"/>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4" name="Shape 12"/>
          <p:cNvSpPr/>
          <p:nvPr/>
        </p:nvSpPr>
        <p:spPr>
          <a:xfrm>
            <a:off x="822960" y="2743200"/>
            <a:ext cx="384048" cy="384048"/>
          </a:xfrm>
          <a:prstGeom prst="ellipse">
            <a:avLst/>
          </a:prstGeom>
          <a:solidFill>
            <a:srgbClr val="9B78F7"/>
          </a:solidFill>
          <a:ln w="12700">
            <a:solidFill>
              <a:srgbClr val="333333"/>
            </a:solidFill>
            <a:prstDash val="solid"/>
          </a:ln>
        </p:spPr>
      </p:sp>
      <p:sp>
        <p:nvSpPr>
          <p:cNvPr id="15" name="Text 13"/>
          <p:cNvSpPr/>
          <p:nvPr/>
        </p:nvSpPr>
        <p:spPr>
          <a:xfrm>
            <a:off x="822960" y="2743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1481328" y="2615184"/>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Hidden duplicates</a:t>
            </a:r>
            <a:endParaRPr lang="en-US" sz="1500" dirty="0"/>
          </a:p>
        </p:txBody>
      </p:sp>
      <p:sp>
        <p:nvSpPr>
          <p:cNvPr id="17" name="Text 15"/>
          <p:cNvSpPr/>
          <p:nvPr/>
        </p:nvSpPr>
        <p:spPr>
          <a:xfrm>
            <a:off x="4315968" y="2615184"/>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duplicated() said 0 · really 217</a:t>
            </a:r>
            <a:endParaRPr lang="en-US" sz="1400" dirty="0"/>
          </a:p>
        </p:txBody>
      </p:sp>
      <p:sp>
        <p:nvSpPr>
          <p:cNvPr id="18" name="Text 16"/>
          <p:cNvSpPr/>
          <p:nvPr/>
        </p:nvSpPr>
        <p:spPr>
          <a:xfrm>
            <a:off x="8001000" y="2615184"/>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keep the most recent</a:t>
            </a:r>
            <a:endParaRPr lang="en-US" sz="1500" dirty="0"/>
          </a:p>
        </p:txBody>
      </p:sp>
      <p:sp>
        <p:nvSpPr>
          <p:cNvPr id="19" name="Shape 17"/>
          <p:cNvSpPr/>
          <p:nvPr/>
        </p:nvSpPr>
        <p:spPr>
          <a:xfrm>
            <a:off x="566928" y="3346704"/>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0" name="Shape 18"/>
          <p:cNvSpPr/>
          <p:nvPr/>
        </p:nvSpPr>
        <p:spPr>
          <a:xfrm>
            <a:off x="822960" y="3502152"/>
            <a:ext cx="384048" cy="384048"/>
          </a:xfrm>
          <a:prstGeom prst="ellipse">
            <a:avLst/>
          </a:prstGeom>
          <a:solidFill>
            <a:srgbClr val="522CBA"/>
          </a:solidFill>
          <a:ln w="12700">
            <a:solidFill>
              <a:srgbClr val="333333"/>
            </a:solidFill>
            <a:prstDash val="solid"/>
          </a:ln>
        </p:spPr>
      </p:sp>
      <p:sp>
        <p:nvSpPr>
          <p:cNvPr id="21" name="Text 19"/>
          <p:cNvSpPr/>
          <p:nvPr/>
        </p:nvSpPr>
        <p:spPr>
          <a:xfrm>
            <a:off x="822960" y="3502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p:nvPr/>
        </p:nvSpPr>
        <p:spPr>
          <a:xfrm>
            <a:off x="1481328" y="3374136"/>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Wrong data type</a:t>
            </a:r>
            <a:endParaRPr lang="en-US" sz="1500" dirty="0"/>
          </a:p>
        </p:txBody>
      </p:sp>
      <p:sp>
        <p:nvSpPr>
          <p:cNvPr id="23" name="Text 21"/>
          <p:cNvSpPr/>
          <p:nvPr/>
        </p:nvSpPr>
        <p:spPr>
          <a:xfrm>
            <a:off x="4315968" y="3374136"/>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last_review stored as text</a:t>
            </a:r>
            <a:endParaRPr lang="en-US" sz="1400" dirty="0"/>
          </a:p>
        </p:txBody>
      </p:sp>
      <p:sp>
        <p:nvSpPr>
          <p:cNvPr id="24" name="Text 22"/>
          <p:cNvSpPr/>
          <p:nvPr/>
        </p:nvSpPr>
        <p:spPr>
          <a:xfrm>
            <a:off x="8001000" y="3374136"/>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convert to datetime</a:t>
            </a:r>
            <a:endParaRPr lang="en-US" sz="1500" dirty="0"/>
          </a:p>
        </p:txBody>
      </p:sp>
      <p:sp>
        <p:nvSpPr>
          <p:cNvPr id="25" name="Shape 23"/>
          <p:cNvSpPr/>
          <p:nvPr/>
        </p:nvSpPr>
        <p:spPr>
          <a:xfrm>
            <a:off x="566928" y="4105656"/>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6" name="Shape 24"/>
          <p:cNvSpPr/>
          <p:nvPr/>
        </p:nvSpPr>
        <p:spPr>
          <a:xfrm>
            <a:off x="822960" y="4261104"/>
            <a:ext cx="384048" cy="384048"/>
          </a:xfrm>
          <a:prstGeom prst="ellipse">
            <a:avLst/>
          </a:prstGeom>
          <a:solidFill>
            <a:srgbClr val="9B78F7"/>
          </a:solidFill>
          <a:ln w="12700">
            <a:solidFill>
              <a:srgbClr val="333333"/>
            </a:solidFill>
            <a:prstDash val="solid"/>
          </a:ln>
        </p:spPr>
      </p:sp>
      <p:sp>
        <p:nvSpPr>
          <p:cNvPr id="27" name="Text 25"/>
          <p:cNvSpPr/>
          <p:nvPr/>
        </p:nvSpPr>
        <p:spPr>
          <a:xfrm>
            <a:off x="822960" y="42611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p:nvPr/>
        </p:nvSpPr>
        <p:spPr>
          <a:xfrm>
            <a:off x="1481328" y="4133088"/>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Invalid values</a:t>
            </a:r>
            <a:endParaRPr lang="en-US" sz="1500" dirty="0"/>
          </a:p>
        </p:txBody>
      </p:sp>
      <p:sp>
        <p:nvSpPr>
          <p:cNvPr id="29" name="Text 27"/>
          <p:cNvSpPr/>
          <p:nvPr/>
        </p:nvSpPr>
        <p:spPr>
          <a:xfrm>
            <a:off x="4315968" y="4133088"/>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11 listings priced at $0</a:t>
            </a:r>
            <a:endParaRPr lang="en-US" sz="1400" dirty="0"/>
          </a:p>
        </p:txBody>
      </p:sp>
      <p:sp>
        <p:nvSpPr>
          <p:cNvPr id="30" name="Text 28"/>
          <p:cNvSpPr/>
          <p:nvPr/>
        </p:nvSpPr>
        <p:spPr>
          <a:xfrm>
            <a:off x="8001000" y="4133088"/>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group median by location</a:t>
            </a:r>
            <a:endParaRPr lang="en-US" sz="1500" dirty="0"/>
          </a:p>
        </p:txBody>
      </p:sp>
      <p:sp>
        <p:nvSpPr>
          <p:cNvPr id="31" name="Shape 29"/>
          <p:cNvSpPr/>
          <p:nvPr/>
        </p:nvSpPr>
        <p:spPr>
          <a:xfrm>
            <a:off x="566928" y="4864608"/>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32" name="Shape 30"/>
          <p:cNvSpPr/>
          <p:nvPr/>
        </p:nvSpPr>
        <p:spPr>
          <a:xfrm>
            <a:off x="822960" y="5020056"/>
            <a:ext cx="384048" cy="384048"/>
          </a:xfrm>
          <a:prstGeom prst="ellipse">
            <a:avLst/>
          </a:prstGeom>
          <a:solidFill>
            <a:srgbClr val="522CBA"/>
          </a:solidFill>
          <a:ln w="12700">
            <a:solidFill>
              <a:srgbClr val="333333"/>
            </a:solidFill>
            <a:prstDash val="solid"/>
          </a:ln>
        </p:spPr>
      </p:sp>
      <p:sp>
        <p:nvSpPr>
          <p:cNvPr id="33" name="Text 31"/>
          <p:cNvSpPr/>
          <p:nvPr/>
        </p:nvSpPr>
        <p:spPr>
          <a:xfrm>
            <a:off x="822960" y="50200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4" name="Text 32"/>
          <p:cNvSpPr/>
          <p:nvPr/>
        </p:nvSpPr>
        <p:spPr>
          <a:xfrm>
            <a:off x="1481328" y="4892040"/>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Inconsistent categories</a:t>
            </a:r>
            <a:endParaRPr lang="en-US" sz="1500" dirty="0"/>
          </a:p>
        </p:txBody>
      </p:sp>
      <p:sp>
        <p:nvSpPr>
          <p:cNvPr id="35" name="Text 33"/>
          <p:cNvSpPr/>
          <p:nvPr/>
        </p:nvSpPr>
        <p:spPr>
          <a:xfrm>
            <a:off x="4315968" y="4892040"/>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11,453 host names → 11,429</a:t>
            </a:r>
            <a:endParaRPr lang="en-US" sz="1400" dirty="0"/>
          </a:p>
        </p:txBody>
      </p:sp>
      <p:sp>
        <p:nvSpPr>
          <p:cNvPr id="36" name="Text 34"/>
          <p:cNvSpPr/>
          <p:nvPr/>
        </p:nvSpPr>
        <p:spPr>
          <a:xfrm>
            <a:off x="8001000" y="4892040"/>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lowercase + strip</a:t>
            </a:r>
            <a:endParaRPr lang="en-US" sz="1500" dirty="0"/>
          </a:p>
        </p:txBody>
      </p:sp>
      <p:sp>
        <p:nvSpPr>
          <p:cNvPr id="37" name="Shape 35"/>
          <p:cNvSpPr/>
          <p:nvPr/>
        </p:nvSpPr>
        <p:spPr>
          <a:xfrm>
            <a:off x="566928" y="5623560"/>
            <a:ext cx="11073384" cy="685800"/>
          </a:xfrm>
          <a:prstGeom prst="roundRect">
            <a:avLst>
              <a:gd name="adj" fmla="val 1066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38" name="Shape 36"/>
          <p:cNvSpPr/>
          <p:nvPr/>
        </p:nvSpPr>
        <p:spPr>
          <a:xfrm>
            <a:off x="822960" y="5779008"/>
            <a:ext cx="384048" cy="384048"/>
          </a:xfrm>
          <a:prstGeom prst="ellipse">
            <a:avLst/>
          </a:prstGeom>
          <a:solidFill>
            <a:srgbClr val="9B78F7"/>
          </a:solidFill>
          <a:ln w="12700">
            <a:solidFill>
              <a:srgbClr val="333333"/>
            </a:solidFill>
            <a:prstDash val="solid"/>
          </a:ln>
        </p:spPr>
      </p:sp>
      <p:sp>
        <p:nvSpPr>
          <p:cNvPr id="39" name="Text 37"/>
          <p:cNvSpPr/>
          <p:nvPr/>
        </p:nvSpPr>
        <p:spPr>
          <a:xfrm>
            <a:off x="822960" y="57790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0" name="Text 38"/>
          <p:cNvSpPr/>
          <p:nvPr/>
        </p:nvSpPr>
        <p:spPr>
          <a:xfrm>
            <a:off x="1481328" y="5650992"/>
            <a:ext cx="2743200" cy="630936"/>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Outliers</a:t>
            </a:r>
            <a:endParaRPr lang="en-US" sz="1500" dirty="0"/>
          </a:p>
        </p:txBody>
      </p:sp>
      <p:sp>
        <p:nvSpPr>
          <p:cNvPr id="41" name="Text 39"/>
          <p:cNvSpPr/>
          <p:nvPr/>
        </p:nvSpPr>
        <p:spPr>
          <a:xfrm>
            <a:off x="4315968" y="5650992"/>
            <a:ext cx="3566160" cy="6309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1,250-night minimums</a:t>
            </a:r>
            <a:endParaRPr lang="en-US" sz="1400" dirty="0"/>
          </a:p>
        </p:txBody>
      </p:sp>
      <p:sp>
        <p:nvSpPr>
          <p:cNvPr id="42" name="Text 40"/>
          <p:cNvSpPr/>
          <p:nvPr/>
        </p:nvSpPr>
        <p:spPr>
          <a:xfrm>
            <a:off x="8001000" y="5650992"/>
            <a:ext cx="3383280" cy="630936"/>
          </a:xfrm>
          <a:prstGeom prst="rect">
            <a:avLst/>
          </a:prstGeom>
          <a:noFill/>
          <a:ln/>
        </p:spPr>
        <p:txBody>
          <a:bodyPr wrap="square" lIns="0" tIns="0" rIns="0" bIns="0" rtlCol="0" anchor="ctr"/>
          <a:lstStyle/>
          <a:p>
            <a:pPr indent="0" marL="0">
              <a:buNone/>
            </a:pPr>
            <a:r>
              <a:rPr lang="en-US" sz="1500" b="1" dirty="0">
                <a:solidFill>
                  <a:srgbClr val="522CBA"/>
                </a:solidFill>
                <a:latin typeface="Calibri" pitchFamily="34" charset="0"/>
                <a:ea typeface="Calibri" pitchFamily="34" charset="-122"/>
                <a:cs typeface="Calibri" pitchFamily="34" charset="-120"/>
              </a:rPr>
              <a:t>cap at 365, keep the rest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Outliers: real, not wrong</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Box plots + IQR</a:t>
            </a:r>
            <a:endParaRPr lang="en-US" sz="1500" dirty="0"/>
          </a:p>
        </p:txBody>
      </p:sp>
      <p:sp>
        <p:nvSpPr>
          <p:cNvPr id="4" name="Shape 2"/>
          <p:cNvSpPr/>
          <p:nvPr/>
        </p:nvSpPr>
        <p:spPr>
          <a:xfrm>
            <a:off x="566928" y="1572768"/>
            <a:ext cx="78638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outliers_box_1.png">    </p:cNvPr>
          <p:cNvPicPr>
            <a:picLocks noChangeAspect="1"/>
          </p:cNvPicPr>
          <p:nvPr/>
        </p:nvPicPr>
        <p:blipFill>
          <a:blip r:embed="rId1"/>
          <a:srcRect l="0" r="0" t="0" b="0"/>
          <a:stretch/>
        </p:blipFill>
        <p:spPr>
          <a:xfrm>
            <a:off x="676656" y="1682496"/>
            <a:ext cx="7644384" cy="4224528"/>
          </a:xfrm>
          <a:prstGeom prst="rect">
            <a:avLst/>
          </a:prstGeom>
        </p:spPr>
      </p:pic>
      <p:sp>
        <p:nvSpPr>
          <p:cNvPr id="6" name="Shape 3"/>
          <p:cNvSpPr/>
          <p:nvPr/>
        </p:nvSpPr>
        <p:spPr>
          <a:xfrm>
            <a:off x="8613648" y="1572768"/>
            <a:ext cx="3026664" cy="4443984"/>
          </a:xfrm>
          <a:prstGeom prst="roundRect">
            <a:avLst>
              <a:gd name="adj" fmla="val 241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7" name="Text 4"/>
          <p:cNvSpPr/>
          <p:nvPr/>
        </p:nvSpPr>
        <p:spPr>
          <a:xfrm>
            <a:off x="8869680" y="1773936"/>
            <a:ext cx="2560320" cy="329184"/>
          </a:xfrm>
          <a:prstGeom prst="rect">
            <a:avLst/>
          </a:prstGeom>
          <a:noFill/>
          <a:ln/>
        </p:spPr>
        <p:txBody>
          <a:bodyPr wrap="square" lIns="0" tIns="0" rIns="0" bIns="0" rtlCol="0" anchor="ctr"/>
          <a:lstStyle/>
          <a:p>
            <a:pPr indent="0" marL="0">
              <a:buNone/>
            </a:pPr>
            <a:r>
              <a:rPr lang="en-US" sz="1600" b="1" dirty="0">
                <a:solidFill>
                  <a:srgbClr val="9B78F7"/>
                </a:solidFill>
                <a:latin typeface="Calibri" pitchFamily="34" charset="0"/>
                <a:ea typeface="Calibri" pitchFamily="34" charset="-122"/>
                <a:cs typeface="Calibri" pitchFamily="34" charset="-120"/>
              </a:rPr>
              <a:t>Flagged by IQR</a:t>
            </a:r>
            <a:endParaRPr lang="en-US" sz="1600" dirty="0"/>
          </a:p>
        </p:txBody>
      </p:sp>
      <p:sp>
        <p:nvSpPr>
          <p:cNvPr id="8" name="Text 5"/>
          <p:cNvSpPr/>
          <p:nvPr/>
        </p:nvSpPr>
        <p:spPr>
          <a:xfrm>
            <a:off x="8869680" y="223113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price</a:t>
            </a:r>
            <a:endParaRPr lang="en-US" sz="1300" dirty="0"/>
          </a:p>
        </p:txBody>
      </p:sp>
      <p:sp>
        <p:nvSpPr>
          <p:cNvPr id="9" name="Text 6"/>
          <p:cNvSpPr/>
          <p:nvPr/>
        </p:nvSpPr>
        <p:spPr>
          <a:xfrm>
            <a:off x="10607040" y="223113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2,936</a:t>
            </a:r>
            <a:endParaRPr lang="en-US" sz="1400" dirty="0"/>
          </a:p>
        </p:txBody>
      </p:sp>
      <p:sp>
        <p:nvSpPr>
          <p:cNvPr id="10" name="Text 7"/>
          <p:cNvSpPr/>
          <p:nvPr/>
        </p:nvSpPr>
        <p:spPr>
          <a:xfrm>
            <a:off x="8869680" y="273405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minimum_nights</a:t>
            </a:r>
            <a:endParaRPr lang="en-US" sz="1300" dirty="0"/>
          </a:p>
        </p:txBody>
      </p:sp>
      <p:sp>
        <p:nvSpPr>
          <p:cNvPr id="11" name="Text 8"/>
          <p:cNvSpPr/>
          <p:nvPr/>
        </p:nvSpPr>
        <p:spPr>
          <a:xfrm>
            <a:off x="10607040" y="273405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6,466</a:t>
            </a:r>
            <a:endParaRPr lang="en-US" sz="1400" dirty="0"/>
          </a:p>
        </p:txBody>
      </p:sp>
      <p:sp>
        <p:nvSpPr>
          <p:cNvPr id="12" name="Text 9"/>
          <p:cNvSpPr/>
          <p:nvPr/>
        </p:nvSpPr>
        <p:spPr>
          <a:xfrm>
            <a:off x="8869680" y="323697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number_of_reviews</a:t>
            </a:r>
            <a:endParaRPr lang="en-US" sz="1300" dirty="0"/>
          </a:p>
        </p:txBody>
      </p:sp>
      <p:sp>
        <p:nvSpPr>
          <p:cNvPr id="13" name="Text 10"/>
          <p:cNvSpPr/>
          <p:nvPr/>
        </p:nvSpPr>
        <p:spPr>
          <a:xfrm>
            <a:off x="10607040" y="323697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6,021</a:t>
            </a:r>
            <a:endParaRPr lang="en-US" sz="1400" dirty="0"/>
          </a:p>
        </p:txBody>
      </p:sp>
      <p:sp>
        <p:nvSpPr>
          <p:cNvPr id="14" name="Text 11"/>
          <p:cNvSpPr/>
          <p:nvPr/>
        </p:nvSpPr>
        <p:spPr>
          <a:xfrm>
            <a:off x="8869680" y="373989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reviews_per_month</a:t>
            </a:r>
            <a:endParaRPr lang="en-US" sz="1300" dirty="0"/>
          </a:p>
        </p:txBody>
      </p:sp>
      <p:sp>
        <p:nvSpPr>
          <p:cNvPr id="15" name="Text 12"/>
          <p:cNvSpPr/>
          <p:nvPr/>
        </p:nvSpPr>
        <p:spPr>
          <a:xfrm>
            <a:off x="10607040" y="373989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3,207</a:t>
            </a:r>
            <a:endParaRPr lang="en-US" sz="1400" dirty="0"/>
          </a:p>
        </p:txBody>
      </p:sp>
      <p:sp>
        <p:nvSpPr>
          <p:cNvPr id="16" name="Text 13"/>
          <p:cNvSpPr/>
          <p:nvPr/>
        </p:nvSpPr>
        <p:spPr>
          <a:xfrm>
            <a:off x="8869680" y="424281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host_listings</a:t>
            </a:r>
            <a:endParaRPr lang="en-US" sz="1300" dirty="0"/>
          </a:p>
        </p:txBody>
      </p:sp>
      <p:sp>
        <p:nvSpPr>
          <p:cNvPr id="17" name="Text 14"/>
          <p:cNvSpPr/>
          <p:nvPr/>
        </p:nvSpPr>
        <p:spPr>
          <a:xfrm>
            <a:off x="10607040" y="424281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6,895</a:t>
            </a:r>
            <a:endParaRPr lang="en-US" sz="1400" dirty="0"/>
          </a:p>
        </p:txBody>
      </p:sp>
      <p:sp>
        <p:nvSpPr>
          <p:cNvPr id="18" name="Text 15"/>
          <p:cNvSpPr/>
          <p:nvPr/>
        </p:nvSpPr>
        <p:spPr>
          <a:xfrm>
            <a:off x="8869680" y="4745736"/>
            <a:ext cx="1783080" cy="384048"/>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availability_365</a:t>
            </a:r>
            <a:endParaRPr lang="en-US" sz="1300" dirty="0"/>
          </a:p>
        </p:txBody>
      </p:sp>
      <p:sp>
        <p:nvSpPr>
          <p:cNvPr id="19" name="Text 16"/>
          <p:cNvSpPr/>
          <p:nvPr/>
        </p:nvSpPr>
        <p:spPr>
          <a:xfrm>
            <a:off x="10607040" y="4745736"/>
            <a:ext cx="804672" cy="384048"/>
          </a:xfrm>
          <a:prstGeom prst="rect">
            <a:avLst/>
          </a:prstGeom>
          <a:noFill/>
          <a:ln/>
        </p:spPr>
        <p:txBody>
          <a:bodyPr wrap="square" lIns="0" tIns="0" rIns="0" bIns="0" rtlCol="0" anchor="ctr"/>
          <a:lstStyle/>
          <a:p>
            <a:pPr algn="r" indent="0" marL="0">
              <a:buNone/>
            </a:pPr>
            <a:r>
              <a:rPr lang="en-US" sz="1400" b="1" dirty="0">
                <a:solidFill>
                  <a:srgbClr val="522CBA"/>
                </a:solidFill>
                <a:latin typeface="Calibri" pitchFamily="34" charset="0"/>
                <a:ea typeface="Calibri" pitchFamily="34" charset="-122"/>
                <a:cs typeface="Calibri" pitchFamily="34" charset="-120"/>
              </a:rPr>
              <a:t>0</a:t>
            </a:r>
            <a:endParaRPr lang="en-US" sz="1400" dirty="0"/>
          </a:p>
        </p:txBody>
      </p:sp>
      <p:sp>
        <p:nvSpPr>
          <p:cNvPr id="20" name="Text 17"/>
          <p:cNvSpPr/>
          <p:nvPr/>
        </p:nvSpPr>
        <p:spPr>
          <a:xfrm>
            <a:off x="8869680" y="5321808"/>
            <a:ext cx="2560320" cy="548640"/>
          </a:xfrm>
          <a:prstGeom prst="rect">
            <a:avLst/>
          </a:prstGeom>
          <a:noFill/>
          <a:ln/>
        </p:spPr>
        <p:txBody>
          <a:bodyPr wrap="square" lIns="0" tIns="0" rIns="0" bIns="0" rtlCol="0" anchor="ctr"/>
          <a:lstStyle/>
          <a:p>
            <a:pPr indent="0" marL="0">
              <a:buNone/>
            </a:pPr>
            <a:r>
              <a:rPr lang="en-US" sz="1400" b="1" dirty="0">
                <a:solidFill>
                  <a:srgbClr val="522CBA"/>
                </a:solidFill>
                <a:latin typeface="Calibri" pitchFamily="34" charset="0"/>
                <a:ea typeface="Calibri" pitchFamily="34" charset="-122"/>
                <a:cs typeface="Calibri" pitchFamily="34" charset="-120"/>
              </a:rPr>
              <a:t>Kept all — capped only minimum_nights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Everything skews right</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Mean above median in all six</a:t>
            </a:r>
            <a:endParaRPr lang="en-US" sz="1500" dirty="0"/>
          </a:p>
        </p:txBody>
      </p:sp>
      <p:sp>
        <p:nvSpPr>
          <p:cNvPr id="4" name="Shape 2"/>
          <p:cNvSpPr/>
          <p:nvPr/>
        </p:nvSpPr>
        <p:spPr>
          <a:xfrm>
            <a:off x="566928" y="1572768"/>
            <a:ext cx="78638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distributions_hist_1.png">    </p:cNvPr>
          <p:cNvPicPr>
            <a:picLocks noChangeAspect="1"/>
          </p:cNvPicPr>
          <p:nvPr/>
        </p:nvPicPr>
        <p:blipFill>
          <a:blip r:embed="rId1"/>
          <a:srcRect l="0" r="0" t="0" b="0"/>
          <a:stretch/>
        </p:blipFill>
        <p:spPr>
          <a:xfrm>
            <a:off x="676656" y="1682496"/>
            <a:ext cx="7644384" cy="4224528"/>
          </a:xfrm>
          <a:prstGeom prst="rect">
            <a:avLst/>
          </a:prstGeom>
        </p:spPr>
      </p:pic>
      <p:sp>
        <p:nvSpPr>
          <p:cNvPr id="6" name="Shape 3"/>
          <p:cNvSpPr/>
          <p:nvPr/>
        </p:nvSpPr>
        <p:spPr>
          <a:xfrm>
            <a:off x="8613648" y="1572768"/>
            <a:ext cx="3026664" cy="4443984"/>
          </a:xfrm>
          <a:prstGeom prst="roundRect">
            <a:avLst>
              <a:gd name="adj" fmla="val 2417"/>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7" name="Text 4"/>
          <p:cNvSpPr/>
          <p:nvPr/>
        </p:nvSpPr>
        <p:spPr>
          <a:xfrm>
            <a:off x="8869680" y="1874520"/>
            <a:ext cx="2560320" cy="548640"/>
          </a:xfrm>
          <a:prstGeom prst="rect">
            <a:avLst/>
          </a:prstGeom>
          <a:noFill/>
          <a:ln/>
        </p:spPr>
        <p:txBody>
          <a:bodyPr wrap="square" lIns="0" tIns="0" rIns="0" bIns="0" rtlCol="0" anchor="ctr"/>
          <a:lstStyle/>
          <a:p>
            <a:pPr indent="0" marL="0">
              <a:buNone/>
            </a:pPr>
            <a:r>
              <a:rPr lang="en-US" sz="3000" b="1" dirty="0">
                <a:solidFill>
                  <a:srgbClr val="9B78F7"/>
                </a:solidFill>
                <a:latin typeface="Cambria" pitchFamily="34" charset="0"/>
                <a:ea typeface="Cambria" pitchFamily="34" charset="-122"/>
                <a:cs typeface="Cambria" pitchFamily="34" charset="-120"/>
              </a:rPr>
              <a:t>$152</a:t>
            </a:r>
            <a:endParaRPr lang="en-US" sz="3000" dirty="0"/>
          </a:p>
        </p:txBody>
      </p:sp>
      <p:sp>
        <p:nvSpPr>
          <p:cNvPr id="8" name="Text 5"/>
          <p:cNvSpPr/>
          <p:nvPr/>
        </p:nvSpPr>
        <p:spPr>
          <a:xfrm>
            <a:off x="8869680" y="2395728"/>
            <a:ext cx="2560320" cy="31089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mean</a:t>
            </a:r>
            <a:endParaRPr lang="en-US" sz="1400" dirty="0"/>
          </a:p>
        </p:txBody>
      </p:sp>
      <p:sp>
        <p:nvSpPr>
          <p:cNvPr id="9" name="Text 6"/>
          <p:cNvSpPr/>
          <p:nvPr/>
        </p:nvSpPr>
        <p:spPr>
          <a:xfrm>
            <a:off x="8869680" y="2999232"/>
            <a:ext cx="2560320" cy="566928"/>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$105</a:t>
            </a:r>
            <a:endParaRPr lang="en-US" sz="3600" dirty="0"/>
          </a:p>
        </p:txBody>
      </p:sp>
      <p:sp>
        <p:nvSpPr>
          <p:cNvPr id="10" name="Text 7"/>
          <p:cNvSpPr/>
          <p:nvPr/>
        </p:nvSpPr>
        <p:spPr>
          <a:xfrm>
            <a:off x="8869680" y="3584448"/>
            <a:ext cx="2560320" cy="457200"/>
          </a:xfrm>
          <a:prstGeom prst="rect">
            <a:avLst/>
          </a:prstGeom>
          <a:noFill/>
          <a:ln/>
        </p:spPr>
        <p:txBody>
          <a:bodyPr wrap="square" lIns="0" tIns="0" rIns="0" bIns="0" rtlCol="0" anchor="ctr"/>
          <a:lstStyle/>
          <a:p>
            <a:pPr indent="0" marL="0">
              <a:buNone/>
            </a:pPr>
            <a:r>
              <a:rPr lang="en-US" sz="1400" b="1" dirty="0">
                <a:solidFill>
                  <a:srgbClr val="000000"/>
                </a:solidFill>
                <a:latin typeface="Calibri" pitchFamily="34" charset="0"/>
                <a:ea typeface="Calibri" pitchFamily="34" charset="-122"/>
                <a:cs typeface="Calibri" pitchFamily="34" charset="-120"/>
              </a:rPr>
              <a:t>median — the honest number</a:t>
            </a:r>
            <a:endParaRPr lang="en-US" sz="1400" dirty="0"/>
          </a:p>
        </p:txBody>
      </p:sp>
      <p:sp>
        <p:nvSpPr>
          <p:cNvPr id="11" name="Text 8"/>
          <p:cNvSpPr/>
          <p:nvPr/>
        </p:nvSpPr>
        <p:spPr>
          <a:xfrm>
            <a:off x="8869680" y="4279392"/>
            <a:ext cx="2560320" cy="1463040"/>
          </a:xfrm>
          <a:prstGeom prst="rect">
            <a:avLst/>
          </a:prstGeom>
          <a:noFill/>
          <a:ln/>
        </p:spPr>
        <p:txBody>
          <a:bodyPr wrap="square" lIns="0" tIns="0" rIns="0" bIns="0" rtlCol="0" anchor="ctr"/>
          <a:lstStyle/>
          <a:p>
            <a:pPr marL="342900" indent="-342900">
              <a:spcAft>
                <a:spcPts val="1100"/>
              </a:spcAft>
              <a:buSzPct val="100000"/>
              <a:buChar char="•"/>
            </a:pPr>
            <a:r>
              <a:rPr lang="en-US" sz="1300" dirty="0">
                <a:solidFill>
                  <a:srgbClr val="000000"/>
                </a:solidFill>
                <a:latin typeface="Calibri" pitchFamily="34" charset="0"/>
                <a:ea typeface="Calibri" pitchFamily="34" charset="-122"/>
                <a:cs typeface="Calibri" pitchFamily="34" charset="-120"/>
              </a:rPr>
              <a:t>Long tail of luxury listings</a:t>
            </a:r>
            <a:endParaRPr lang="en-US" sz="1300" dirty="0"/>
          </a:p>
          <a:p>
            <a:pPr marL="342900" indent="-342900">
              <a:spcAft>
                <a:spcPts val="1100"/>
              </a:spcAft>
              <a:buSzPct val="100000"/>
              <a:buChar char="•"/>
            </a:pPr>
            <a:r>
              <a:rPr lang="en-US" sz="1300" dirty="0">
                <a:solidFill>
                  <a:srgbClr val="000000"/>
                </a:solidFill>
                <a:latin typeface="Calibri" pitchFamily="34" charset="0"/>
                <a:ea typeface="Calibri" pitchFamily="34" charset="-122"/>
                <a:cs typeface="Calibri" pitchFamily="34" charset="-120"/>
              </a:rPr>
              <a:t>availability is bimodal</a:t>
            </a:r>
            <a:endParaRPr lang="en-US" sz="1300" dirty="0"/>
          </a:p>
          <a:p>
            <a:pPr marL="342900" indent="-342900">
              <a:spcAft>
                <a:spcPts val="1100"/>
              </a:spcAft>
              <a:buSzPct val="100000"/>
              <a:buChar char="•"/>
            </a:pPr>
            <a:r>
              <a:rPr lang="en-US" sz="1300" dirty="0">
                <a:solidFill>
                  <a:srgbClr val="000000"/>
                </a:solidFill>
                <a:latin typeface="Calibri" pitchFamily="34" charset="0"/>
                <a:ea typeface="Calibri" pitchFamily="34" charset="-122"/>
                <a:cs typeface="Calibri" pitchFamily="34" charset="-120"/>
              </a:rPr>
              <a:t>0 days or 365 — nothing between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A concentrated market</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Two room types, two boroughs</a:t>
            </a:r>
            <a:endParaRPr lang="en-US" sz="1500" dirty="0"/>
          </a:p>
        </p:txBody>
      </p:sp>
      <p:sp>
        <p:nvSpPr>
          <p:cNvPr id="4" name="Shape 2"/>
          <p:cNvSpPr/>
          <p:nvPr/>
        </p:nvSpPr>
        <p:spPr>
          <a:xfrm>
            <a:off x="566928" y="1572768"/>
            <a:ext cx="3547872"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categorical_1.png">    </p:cNvPr>
          <p:cNvPicPr>
            <a:picLocks noChangeAspect="1"/>
          </p:cNvPicPr>
          <p:nvPr/>
        </p:nvPicPr>
        <p:blipFill>
          <a:blip r:embed="rId1"/>
          <a:srcRect l="0" r="0" t="0" b="0"/>
          <a:stretch/>
        </p:blipFill>
        <p:spPr>
          <a:xfrm>
            <a:off x="676656" y="1682496"/>
            <a:ext cx="3328416" cy="2980944"/>
          </a:xfrm>
          <a:prstGeom prst="rect">
            <a:avLst/>
          </a:prstGeom>
        </p:spPr>
      </p:pic>
      <p:sp>
        <p:nvSpPr>
          <p:cNvPr id="6" name="Shape 3"/>
          <p:cNvSpPr/>
          <p:nvPr/>
        </p:nvSpPr>
        <p:spPr>
          <a:xfrm>
            <a:off x="4325112" y="1572768"/>
            <a:ext cx="3547872"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7" name="Image 1" descr="/tmp/claude-0/-home-user-Tuwaiq-Bootcamp/31d76967-b7b5-527c-bee1-8d14c00fddcd/scratchpad/plots/categorical_2.png">    </p:cNvPr>
          <p:cNvPicPr>
            <a:picLocks noChangeAspect="1"/>
          </p:cNvPicPr>
          <p:nvPr/>
        </p:nvPicPr>
        <p:blipFill>
          <a:blip r:embed="rId2"/>
          <a:srcRect l="0" r="0" t="0" b="0"/>
          <a:stretch/>
        </p:blipFill>
        <p:spPr>
          <a:xfrm>
            <a:off x="4434840" y="1682496"/>
            <a:ext cx="3328416" cy="2980944"/>
          </a:xfrm>
          <a:prstGeom prst="rect">
            <a:avLst/>
          </a:prstGeom>
        </p:spPr>
      </p:pic>
      <p:sp>
        <p:nvSpPr>
          <p:cNvPr id="8" name="Shape 4"/>
          <p:cNvSpPr/>
          <p:nvPr/>
        </p:nvSpPr>
        <p:spPr>
          <a:xfrm>
            <a:off x="8083296" y="1572768"/>
            <a:ext cx="3557016" cy="3200400"/>
          </a:xfrm>
          <a:prstGeom prst="roundRect">
            <a:avLst>
              <a:gd name="adj" fmla="val 228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9" name="Image 2" descr="/tmp/claude-0/-home-user-Tuwaiq-Bootcamp/31d76967-b7b5-527c-bee1-8d14c00fddcd/scratchpad/plots/categorical_3.png">    </p:cNvPr>
          <p:cNvPicPr>
            <a:picLocks noChangeAspect="1"/>
          </p:cNvPicPr>
          <p:nvPr/>
        </p:nvPicPr>
        <p:blipFill>
          <a:blip r:embed="rId3"/>
          <a:srcRect l="0" r="0" t="0" b="0"/>
          <a:stretch/>
        </p:blipFill>
        <p:spPr>
          <a:xfrm>
            <a:off x="8193024" y="1682496"/>
            <a:ext cx="3337560" cy="2980944"/>
          </a:xfrm>
          <a:prstGeom prst="rect">
            <a:avLst/>
          </a:prstGeom>
        </p:spPr>
      </p:pic>
      <p:sp>
        <p:nvSpPr>
          <p:cNvPr id="10" name="Text 5"/>
          <p:cNvSpPr/>
          <p:nvPr/>
        </p:nvSpPr>
        <p:spPr>
          <a:xfrm>
            <a:off x="566928" y="4809744"/>
            <a:ext cx="354787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Entire 52% · Private 46% · Shared 2%</a:t>
            </a:r>
            <a:endParaRPr lang="en-US" sz="1200" dirty="0"/>
          </a:p>
        </p:txBody>
      </p:sp>
      <p:sp>
        <p:nvSpPr>
          <p:cNvPr id="11" name="Text 6"/>
          <p:cNvSpPr/>
          <p:nvPr/>
        </p:nvSpPr>
        <p:spPr>
          <a:xfrm>
            <a:off x="4325112" y="4809744"/>
            <a:ext cx="354787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Manhattan + Brooklyn = 85%</a:t>
            </a:r>
            <a:endParaRPr lang="en-US" sz="1200" dirty="0"/>
          </a:p>
        </p:txBody>
      </p:sp>
      <p:sp>
        <p:nvSpPr>
          <p:cNvPr id="12" name="Text 7"/>
          <p:cNvSpPr/>
          <p:nvPr/>
        </p:nvSpPr>
        <p:spPr>
          <a:xfrm>
            <a:off x="8083296" y="4809744"/>
            <a:ext cx="3557016"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Room type within each borough</a:t>
            </a:r>
            <a:endParaRPr lang="en-US" sz="1200" dirty="0"/>
          </a:p>
        </p:txBody>
      </p:sp>
      <p:sp>
        <p:nvSpPr>
          <p:cNvPr id="13" name="Shape 8"/>
          <p:cNvSpPr/>
          <p:nvPr/>
        </p:nvSpPr>
        <p:spPr>
          <a:xfrm>
            <a:off x="566928" y="5230368"/>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4" name="Text 9"/>
          <p:cNvSpPr/>
          <p:nvPr/>
        </p:nvSpPr>
        <p:spPr>
          <a:xfrm>
            <a:off x="841248" y="5358384"/>
            <a:ext cx="10515600" cy="585216"/>
          </a:xfrm>
          <a:prstGeom prst="rect">
            <a:avLst/>
          </a:prstGeom>
          <a:noFill/>
          <a:ln/>
        </p:spPr>
        <p:txBody>
          <a:bodyPr wrap="square" lIns="0" tIns="0" rIns="0" bIns="0" rtlCol="0" anchor="ctr"/>
          <a:lstStyle/>
          <a:p>
            <a:pPr indent="0" marL="0">
              <a:buNone/>
            </a:pPr>
            <a:r>
              <a:rPr lang="en-US" sz="1600" b="1" dirty="0">
                <a:solidFill>
                  <a:srgbClr val="522CBA"/>
                </a:solidFill>
                <a:latin typeface="Calibri" pitchFamily="34" charset="0"/>
                <a:ea typeface="Calibri" pitchFamily="34" charset="-122"/>
                <a:cs typeface="Calibri" pitchFamily="34" charset="-120"/>
              </a:rPr>
              <a:t>Both columns badly imbalanced — minority classes too small to model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Price ignores the numbers</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Every correlation under 0.08</a:t>
            </a:r>
            <a:endParaRPr lang="en-US" sz="1500" dirty="0"/>
          </a:p>
        </p:txBody>
      </p:sp>
      <p:sp>
        <p:nvSpPr>
          <p:cNvPr id="4" name="Shape 2"/>
          <p:cNvSpPr/>
          <p:nvPr/>
        </p:nvSpPr>
        <p:spPr>
          <a:xfrm>
            <a:off x="566928" y="1572768"/>
            <a:ext cx="3977640" cy="3749040"/>
          </a:xfrm>
          <a:prstGeom prst="roundRect">
            <a:avLst>
              <a:gd name="adj" fmla="val 1951"/>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relationships_1.png">    </p:cNvPr>
          <p:cNvPicPr>
            <a:picLocks noChangeAspect="1"/>
          </p:cNvPicPr>
          <p:nvPr/>
        </p:nvPicPr>
        <p:blipFill>
          <a:blip r:embed="rId1"/>
          <a:srcRect l="0" r="0" t="0" b="0"/>
          <a:stretch/>
        </p:blipFill>
        <p:spPr>
          <a:xfrm>
            <a:off x="676656" y="1682496"/>
            <a:ext cx="3758184" cy="3529584"/>
          </a:xfrm>
          <a:prstGeom prst="rect">
            <a:avLst/>
          </a:prstGeom>
        </p:spPr>
      </p:pic>
      <p:sp>
        <p:nvSpPr>
          <p:cNvPr id="6" name="Shape 3"/>
          <p:cNvSpPr/>
          <p:nvPr/>
        </p:nvSpPr>
        <p:spPr>
          <a:xfrm>
            <a:off x="4754880" y="1572768"/>
            <a:ext cx="3401568" cy="3749040"/>
          </a:xfrm>
          <a:prstGeom prst="roundRect">
            <a:avLst>
              <a:gd name="adj" fmla="val 2151"/>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7" name="Image 1" descr="/tmp/claude-0/-home-user-Tuwaiq-Bootcamp/31d76967-b7b5-527c-bee1-8d14c00fddcd/scratchpad/plots/relationships_2.png">    </p:cNvPr>
          <p:cNvPicPr>
            <a:picLocks noChangeAspect="1"/>
          </p:cNvPicPr>
          <p:nvPr/>
        </p:nvPicPr>
        <p:blipFill>
          <a:blip r:embed="rId2"/>
          <a:srcRect l="0" r="0" t="0" b="0"/>
          <a:stretch/>
        </p:blipFill>
        <p:spPr>
          <a:xfrm>
            <a:off x="4864608" y="1682496"/>
            <a:ext cx="3182112" cy="3529584"/>
          </a:xfrm>
          <a:prstGeom prst="rect">
            <a:avLst/>
          </a:prstGeom>
        </p:spPr>
      </p:pic>
      <p:sp>
        <p:nvSpPr>
          <p:cNvPr id="8" name="Shape 4"/>
          <p:cNvSpPr/>
          <p:nvPr/>
        </p:nvSpPr>
        <p:spPr>
          <a:xfrm>
            <a:off x="8366760" y="1572768"/>
            <a:ext cx="3273552" cy="3749040"/>
          </a:xfrm>
          <a:prstGeom prst="roundRect">
            <a:avLst>
              <a:gd name="adj" fmla="val 2235"/>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9" name="Image 2" descr="/tmp/claude-0/-home-user-Tuwaiq-Bootcamp/31d76967-b7b5-527c-bee1-8d14c00fddcd/scratchpad/plots/relationships_3.png">    </p:cNvPr>
          <p:cNvPicPr>
            <a:picLocks noChangeAspect="1"/>
          </p:cNvPicPr>
          <p:nvPr/>
        </p:nvPicPr>
        <p:blipFill>
          <a:blip r:embed="rId3"/>
          <a:srcRect l="0" r="0" t="0" b="0"/>
          <a:stretch/>
        </p:blipFill>
        <p:spPr>
          <a:xfrm>
            <a:off x="8476488" y="1682496"/>
            <a:ext cx="3054096" cy="3529584"/>
          </a:xfrm>
          <a:prstGeom prst="rect">
            <a:avLst/>
          </a:prstGeom>
        </p:spPr>
      </p:pic>
      <p:sp>
        <p:nvSpPr>
          <p:cNvPr id="10" name="Text 5"/>
          <p:cNvSpPr/>
          <p:nvPr/>
        </p:nvSpPr>
        <p:spPr>
          <a:xfrm>
            <a:off x="566928" y="5358384"/>
            <a:ext cx="397764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Correlation matrix</a:t>
            </a:r>
            <a:endParaRPr lang="en-US" sz="1200" dirty="0"/>
          </a:p>
        </p:txBody>
      </p:sp>
      <p:sp>
        <p:nvSpPr>
          <p:cNvPr id="11" name="Text 6"/>
          <p:cNvSpPr/>
          <p:nvPr/>
        </p:nvSpPr>
        <p:spPr>
          <a:xfrm>
            <a:off x="4754880" y="5358384"/>
            <a:ext cx="3401568"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Price vs reviews</a:t>
            </a:r>
            <a:endParaRPr lang="en-US" sz="1200" dirty="0"/>
          </a:p>
        </p:txBody>
      </p:sp>
      <p:sp>
        <p:nvSpPr>
          <p:cNvPr id="12" name="Text 7"/>
          <p:cNvSpPr/>
          <p:nvPr/>
        </p:nvSpPr>
        <p:spPr>
          <a:xfrm>
            <a:off x="8366760" y="5358384"/>
            <a:ext cx="32735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Price vs availability</a:t>
            </a:r>
            <a:endParaRPr lang="en-US" sz="1200" dirty="0"/>
          </a:p>
        </p:txBody>
      </p:sp>
      <p:sp>
        <p:nvSpPr>
          <p:cNvPr id="13" name="Text 8"/>
          <p:cNvSpPr/>
          <p:nvPr/>
        </p:nvSpPr>
        <p:spPr>
          <a:xfrm>
            <a:off x="566928" y="5852160"/>
            <a:ext cx="11073384" cy="502920"/>
          </a:xfrm>
          <a:prstGeom prst="rect">
            <a:avLst/>
          </a:prstGeom>
          <a:noFill/>
          <a:ln/>
        </p:spPr>
        <p:txBody>
          <a:bodyPr wrap="square" lIns="0" tIns="0" rIns="0" bIns="0" rtlCol="0" anchor="ctr"/>
          <a:lstStyle/>
          <a:p>
            <a:pPr algn="ctr" indent="0" marL="0">
              <a:buNone/>
            </a:pPr>
            <a:r>
              <a:rPr lang="en-US" sz="2200" b="1" dirty="0">
                <a:solidFill>
                  <a:srgbClr val="522CBA"/>
                </a:solidFill>
                <a:latin typeface="Cambria" pitchFamily="34" charset="0"/>
                <a:ea typeface="Cambria" pitchFamily="34" charset="-122"/>
                <a:cs typeface="Cambria" pitchFamily="34" charset="-120"/>
              </a:rPr>
              <a:t>Not activity.  Location and room type.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Where the money is</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Histogram capped at $1,000</a:t>
            </a:r>
            <a:endParaRPr lang="en-US" sz="1500" dirty="0"/>
          </a:p>
        </p:txBody>
      </p:sp>
      <p:sp>
        <p:nvSpPr>
          <p:cNvPr id="4" name="Shape 2"/>
          <p:cNvSpPr/>
          <p:nvPr/>
        </p:nvSpPr>
        <p:spPr>
          <a:xfrm>
            <a:off x="566928" y="1572768"/>
            <a:ext cx="5532120"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viz_1.png">    </p:cNvPr>
          <p:cNvPicPr>
            <a:picLocks noChangeAspect="1"/>
          </p:cNvPicPr>
          <p:nvPr/>
        </p:nvPicPr>
        <p:blipFill>
          <a:blip r:embed="rId1"/>
          <a:srcRect l="0" r="0" t="0" b="0"/>
          <a:stretch/>
        </p:blipFill>
        <p:spPr>
          <a:xfrm>
            <a:off x="676656" y="1682496"/>
            <a:ext cx="5312664" cy="3712464"/>
          </a:xfrm>
          <a:prstGeom prst="rect">
            <a:avLst/>
          </a:prstGeom>
        </p:spPr>
      </p:pic>
      <p:sp>
        <p:nvSpPr>
          <p:cNvPr id="6" name="Shape 3"/>
          <p:cNvSpPr/>
          <p:nvPr/>
        </p:nvSpPr>
        <p:spPr>
          <a:xfrm>
            <a:off x="6309360" y="1572768"/>
            <a:ext cx="5330952"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7" name="Image 1" descr="/tmp/claude-0/-home-user-Tuwaiq-Bootcamp/31d76967-b7b5-527c-bee1-8d14c00fddcd/scratchpad/plots/viz_2.png">    </p:cNvPr>
          <p:cNvPicPr>
            <a:picLocks noChangeAspect="1"/>
          </p:cNvPicPr>
          <p:nvPr/>
        </p:nvPicPr>
        <p:blipFill>
          <a:blip r:embed="rId2"/>
          <a:srcRect l="0" r="0" t="0" b="0"/>
          <a:stretch/>
        </p:blipFill>
        <p:spPr>
          <a:xfrm>
            <a:off x="6419088" y="1682496"/>
            <a:ext cx="5111496" cy="3712464"/>
          </a:xfrm>
          <a:prstGeom prst="rect">
            <a:avLst/>
          </a:prstGeom>
        </p:spPr>
      </p:pic>
      <p:sp>
        <p:nvSpPr>
          <p:cNvPr id="8" name="Text 4"/>
          <p:cNvSpPr/>
          <p:nvPr/>
        </p:nvSpPr>
        <p:spPr>
          <a:xfrm>
            <a:off x="566928" y="5541264"/>
            <a:ext cx="553212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Most listings under $200</a:t>
            </a:r>
            <a:endParaRPr lang="en-US" sz="1200" dirty="0"/>
          </a:p>
        </p:txBody>
      </p:sp>
      <p:sp>
        <p:nvSpPr>
          <p:cNvPr id="9" name="Text 5"/>
          <p:cNvSpPr/>
          <p:nvPr/>
        </p:nvSpPr>
        <p:spPr>
          <a:xfrm>
            <a:off x="6309360" y="5541264"/>
            <a:ext cx="53309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Manhattan: highest median, widest spread</a:t>
            </a:r>
            <a:endParaRPr lang="en-US" sz="1200" dirty="0"/>
          </a:p>
        </p:txBody>
      </p:sp>
      <p:sp>
        <p:nvSpPr>
          <p:cNvPr id="10" name="Text 6"/>
          <p:cNvSpPr/>
          <p:nvPr/>
        </p:nvSpPr>
        <p:spPr>
          <a:xfrm>
            <a:off x="566928" y="5961888"/>
            <a:ext cx="11073384" cy="411480"/>
          </a:xfrm>
          <a:prstGeom prst="rect">
            <a:avLst/>
          </a:prstGeom>
          <a:noFill/>
          <a:ln/>
        </p:spPr>
        <p:txBody>
          <a:bodyPr wrap="square" lIns="0" tIns="0" rIns="0" bIns="0" rtlCol="0" anchor="ctr"/>
          <a:lstStyle/>
          <a:p>
            <a:pPr algn="ctr" indent="0" marL="0">
              <a:buNone/>
            </a:pPr>
            <a:r>
              <a:rPr lang="en-US" sz="1600" b="1" dirty="0">
                <a:solidFill>
                  <a:srgbClr val="9B78F7"/>
                </a:solidFill>
                <a:latin typeface="Calibri" pitchFamily="34" charset="0"/>
                <a:ea typeface="Calibri" pitchFamily="34" charset="-122"/>
                <a:cs typeface="Calibri" pitchFamily="34" charset="-120"/>
              </a:rPr>
              <a:t>Manhattan $196  ·  Brooklyn $125  ·  Staten Island $115  ·  Queens $100  ·  Bronx $88</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The premium guests pay</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Room type is the sharpest divide</a:t>
            </a:r>
            <a:endParaRPr lang="en-US" sz="1500" dirty="0"/>
          </a:p>
        </p:txBody>
      </p:sp>
      <p:sp>
        <p:nvSpPr>
          <p:cNvPr id="4" name="Shape 2"/>
          <p:cNvSpPr/>
          <p:nvPr/>
        </p:nvSpPr>
        <p:spPr>
          <a:xfrm>
            <a:off x="566928" y="1572768"/>
            <a:ext cx="5532120"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viz_3.png">    </p:cNvPr>
          <p:cNvPicPr>
            <a:picLocks noChangeAspect="1"/>
          </p:cNvPicPr>
          <p:nvPr/>
        </p:nvPicPr>
        <p:blipFill>
          <a:blip r:embed="rId1"/>
          <a:srcRect l="0" r="0" t="0" b="0"/>
          <a:stretch/>
        </p:blipFill>
        <p:spPr>
          <a:xfrm>
            <a:off x="676656" y="1682496"/>
            <a:ext cx="5312664" cy="3712464"/>
          </a:xfrm>
          <a:prstGeom prst="rect">
            <a:avLst/>
          </a:prstGeom>
        </p:spPr>
      </p:pic>
      <p:sp>
        <p:nvSpPr>
          <p:cNvPr id="6" name="Shape 3"/>
          <p:cNvSpPr/>
          <p:nvPr/>
        </p:nvSpPr>
        <p:spPr>
          <a:xfrm>
            <a:off x="6309360" y="1572768"/>
            <a:ext cx="5330952" cy="3931920"/>
          </a:xfrm>
          <a:prstGeom prst="roundRect">
            <a:avLst>
              <a:gd name="adj" fmla="val 1860"/>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7" name="Image 1" descr="/tmp/claude-0/-home-user-Tuwaiq-Bootcamp/31d76967-b7b5-527c-bee1-8d14c00fddcd/scratchpad/plots/viz_4.png">    </p:cNvPr>
          <p:cNvPicPr>
            <a:picLocks noChangeAspect="1"/>
          </p:cNvPicPr>
          <p:nvPr/>
        </p:nvPicPr>
        <p:blipFill>
          <a:blip r:embed="rId2"/>
          <a:srcRect l="0" r="0" t="0" b="0"/>
          <a:stretch/>
        </p:blipFill>
        <p:spPr>
          <a:xfrm>
            <a:off x="6419088" y="1682496"/>
            <a:ext cx="5111496" cy="3712464"/>
          </a:xfrm>
          <a:prstGeom prst="rect">
            <a:avLst/>
          </a:prstGeom>
        </p:spPr>
      </p:pic>
      <p:sp>
        <p:nvSpPr>
          <p:cNvPr id="8" name="Text 4"/>
          <p:cNvSpPr/>
          <p:nvPr/>
        </p:nvSpPr>
        <p:spPr>
          <a:xfrm>
            <a:off x="566928" y="5541264"/>
            <a:ext cx="5532120"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Entire $211 · Private $90 · Shared $71</a:t>
            </a:r>
            <a:endParaRPr lang="en-US" sz="1200" dirty="0"/>
          </a:p>
        </p:txBody>
      </p:sp>
      <p:sp>
        <p:nvSpPr>
          <p:cNvPr id="9" name="Text 5"/>
          <p:cNvSpPr/>
          <p:nvPr/>
        </p:nvSpPr>
        <p:spPr>
          <a:xfrm>
            <a:off x="6309360" y="5541264"/>
            <a:ext cx="5330952" cy="274320"/>
          </a:xfrm>
          <a:prstGeom prst="rect">
            <a:avLst/>
          </a:prstGeom>
          <a:noFill/>
          <a:ln/>
        </p:spPr>
        <p:txBody>
          <a:bodyPr wrap="square" lIns="0" tIns="0" rIns="0" bIns="0" rtlCol="0" anchor="ctr"/>
          <a:lstStyle/>
          <a:p>
            <a:pPr algn="ctr" indent="0" marL="0">
              <a:buNone/>
            </a:pPr>
            <a:r>
              <a:rPr lang="en-US" sz="1200" b="1" dirty="0">
                <a:solidFill>
                  <a:srgbClr val="522CBA"/>
                </a:solidFill>
                <a:latin typeface="Calibri" pitchFamily="34" charset="0"/>
                <a:ea typeface="Calibri" pitchFamily="34" charset="-122"/>
                <a:cs typeface="Calibri" pitchFamily="34" charset="-120"/>
              </a:rPr>
              <a:t>Reviews and availability unrelated</a:t>
            </a:r>
            <a:endParaRPr lang="en-US" sz="1200" dirty="0"/>
          </a:p>
        </p:txBody>
      </p:sp>
      <p:sp>
        <p:nvSpPr>
          <p:cNvPr id="10" name="Text 6"/>
          <p:cNvSpPr/>
          <p:nvPr/>
        </p:nvSpPr>
        <p:spPr>
          <a:xfrm>
            <a:off x="566928" y="5961888"/>
            <a:ext cx="11073384" cy="411480"/>
          </a:xfrm>
          <a:prstGeom prst="rect">
            <a:avLst/>
          </a:prstGeom>
          <a:noFill/>
          <a:ln/>
        </p:spPr>
        <p:txBody>
          <a:bodyPr wrap="square" lIns="0" tIns="0" rIns="0" bIns="0" rtlCol="0" anchor="ctr"/>
          <a:lstStyle/>
          <a:p>
            <a:pPr algn="ctr" indent="0" marL="0">
              <a:buNone/>
            </a:pPr>
            <a:r>
              <a:rPr lang="en-US" sz="2000" b="1" dirty="0">
                <a:solidFill>
                  <a:srgbClr val="522CBA"/>
                </a:solidFill>
                <a:latin typeface="Cambria" pitchFamily="34" charset="0"/>
                <a:ea typeface="Cambria" pitchFamily="34" charset="-122"/>
                <a:cs typeface="Cambria" pitchFamily="34" charset="-120"/>
              </a:rPr>
              <a:t>2.4x for not sharing a front door</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Supply clusters</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221 neighbourhoods · 10 dominate</a:t>
            </a:r>
            <a:endParaRPr lang="en-US" sz="1500" dirty="0"/>
          </a:p>
        </p:txBody>
      </p:sp>
      <p:sp>
        <p:nvSpPr>
          <p:cNvPr id="4" name="Shape 2"/>
          <p:cNvSpPr/>
          <p:nvPr/>
        </p:nvSpPr>
        <p:spPr>
          <a:xfrm>
            <a:off x="566928" y="1572768"/>
            <a:ext cx="6949440" cy="4443984"/>
          </a:xfrm>
          <a:prstGeom prst="roundRect">
            <a:avLst>
              <a:gd name="adj" fmla="val 1646"/>
            </a:avLst>
          </a:prstGeom>
          <a:solidFill>
            <a:srgbClr val="FFFFFF"/>
          </a:solidFill>
          <a:ln w="12700">
            <a:solidFill>
              <a:srgbClr val="FFFFFF"/>
            </a:solidFill>
            <a:prstDash val="solid"/>
          </a:ln>
          <a:effectLst>
            <a:outerShdw sx="100000" sy="100000" kx="0" ky="0" algn="bl" rotWithShape="0" blurRad="114300" dist="12700" dir="5400000">
              <a:srgbClr val="B9A9E8">
                <a:alpha val="30000"/>
              </a:srgbClr>
            </a:outerShdw>
          </a:effectLst>
        </p:spPr>
      </p:sp>
      <p:pic>
        <p:nvPicPr>
          <p:cNvPr id="5" name="Image 0" descr="/tmp/claude-0/-home-user-Tuwaiq-Bootcamp/31d76967-b7b5-527c-bee1-8d14c00fddcd/scratchpad/plots/viz_5.png">    </p:cNvPr>
          <p:cNvPicPr>
            <a:picLocks noChangeAspect="1"/>
          </p:cNvPicPr>
          <p:nvPr/>
        </p:nvPicPr>
        <p:blipFill>
          <a:blip r:embed="rId1"/>
          <a:srcRect l="0" r="0" t="0" b="0"/>
          <a:stretch/>
        </p:blipFill>
        <p:spPr>
          <a:xfrm>
            <a:off x="676656" y="1682496"/>
            <a:ext cx="6729984" cy="4224528"/>
          </a:xfrm>
          <a:prstGeom prst="rect">
            <a:avLst/>
          </a:prstGeom>
        </p:spPr>
      </p:pic>
      <p:sp>
        <p:nvSpPr>
          <p:cNvPr id="6" name="Shape 3"/>
          <p:cNvSpPr/>
          <p:nvPr/>
        </p:nvSpPr>
        <p:spPr>
          <a:xfrm>
            <a:off x="7726680" y="1572768"/>
            <a:ext cx="3913632" cy="4443984"/>
          </a:xfrm>
          <a:prstGeom prst="roundRect">
            <a:avLst>
              <a:gd name="adj" fmla="val 1869"/>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7" name="Text 4"/>
          <p:cNvSpPr/>
          <p:nvPr/>
        </p:nvSpPr>
        <p:spPr>
          <a:xfrm>
            <a:off x="8001000" y="1810512"/>
            <a:ext cx="3383280" cy="365760"/>
          </a:xfrm>
          <a:prstGeom prst="rect">
            <a:avLst/>
          </a:prstGeom>
          <a:noFill/>
          <a:ln/>
        </p:spPr>
        <p:txBody>
          <a:bodyPr wrap="square" lIns="0" tIns="0" rIns="0" bIns="0" rtlCol="0" anchor="ctr"/>
          <a:lstStyle/>
          <a:p>
            <a:pPr indent="0" marL="0">
              <a:buNone/>
            </a:pPr>
            <a:r>
              <a:rPr lang="en-US" sz="1800" b="1" dirty="0">
                <a:solidFill>
                  <a:srgbClr val="9B78F7"/>
                </a:solidFill>
                <a:latin typeface="Calibri" pitchFamily="34" charset="0"/>
                <a:ea typeface="Calibri" pitchFamily="34" charset="-122"/>
                <a:cs typeface="Calibri" pitchFamily="34" charset="-120"/>
              </a:rPr>
              <a:t>Why it matters</a:t>
            </a:r>
            <a:endParaRPr lang="en-US" sz="1800" dirty="0"/>
          </a:p>
        </p:txBody>
      </p:sp>
      <p:sp>
        <p:nvSpPr>
          <p:cNvPr id="8" name="Text 5"/>
          <p:cNvSpPr/>
          <p:nvPr/>
        </p:nvSpPr>
        <p:spPr>
          <a:xfrm>
            <a:off x="8001000" y="2304288"/>
            <a:ext cx="3383280" cy="3383280"/>
          </a:xfrm>
          <a:prstGeom prst="rect">
            <a:avLst/>
          </a:prstGeom>
          <a:noFill/>
          <a:ln/>
        </p:spPr>
        <p:txBody>
          <a:bodyPr wrap="square" lIns="0" tIns="0" rIns="0" bIns="0" rtlCol="0" anchor="ctr"/>
          <a:lstStyle/>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Williamsburg and Bed-Stuy lead</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High cardinality — 221 columns if encoded</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Most have too few listings to price</a:t>
            </a:r>
            <a:endParaRPr lang="en-US" sz="1500" dirty="0"/>
          </a:p>
          <a:p>
            <a:pPr marL="342900" indent="-342900">
              <a:spcAft>
                <a:spcPts val="1100"/>
              </a:spcAft>
              <a:buSzPct val="100000"/>
              <a:buChar char="•"/>
            </a:pPr>
            <a:r>
              <a:rPr lang="en-US" sz="1500" dirty="0">
                <a:solidFill>
                  <a:srgbClr val="000000"/>
                </a:solidFill>
                <a:latin typeface="Calibri" pitchFamily="34" charset="0"/>
                <a:ea typeface="Calibri" pitchFamily="34" charset="-122"/>
                <a:cs typeface="Calibri" pitchFamily="34" charset="-120"/>
              </a:rPr>
              <a:t>Group the tail, or use borough</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What the data says</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Six of the ten in the notebook</a:t>
            </a:r>
            <a:endParaRPr lang="en-US" sz="1500" dirty="0"/>
          </a:p>
        </p:txBody>
      </p:sp>
      <p:sp>
        <p:nvSpPr>
          <p:cNvPr id="4" name="Shape 2"/>
          <p:cNvSpPr/>
          <p:nvPr/>
        </p:nvSpPr>
        <p:spPr>
          <a:xfrm>
            <a:off x="566928"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5" name="Text 3"/>
          <p:cNvSpPr/>
          <p:nvPr/>
        </p:nvSpPr>
        <p:spPr>
          <a:xfrm>
            <a:off x="841248" y="1865376"/>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01</a:t>
            </a:r>
            <a:endParaRPr lang="en-US" sz="2200" dirty="0"/>
          </a:p>
        </p:txBody>
      </p:sp>
      <p:sp>
        <p:nvSpPr>
          <p:cNvPr id="6" name="Text 4"/>
          <p:cNvSpPr/>
          <p:nvPr/>
        </p:nvSpPr>
        <p:spPr>
          <a:xfrm>
            <a:off x="841248" y="2377440"/>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Location beats everything</a:t>
            </a:r>
            <a:endParaRPr lang="en-US" sz="1700" dirty="0"/>
          </a:p>
        </p:txBody>
      </p:sp>
      <p:sp>
        <p:nvSpPr>
          <p:cNvPr id="7" name="Text 5"/>
          <p:cNvSpPr/>
          <p:nvPr/>
        </p:nvSpPr>
        <p:spPr>
          <a:xfrm>
            <a:off x="841248" y="3072384"/>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Manhattan 2x Brooklyn</a:t>
            </a:r>
            <a:endParaRPr lang="en-US" sz="1400" dirty="0"/>
          </a:p>
        </p:txBody>
      </p:sp>
      <p:sp>
        <p:nvSpPr>
          <p:cNvPr id="8" name="Shape 6"/>
          <p:cNvSpPr/>
          <p:nvPr/>
        </p:nvSpPr>
        <p:spPr>
          <a:xfrm>
            <a:off x="4325112"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9" name="Text 7"/>
          <p:cNvSpPr/>
          <p:nvPr/>
        </p:nvSpPr>
        <p:spPr>
          <a:xfrm>
            <a:off x="4599432" y="1865376"/>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02</a:t>
            </a:r>
            <a:endParaRPr lang="en-US" sz="2200" dirty="0"/>
          </a:p>
        </p:txBody>
      </p:sp>
      <p:sp>
        <p:nvSpPr>
          <p:cNvPr id="10" name="Text 8"/>
          <p:cNvSpPr/>
          <p:nvPr/>
        </p:nvSpPr>
        <p:spPr>
          <a:xfrm>
            <a:off x="4599432" y="2377440"/>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Privacy is the product</a:t>
            </a:r>
            <a:endParaRPr lang="en-US" sz="1700" dirty="0"/>
          </a:p>
        </p:txBody>
      </p:sp>
      <p:sp>
        <p:nvSpPr>
          <p:cNvPr id="11" name="Text 9"/>
          <p:cNvSpPr/>
          <p:nvPr/>
        </p:nvSpPr>
        <p:spPr>
          <a:xfrm>
            <a:off x="4599432" y="3072384"/>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entire home 2.4x private</a:t>
            </a:r>
            <a:endParaRPr lang="en-US" sz="1400" dirty="0"/>
          </a:p>
        </p:txBody>
      </p:sp>
      <p:sp>
        <p:nvSpPr>
          <p:cNvPr id="12" name="Shape 10"/>
          <p:cNvSpPr/>
          <p:nvPr/>
        </p:nvSpPr>
        <p:spPr>
          <a:xfrm>
            <a:off x="8083296" y="1627632"/>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3" name="Text 11"/>
          <p:cNvSpPr/>
          <p:nvPr/>
        </p:nvSpPr>
        <p:spPr>
          <a:xfrm>
            <a:off x="8357616" y="1865376"/>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03</a:t>
            </a:r>
            <a:endParaRPr lang="en-US" sz="2200" dirty="0"/>
          </a:p>
        </p:txBody>
      </p:sp>
      <p:sp>
        <p:nvSpPr>
          <p:cNvPr id="14" name="Text 12"/>
          <p:cNvSpPr/>
          <p:nvPr/>
        </p:nvSpPr>
        <p:spPr>
          <a:xfrm>
            <a:off x="8357616" y="2377440"/>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The mean misleads</a:t>
            </a:r>
            <a:endParaRPr lang="en-US" sz="1700" dirty="0"/>
          </a:p>
        </p:txBody>
      </p:sp>
      <p:sp>
        <p:nvSpPr>
          <p:cNvPr id="15" name="Text 13"/>
          <p:cNvSpPr/>
          <p:nvPr/>
        </p:nvSpPr>
        <p:spPr>
          <a:xfrm>
            <a:off x="8357616" y="3072384"/>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$152 vs $105 median</a:t>
            </a:r>
            <a:endParaRPr lang="en-US" sz="1400" dirty="0"/>
          </a:p>
        </p:txBody>
      </p:sp>
      <p:sp>
        <p:nvSpPr>
          <p:cNvPr id="16" name="Shape 14"/>
          <p:cNvSpPr/>
          <p:nvPr/>
        </p:nvSpPr>
        <p:spPr>
          <a:xfrm>
            <a:off x="566928"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7" name="Text 15"/>
          <p:cNvSpPr/>
          <p:nvPr/>
        </p:nvSpPr>
        <p:spPr>
          <a:xfrm>
            <a:off x="841248" y="4078224"/>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04</a:t>
            </a:r>
            <a:endParaRPr lang="en-US" sz="2200" dirty="0"/>
          </a:p>
        </p:txBody>
      </p:sp>
      <p:sp>
        <p:nvSpPr>
          <p:cNvPr id="18" name="Text 16"/>
          <p:cNvSpPr/>
          <p:nvPr/>
        </p:nvSpPr>
        <p:spPr>
          <a:xfrm>
            <a:off x="841248" y="4590288"/>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Activity ≠ price</a:t>
            </a:r>
            <a:endParaRPr lang="en-US" sz="1700" dirty="0"/>
          </a:p>
        </p:txBody>
      </p:sp>
      <p:sp>
        <p:nvSpPr>
          <p:cNvPr id="19" name="Text 17"/>
          <p:cNvSpPr/>
          <p:nvPr/>
        </p:nvSpPr>
        <p:spPr>
          <a:xfrm>
            <a:off x="841248" y="5285232"/>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all correlations under 0.08</a:t>
            </a:r>
            <a:endParaRPr lang="en-US" sz="1400" dirty="0"/>
          </a:p>
        </p:txBody>
      </p:sp>
      <p:sp>
        <p:nvSpPr>
          <p:cNvPr id="20" name="Shape 18"/>
          <p:cNvSpPr/>
          <p:nvPr/>
        </p:nvSpPr>
        <p:spPr>
          <a:xfrm>
            <a:off x="4325112"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1" name="Text 19"/>
          <p:cNvSpPr/>
          <p:nvPr/>
        </p:nvSpPr>
        <p:spPr>
          <a:xfrm>
            <a:off x="4599432" y="4078224"/>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05</a:t>
            </a:r>
            <a:endParaRPr lang="en-US" sz="2200" dirty="0"/>
          </a:p>
        </p:txBody>
      </p:sp>
      <p:sp>
        <p:nvSpPr>
          <p:cNvPr id="22" name="Text 20"/>
          <p:cNvSpPr/>
          <p:nvPr/>
        </p:nvSpPr>
        <p:spPr>
          <a:xfrm>
            <a:off x="4599432" y="4590288"/>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A fifth are invisible</a:t>
            </a:r>
            <a:endParaRPr lang="en-US" sz="1700" dirty="0"/>
          </a:p>
        </p:txBody>
      </p:sp>
      <p:sp>
        <p:nvSpPr>
          <p:cNvPr id="23" name="Text 21"/>
          <p:cNvSpPr/>
          <p:nvPr/>
        </p:nvSpPr>
        <p:spPr>
          <a:xfrm>
            <a:off x="4599432" y="5285232"/>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20.3% never reviewed</a:t>
            </a:r>
            <a:endParaRPr lang="en-US" sz="1400" dirty="0"/>
          </a:p>
        </p:txBody>
      </p:sp>
      <p:sp>
        <p:nvSpPr>
          <p:cNvPr id="24" name="Shape 22"/>
          <p:cNvSpPr/>
          <p:nvPr/>
        </p:nvSpPr>
        <p:spPr>
          <a:xfrm>
            <a:off x="8083296" y="3840480"/>
            <a:ext cx="3547872" cy="2011680"/>
          </a:xfrm>
          <a:prstGeom prst="roundRect">
            <a:avLst>
              <a:gd name="adj" fmla="val 363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5" name="Text 23"/>
          <p:cNvSpPr/>
          <p:nvPr/>
        </p:nvSpPr>
        <p:spPr>
          <a:xfrm>
            <a:off x="8357616" y="4078224"/>
            <a:ext cx="914400" cy="402336"/>
          </a:xfrm>
          <a:prstGeom prst="rect">
            <a:avLst/>
          </a:prstGeom>
          <a:noFill/>
          <a:ln/>
        </p:spPr>
        <p:txBody>
          <a:bodyPr wrap="square" lIns="0" tIns="0" rIns="0" bIns="0" rtlCol="0" anchor="ctr"/>
          <a:lstStyle/>
          <a:p>
            <a:pPr indent="0" marL="0">
              <a:buNone/>
            </a:pPr>
            <a:r>
              <a:rPr lang="en-US" sz="2200" b="1" dirty="0">
                <a:solidFill>
                  <a:srgbClr val="9B78F7"/>
                </a:solidFill>
                <a:latin typeface="Cambria" pitchFamily="34" charset="0"/>
                <a:ea typeface="Cambria" pitchFamily="34" charset="-122"/>
                <a:cs typeface="Cambria" pitchFamily="34" charset="-120"/>
              </a:rPr>
              <a:t>06</a:t>
            </a:r>
            <a:endParaRPr lang="en-US" sz="2200" dirty="0"/>
          </a:p>
        </p:txBody>
      </p:sp>
      <p:sp>
        <p:nvSpPr>
          <p:cNvPr id="26" name="Text 24"/>
          <p:cNvSpPr/>
          <p:nvPr/>
        </p:nvSpPr>
        <p:spPr>
          <a:xfrm>
            <a:off x="8357616" y="4590288"/>
            <a:ext cx="3017520" cy="694944"/>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Professionals have arrived</a:t>
            </a:r>
            <a:endParaRPr lang="en-US" sz="1700" dirty="0"/>
          </a:p>
        </p:txBody>
      </p:sp>
      <p:sp>
        <p:nvSpPr>
          <p:cNvPr id="27" name="Text 25"/>
          <p:cNvSpPr/>
          <p:nvPr/>
        </p:nvSpPr>
        <p:spPr>
          <a:xfrm>
            <a:off x="8357616" y="5285232"/>
            <a:ext cx="3017520" cy="402336"/>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Sonder 327 · median host 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64240" cy="676656"/>
          </a:xfrm>
          <a:prstGeom prst="rect">
            <a:avLst/>
          </a:prstGeom>
          <a:noFill/>
          <a:ln/>
        </p:spPr>
        <p:txBody>
          <a:bodyPr wrap="square" lIns="0" tIns="0" rIns="0" bIns="0" rtlCol="0" anchor="ctr"/>
          <a:lstStyle/>
          <a:p>
            <a:pPr indent="0" marL="0">
              <a:buNone/>
            </a:pPr>
            <a:r>
              <a:rPr lang="en-US" sz="3600" b="1" dirty="0">
                <a:solidFill>
                  <a:srgbClr val="522CBA"/>
                </a:solidFill>
                <a:latin typeface="Cambria" pitchFamily="34" charset="0"/>
                <a:ea typeface="Cambria" pitchFamily="34" charset="-122"/>
                <a:cs typeface="Cambria" pitchFamily="34" charset="-120"/>
              </a:rPr>
              <a:t>What I'd do about it</a:t>
            </a:r>
            <a:endParaRPr lang="en-US" sz="3600" dirty="0"/>
          </a:p>
        </p:txBody>
      </p:sp>
      <p:sp>
        <p:nvSpPr>
          <p:cNvPr id="3" name="Text 1"/>
          <p:cNvSpPr/>
          <p:nvPr/>
        </p:nvSpPr>
        <p:spPr>
          <a:xfrm>
            <a:off x="566928" y="1042416"/>
            <a:ext cx="11064240" cy="329184"/>
          </a:xfrm>
          <a:prstGeom prst="rect">
            <a:avLst/>
          </a:prstGeom>
          <a:noFill/>
          <a:ln/>
        </p:spPr>
        <p:txBody>
          <a:bodyPr wrap="square" lIns="0" tIns="0" rIns="0" bIns="0" rtlCol="0" anchor="ctr"/>
          <a:lstStyle/>
          <a:p>
            <a:pPr indent="0" marL="0">
              <a:buNone/>
            </a:pPr>
            <a:r>
              <a:rPr lang="en-US" sz="1500" b="1" dirty="0">
                <a:solidFill>
                  <a:srgbClr val="9B78F7"/>
                </a:solidFill>
                <a:latin typeface="Calibri" pitchFamily="34" charset="0"/>
                <a:ea typeface="Calibri" pitchFamily="34" charset="-122"/>
                <a:cs typeface="Calibri" pitchFamily="34" charset="-120"/>
              </a:rPr>
              <a:t>Each tied to a finding</a:t>
            </a:r>
            <a:endParaRPr lang="en-US" sz="1500" dirty="0"/>
          </a:p>
        </p:txBody>
      </p:sp>
      <p:sp>
        <p:nvSpPr>
          <p:cNvPr id="4" name="Shape 2"/>
          <p:cNvSpPr/>
          <p:nvPr/>
        </p:nvSpPr>
        <p:spPr>
          <a:xfrm>
            <a:off x="566928" y="1645920"/>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5" name="Shape 3"/>
          <p:cNvSpPr/>
          <p:nvPr/>
        </p:nvSpPr>
        <p:spPr>
          <a:xfrm>
            <a:off x="859536" y="1837944"/>
            <a:ext cx="457200" cy="457200"/>
          </a:xfrm>
          <a:prstGeom prst="ellipse">
            <a:avLst/>
          </a:prstGeom>
          <a:solidFill>
            <a:srgbClr val="522CBA"/>
          </a:solidFill>
          <a:ln w="12700">
            <a:solidFill>
              <a:srgbClr val="333333"/>
            </a:solidFill>
            <a:prstDash val="solid"/>
          </a:ln>
        </p:spPr>
      </p:sp>
      <p:sp>
        <p:nvSpPr>
          <p:cNvPr id="6" name="Text 4"/>
          <p:cNvSpPr/>
          <p:nvPr/>
        </p:nvSpPr>
        <p:spPr>
          <a:xfrm>
            <a:off x="859536" y="18379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17904" y="1737360"/>
            <a:ext cx="4754880" cy="658368"/>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Price on location and room type</a:t>
            </a:r>
            <a:endParaRPr lang="en-US" sz="1700" dirty="0"/>
          </a:p>
        </p:txBody>
      </p:sp>
      <p:sp>
        <p:nvSpPr>
          <p:cNvPr id="8" name="Text 6"/>
          <p:cNvSpPr/>
          <p:nvPr/>
        </p:nvSpPr>
        <p:spPr>
          <a:xfrm>
            <a:off x="6400800" y="1737360"/>
            <a:ext cx="5029200" cy="658368"/>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drop the features that predict nothing</a:t>
            </a:r>
            <a:endParaRPr lang="en-US" sz="1400" dirty="0"/>
          </a:p>
        </p:txBody>
      </p:sp>
      <p:sp>
        <p:nvSpPr>
          <p:cNvPr id="9" name="Shape 7"/>
          <p:cNvSpPr/>
          <p:nvPr/>
        </p:nvSpPr>
        <p:spPr>
          <a:xfrm>
            <a:off x="566928" y="2578608"/>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0" name="Shape 8"/>
          <p:cNvSpPr/>
          <p:nvPr/>
        </p:nvSpPr>
        <p:spPr>
          <a:xfrm>
            <a:off x="859536" y="2770632"/>
            <a:ext cx="457200" cy="457200"/>
          </a:xfrm>
          <a:prstGeom prst="ellipse">
            <a:avLst/>
          </a:prstGeom>
          <a:solidFill>
            <a:srgbClr val="9B78F7"/>
          </a:solidFill>
          <a:ln w="12700">
            <a:solidFill>
              <a:srgbClr val="333333"/>
            </a:solidFill>
            <a:prstDash val="solid"/>
          </a:ln>
        </p:spPr>
      </p:sp>
      <p:sp>
        <p:nvSpPr>
          <p:cNvPr id="11" name="Text 9"/>
          <p:cNvSpPr/>
          <p:nvPr/>
        </p:nvSpPr>
        <p:spPr>
          <a:xfrm>
            <a:off x="859536"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17904" y="2670048"/>
            <a:ext cx="4754880" cy="658368"/>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Badge for new listings</a:t>
            </a:r>
            <a:endParaRPr lang="en-US" sz="1700" dirty="0"/>
          </a:p>
        </p:txBody>
      </p:sp>
      <p:sp>
        <p:nvSpPr>
          <p:cNvPr id="13" name="Text 11"/>
          <p:cNvSpPr/>
          <p:nvPr/>
        </p:nvSpPr>
        <p:spPr>
          <a:xfrm>
            <a:off x="6400800" y="2670048"/>
            <a:ext cx="5029200" cy="658368"/>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help the 20% with no reviews</a:t>
            </a:r>
            <a:endParaRPr lang="en-US" sz="1400" dirty="0"/>
          </a:p>
        </p:txBody>
      </p:sp>
      <p:sp>
        <p:nvSpPr>
          <p:cNvPr id="14" name="Shape 12"/>
          <p:cNvSpPr/>
          <p:nvPr/>
        </p:nvSpPr>
        <p:spPr>
          <a:xfrm>
            <a:off x="566928" y="3511296"/>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5" name="Shape 13"/>
          <p:cNvSpPr/>
          <p:nvPr/>
        </p:nvSpPr>
        <p:spPr>
          <a:xfrm>
            <a:off x="859536" y="3703320"/>
            <a:ext cx="457200" cy="457200"/>
          </a:xfrm>
          <a:prstGeom prst="ellipse">
            <a:avLst/>
          </a:prstGeom>
          <a:solidFill>
            <a:srgbClr val="522CBA"/>
          </a:solidFill>
          <a:ln w="12700">
            <a:solidFill>
              <a:srgbClr val="333333"/>
            </a:solidFill>
            <a:prstDash val="solid"/>
          </a:ln>
        </p:spPr>
      </p:sp>
      <p:sp>
        <p:nvSpPr>
          <p:cNvPr id="16" name="Text 14"/>
          <p:cNvSpPr/>
          <p:nvPr/>
        </p:nvSpPr>
        <p:spPr>
          <a:xfrm>
            <a:off x="859536" y="3703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17904" y="3602736"/>
            <a:ext cx="4754880" cy="658368"/>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Ship a real pause button</a:t>
            </a:r>
            <a:endParaRPr lang="en-US" sz="1700" dirty="0"/>
          </a:p>
        </p:txBody>
      </p:sp>
      <p:sp>
        <p:nvSpPr>
          <p:cNvPr id="18" name="Text 16"/>
          <p:cNvSpPr/>
          <p:nvPr/>
        </p:nvSpPr>
        <p:spPr>
          <a:xfrm>
            <a:off x="6400800" y="3602736"/>
            <a:ext cx="5029200" cy="658368"/>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hosts already fake one</a:t>
            </a:r>
            <a:endParaRPr lang="en-US" sz="1400" dirty="0"/>
          </a:p>
        </p:txBody>
      </p:sp>
      <p:sp>
        <p:nvSpPr>
          <p:cNvPr id="19" name="Shape 17"/>
          <p:cNvSpPr/>
          <p:nvPr/>
        </p:nvSpPr>
        <p:spPr>
          <a:xfrm>
            <a:off x="566928" y="4443984"/>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0" name="Shape 18"/>
          <p:cNvSpPr/>
          <p:nvPr/>
        </p:nvSpPr>
        <p:spPr>
          <a:xfrm>
            <a:off x="859536" y="4636008"/>
            <a:ext cx="457200" cy="457200"/>
          </a:xfrm>
          <a:prstGeom prst="ellipse">
            <a:avLst/>
          </a:prstGeom>
          <a:solidFill>
            <a:srgbClr val="9B78F7"/>
          </a:solidFill>
          <a:ln w="12700">
            <a:solidFill>
              <a:srgbClr val="333333"/>
            </a:solidFill>
            <a:prstDash val="solid"/>
          </a:ln>
        </p:spPr>
      </p:sp>
      <p:sp>
        <p:nvSpPr>
          <p:cNvPr id="21" name="Text 19"/>
          <p:cNvSpPr/>
          <p:nvPr/>
        </p:nvSpPr>
        <p:spPr>
          <a:xfrm>
            <a:off x="859536" y="46360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1517904" y="4535424"/>
            <a:ext cx="4754880" cy="658368"/>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Recruit outside the core two</a:t>
            </a:r>
            <a:endParaRPr lang="en-US" sz="1700" dirty="0"/>
          </a:p>
        </p:txBody>
      </p:sp>
      <p:sp>
        <p:nvSpPr>
          <p:cNvPr id="23" name="Text 21"/>
          <p:cNvSpPr/>
          <p:nvPr/>
        </p:nvSpPr>
        <p:spPr>
          <a:xfrm>
            <a:off x="6400800" y="4535424"/>
            <a:ext cx="5029200" cy="658368"/>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Staten Island, the Bronx</a:t>
            </a:r>
            <a:endParaRPr lang="en-US" sz="1400" dirty="0"/>
          </a:p>
        </p:txBody>
      </p:sp>
      <p:sp>
        <p:nvSpPr>
          <p:cNvPr id="24" name="Shape 22"/>
          <p:cNvSpPr/>
          <p:nvPr/>
        </p:nvSpPr>
        <p:spPr>
          <a:xfrm>
            <a:off x="566928" y="5376672"/>
            <a:ext cx="11073384" cy="841248"/>
          </a:xfrm>
          <a:prstGeom prst="roundRect">
            <a:avLst>
              <a:gd name="adj" fmla="val 8696"/>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25" name="Shape 23"/>
          <p:cNvSpPr/>
          <p:nvPr/>
        </p:nvSpPr>
        <p:spPr>
          <a:xfrm>
            <a:off x="859536" y="5568696"/>
            <a:ext cx="457200" cy="457200"/>
          </a:xfrm>
          <a:prstGeom prst="ellipse">
            <a:avLst/>
          </a:prstGeom>
          <a:solidFill>
            <a:srgbClr val="522CBA"/>
          </a:solidFill>
          <a:ln w="12700">
            <a:solidFill>
              <a:srgbClr val="333333"/>
            </a:solidFill>
            <a:prstDash val="solid"/>
          </a:ln>
        </p:spPr>
      </p:sp>
      <p:sp>
        <p:nvSpPr>
          <p:cNvPr id="26" name="Text 24"/>
          <p:cNvSpPr/>
          <p:nvPr/>
        </p:nvSpPr>
        <p:spPr>
          <a:xfrm>
            <a:off x="859536" y="55686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p:nvPr/>
        </p:nvSpPr>
        <p:spPr>
          <a:xfrm>
            <a:off x="1517904" y="5468112"/>
            <a:ext cx="4754880" cy="658368"/>
          </a:xfrm>
          <a:prstGeom prst="rect">
            <a:avLst/>
          </a:prstGeom>
          <a:noFill/>
          <a:ln/>
        </p:spPr>
        <p:txBody>
          <a:bodyPr wrap="square" lIns="0" tIns="0" rIns="0" bIns="0" rtlCol="0" anchor="ctr"/>
          <a:lstStyle/>
          <a:p>
            <a:pPr indent="0" marL="0">
              <a:buNone/>
            </a:pPr>
            <a:r>
              <a:rPr lang="en-US" sz="1700" b="1" dirty="0">
                <a:solidFill>
                  <a:srgbClr val="522CBA"/>
                </a:solidFill>
                <a:latin typeface="Calibri" pitchFamily="34" charset="0"/>
                <a:ea typeface="Calibri" pitchFamily="34" charset="-122"/>
                <a:cs typeface="Calibri" pitchFamily="34" charset="-120"/>
              </a:rPr>
              <a:t>Flag duplicates at creation</a:t>
            </a:r>
            <a:endParaRPr lang="en-US" sz="1700" dirty="0"/>
          </a:p>
        </p:txBody>
      </p:sp>
      <p:sp>
        <p:nvSpPr>
          <p:cNvPr id="28" name="Text 26"/>
          <p:cNvSpPr/>
          <p:nvPr/>
        </p:nvSpPr>
        <p:spPr>
          <a:xfrm>
            <a:off x="6400800" y="5468112"/>
            <a:ext cx="5029200" cy="658368"/>
          </a:xfrm>
          <a:prstGeom prst="rect">
            <a:avLst/>
          </a:prstGeom>
          <a:noFill/>
          <a:ln/>
        </p:spPr>
        <p:txBody>
          <a:bodyPr wrap="square" lIns="0" tIns="0" rIns="0" bIns="0" rtlCol="0" anchor="ctr"/>
          <a:lstStyle/>
          <a:p>
            <a:pPr indent="0" marL="0">
              <a:buNone/>
            </a:pPr>
            <a:r>
              <a:rPr lang="en-US" sz="1400" dirty="0">
                <a:solidFill>
                  <a:srgbClr val="000000"/>
                </a:solidFill>
                <a:latin typeface="Calibri" pitchFamily="34" charset="0"/>
                <a:ea typeface="Calibri" pitchFamily="34" charset="-122"/>
                <a:cs typeface="Calibri" pitchFamily="34" charset="-120"/>
              </a:rPr>
              <a:t>keep inventory counts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4206240"/>
            <a:ext cx="4572000" cy="4572000"/>
          </a:xfrm>
          <a:prstGeom prst="ellipse">
            <a:avLst/>
          </a:prstGeom>
          <a:solidFill>
            <a:srgbClr val="9B78F7">
              <a:alpha val="15000"/>
            </a:srgbClr>
          </a:solidFill>
          <a:ln w="12700">
            <a:solidFill>
              <a:srgbClr val="333333"/>
            </a:solidFill>
            <a:prstDash val="solid"/>
          </a:ln>
        </p:spPr>
      </p:sp>
      <p:sp>
        <p:nvSpPr>
          <p:cNvPr id="3" name="Text 1"/>
          <p:cNvSpPr/>
          <p:nvPr/>
        </p:nvSpPr>
        <p:spPr>
          <a:xfrm>
            <a:off x="822960" y="960120"/>
            <a:ext cx="8229600" cy="310896"/>
          </a:xfrm>
          <a:prstGeom prst="rect">
            <a:avLst/>
          </a:prstGeom>
          <a:noFill/>
          <a:ln/>
        </p:spPr>
        <p:txBody>
          <a:bodyPr wrap="square" lIns="0" tIns="0" rIns="0" bIns="0" rtlCol="0" anchor="ctr"/>
          <a:lstStyle/>
          <a:p>
            <a:pPr indent="0" marL="0">
              <a:buNone/>
            </a:pPr>
            <a:r>
              <a:rPr lang="en-US" sz="1300" b="1" spc="300" kern="0" dirty="0">
                <a:solidFill>
                  <a:srgbClr val="9B78F7"/>
                </a:solidFill>
                <a:latin typeface="Calibri" pitchFamily="34" charset="0"/>
                <a:ea typeface="Calibri" pitchFamily="34" charset="-122"/>
                <a:cs typeface="Calibri" pitchFamily="34" charset="-120"/>
              </a:rPr>
              <a:t>WHAT I TOOK AWAY</a:t>
            </a:r>
            <a:endParaRPr lang="en-US" sz="1300" dirty="0"/>
          </a:p>
        </p:txBody>
      </p:sp>
      <p:sp>
        <p:nvSpPr>
          <p:cNvPr id="4" name="Text 2"/>
          <p:cNvSpPr/>
          <p:nvPr/>
        </p:nvSpPr>
        <p:spPr>
          <a:xfrm>
            <a:off x="822960" y="1417320"/>
            <a:ext cx="10515600" cy="1371600"/>
          </a:xfrm>
          <a:prstGeom prst="rect">
            <a:avLst/>
          </a:prstGeom>
          <a:noFill/>
          <a:ln/>
        </p:spPr>
        <p:txBody>
          <a:bodyPr wrap="square" lIns="0" tIns="0" rIns="0" bIns="0" rtlCol="0" anchor="ctr"/>
          <a:lstStyle/>
          <a:p>
            <a:pPr indent="0" marL="0">
              <a:lnSpc>
                <a:spcPts val="4600"/>
              </a:lnSpc>
              <a:buNone/>
            </a:pPr>
            <a:r>
              <a:rPr lang="en-US" sz="4000" b="1" dirty="0">
                <a:solidFill>
                  <a:srgbClr val="522CBA"/>
                </a:solidFill>
                <a:latin typeface="Cambria" pitchFamily="34" charset="0"/>
                <a:ea typeface="Cambria" pitchFamily="34" charset="-122"/>
                <a:cs typeface="Cambria" pitchFamily="34" charset="-120"/>
              </a:rPr>
              <a:t>EDA is the argument,</a:t>
            </a:r>
            <a:endParaRPr lang="en-US" sz="4000" dirty="0"/>
          </a:p>
          <a:p>
            <a:pPr indent="0" marL="0">
              <a:lnSpc>
                <a:spcPts val="4600"/>
              </a:lnSpc>
              <a:buNone/>
            </a:pPr>
            <a:r>
              <a:rPr lang="en-US" sz="4000" b="1" dirty="0">
                <a:solidFill>
                  <a:srgbClr val="522CBA"/>
                </a:solidFill>
                <a:latin typeface="Cambria" pitchFamily="34" charset="0"/>
                <a:ea typeface="Cambria" pitchFamily="34" charset="-122"/>
                <a:cs typeface="Cambria" pitchFamily="34" charset="-120"/>
              </a:rPr>
              <a:t>not the output.</a:t>
            </a:r>
            <a:endParaRPr lang="en-US" sz="4000" dirty="0"/>
          </a:p>
        </p:txBody>
      </p:sp>
      <p:sp>
        <p:nvSpPr>
          <p:cNvPr id="5" name="Shape 3"/>
          <p:cNvSpPr/>
          <p:nvPr/>
        </p:nvSpPr>
        <p:spPr>
          <a:xfrm>
            <a:off x="82296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6" name="Text 4"/>
          <p:cNvSpPr/>
          <p:nvPr/>
        </p:nvSpPr>
        <p:spPr>
          <a:xfrm>
            <a:off x="1060704" y="3520440"/>
            <a:ext cx="2788920" cy="347472"/>
          </a:xfrm>
          <a:prstGeom prst="rect">
            <a:avLst/>
          </a:prstGeom>
          <a:noFill/>
          <a:ln/>
        </p:spPr>
        <p:txBody>
          <a:bodyPr wrap="square" lIns="0" tIns="0" rIns="0" bIns="0" rtlCol="0" anchor="ctr"/>
          <a:lstStyle/>
          <a:p>
            <a:pPr indent="0" marL="0">
              <a:buNone/>
            </a:pPr>
            <a:r>
              <a:rPr lang="en-US" sz="1600" b="1" dirty="0">
                <a:solidFill>
                  <a:srgbClr val="9B78F7"/>
                </a:solidFill>
                <a:latin typeface="Calibri" pitchFamily="34" charset="0"/>
                <a:ea typeface="Calibri" pitchFamily="34" charset="-122"/>
                <a:cs typeface="Calibri" pitchFamily="34" charset="-120"/>
              </a:rPr>
              <a:t>Hardest</a:t>
            </a:r>
            <a:endParaRPr lang="en-US" sz="1600" dirty="0"/>
          </a:p>
        </p:txBody>
      </p:sp>
      <p:sp>
        <p:nvSpPr>
          <p:cNvPr id="7" name="Text 5"/>
          <p:cNvSpPr/>
          <p:nvPr/>
        </p:nvSpPr>
        <p:spPr>
          <a:xfrm>
            <a:off x="1060704" y="3931920"/>
            <a:ext cx="2788920" cy="859536"/>
          </a:xfrm>
          <a:prstGeom prst="rect">
            <a:avLst/>
          </a:prstGeom>
          <a:noFill/>
          <a:ln/>
        </p:spPr>
        <p:txBody>
          <a:bodyPr wrap="square" lIns="0" tIns="0" rIns="0" bIns="0" rtlCol="0" anchor="ctr"/>
          <a:lstStyle/>
          <a:p>
            <a:pPr indent="0" marL="0">
              <a:buNone/>
            </a:pPr>
            <a:r>
              <a:rPr lang="en-US" sz="1500" dirty="0">
                <a:solidFill>
                  <a:srgbClr val="000000"/>
                </a:solidFill>
                <a:latin typeface="Calibri" pitchFamily="34" charset="0"/>
                <a:ea typeface="Calibri" pitchFamily="34" charset="-122"/>
                <a:cs typeface="Calibri" pitchFamily="34" charset="-120"/>
              </a:rPr>
              <a:t>defining what "the same listing" means</a:t>
            </a:r>
            <a:endParaRPr lang="en-US" sz="1500" dirty="0"/>
          </a:p>
        </p:txBody>
      </p:sp>
      <p:sp>
        <p:nvSpPr>
          <p:cNvPr id="8" name="Shape 6"/>
          <p:cNvSpPr/>
          <p:nvPr/>
        </p:nvSpPr>
        <p:spPr>
          <a:xfrm>
            <a:off x="443484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9" name="Text 7"/>
          <p:cNvSpPr/>
          <p:nvPr/>
        </p:nvSpPr>
        <p:spPr>
          <a:xfrm>
            <a:off x="4672584" y="3520440"/>
            <a:ext cx="2788920" cy="347472"/>
          </a:xfrm>
          <a:prstGeom prst="rect">
            <a:avLst/>
          </a:prstGeom>
          <a:noFill/>
          <a:ln/>
        </p:spPr>
        <p:txBody>
          <a:bodyPr wrap="square" lIns="0" tIns="0" rIns="0" bIns="0" rtlCol="0" anchor="ctr"/>
          <a:lstStyle/>
          <a:p>
            <a:pPr indent="0" marL="0">
              <a:buNone/>
            </a:pPr>
            <a:r>
              <a:rPr lang="en-US" sz="1600" b="1" dirty="0">
                <a:solidFill>
                  <a:srgbClr val="9B78F7"/>
                </a:solidFill>
                <a:latin typeface="Calibri" pitchFamily="34" charset="0"/>
                <a:ea typeface="Calibri" pitchFamily="34" charset="-122"/>
                <a:cs typeface="Calibri" pitchFamily="34" charset="-120"/>
              </a:rPr>
              <a:t>Best judgement</a:t>
            </a:r>
            <a:endParaRPr lang="en-US" sz="1600" dirty="0"/>
          </a:p>
        </p:txBody>
      </p:sp>
      <p:sp>
        <p:nvSpPr>
          <p:cNvPr id="10" name="Text 8"/>
          <p:cNvSpPr/>
          <p:nvPr/>
        </p:nvSpPr>
        <p:spPr>
          <a:xfrm>
            <a:off x="4672584" y="3931920"/>
            <a:ext cx="2788920" cy="859536"/>
          </a:xfrm>
          <a:prstGeom prst="rect">
            <a:avLst/>
          </a:prstGeom>
          <a:noFill/>
          <a:ln/>
        </p:spPr>
        <p:txBody>
          <a:bodyPr wrap="square" lIns="0" tIns="0" rIns="0" bIns="0" rtlCol="0" anchor="ctr"/>
          <a:lstStyle/>
          <a:p>
            <a:pPr indent="0" marL="0">
              <a:buNone/>
            </a:pPr>
            <a:r>
              <a:rPr lang="en-US" sz="1500" dirty="0">
                <a:solidFill>
                  <a:srgbClr val="000000"/>
                </a:solidFill>
                <a:latin typeface="Calibri" pitchFamily="34" charset="0"/>
                <a:ea typeface="Calibri" pitchFamily="34" charset="-122"/>
                <a:cs typeface="Calibri" pitchFamily="34" charset="-120"/>
              </a:rPr>
              <a:t>kept the 1,250-night signal</a:t>
            </a:r>
            <a:endParaRPr lang="en-US" sz="1500" dirty="0"/>
          </a:p>
        </p:txBody>
      </p:sp>
      <p:sp>
        <p:nvSpPr>
          <p:cNvPr id="11" name="Shape 9"/>
          <p:cNvSpPr/>
          <p:nvPr/>
        </p:nvSpPr>
        <p:spPr>
          <a:xfrm>
            <a:off x="8046720" y="3337560"/>
            <a:ext cx="3246120" cy="1600200"/>
          </a:xfrm>
          <a:prstGeom prst="roundRect">
            <a:avLst>
              <a:gd name="adj" fmla="val 4571"/>
            </a:avLst>
          </a:prstGeom>
          <a:solidFill>
            <a:srgbClr val="F3EFFE"/>
          </a:solidFill>
          <a:ln w="12700">
            <a:solidFill>
              <a:srgbClr val="F3EFFE"/>
            </a:solidFill>
            <a:prstDash val="solid"/>
          </a:ln>
          <a:effectLst>
            <a:outerShdw sx="100000" sy="100000" kx="0" ky="0" algn="bl" rotWithShape="0" blurRad="114300" dist="12700" dir="5400000">
              <a:srgbClr val="B9A9E8">
                <a:alpha val="30000"/>
              </a:srgbClr>
            </a:outerShdw>
          </a:effectLst>
        </p:spPr>
      </p:sp>
      <p:sp>
        <p:nvSpPr>
          <p:cNvPr id="12" name="Text 10"/>
          <p:cNvSpPr/>
          <p:nvPr/>
        </p:nvSpPr>
        <p:spPr>
          <a:xfrm>
            <a:off x="8284464" y="3520440"/>
            <a:ext cx="2788920" cy="347472"/>
          </a:xfrm>
          <a:prstGeom prst="rect">
            <a:avLst/>
          </a:prstGeom>
          <a:noFill/>
          <a:ln/>
        </p:spPr>
        <p:txBody>
          <a:bodyPr wrap="square" lIns="0" tIns="0" rIns="0" bIns="0" rtlCol="0" anchor="ctr"/>
          <a:lstStyle/>
          <a:p>
            <a:pPr indent="0" marL="0">
              <a:buNone/>
            </a:pPr>
            <a:r>
              <a:rPr lang="en-US" sz="1600" b="1" dirty="0">
                <a:solidFill>
                  <a:srgbClr val="9B78F7"/>
                </a:solidFill>
                <a:latin typeface="Calibri" pitchFamily="34" charset="0"/>
                <a:ea typeface="Calibri" pitchFamily="34" charset="-122"/>
                <a:cs typeface="Calibri" pitchFamily="34" charset="-120"/>
              </a:rPr>
              <a:t>Next time</a:t>
            </a:r>
            <a:endParaRPr lang="en-US" sz="1600" dirty="0"/>
          </a:p>
        </p:txBody>
      </p:sp>
      <p:sp>
        <p:nvSpPr>
          <p:cNvPr id="13" name="Text 11"/>
          <p:cNvSpPr/>
          <p:nvPr/>
        </p:nvSpPr>
        <p:spPr>
          <a:xfrm>
            <a:off x="8284464" y="3931920"/>
            <a:ext cx="2788920" cy="859536"/>
          </a:xfrm>
          <a:prstGeom prst="rect">
            <a:avLst/>
          </a:prstGeom>
          <a:noFill/>
          <a:ln/>
        </p:spPr>
        <p:txBody>
          <a:bodyPr wrap="square" lIns="0" tIns="0" rIns="0" bIns="0" rtlCol="0" anchor="ctr"/>
          <a:lstStyle/>
          <a:p>
            <a:pPr indent="0" marL="0">
              <a:buNone/>
            </a:pPr>
            <a:r>
              <a:rPr lang="en-US" sz="1500" dirty="0">
                <a:solidFill>
                  <a:srgbClr val="000000"/>
                </a:solidFill>
                <a:latin typeface="Calibri" pitchFamily="34" charset="0"/>
                <a:ea typeface="Calibri" pitchFamily="34" charset="-122"/>
                <a:cs typeface="Calibri" pitchFamily="34" charset="-120"/>
              </a:rPr>
              <a:t>dedupe before the missing-value audit</a:t>
            </a:r>
            <a:endParaRPr lang="en-US" sz="1500" dirty="0"/>
          </a:p>
        </p:txBody>
      </p:sp>
      <p:sp>
        <p:nvSpPr>
          <p:cNvPr id="14" name="Text 12"/>
          <p:cNvSpPr/>
          <p:nvPr/>
        </p:nvSpPr>
        <p:spPr>
          <a:xfrm>
            <a:off x="822960" y="5623560"/>
            <a:ext cx="10515600" cy="402336"/>
          </a:xfrm>
          <a:prstGeom prst="rect">
            <a:avLst/>
          </a:prstGeom>
          <a:noFill/>
          <a:ln/>
        </p:spPr>
        <p:txBody>
          <a:bodyPr wrap="square" lIns="0" tIns="0" rIns="0" bIns="0" rtlCol="0" anchor="ctr"/>
          <a:lstStyle/>
          <a:p>
            <a:pPr indent="0" marL="0">
              <a:buNone/>
            </a:pPr>
            <a:r>
              <a:rPr lang="en-US" sz="2000" b="1" dirty="0">
                <a:solidFill>
                  <a:srgbClr val="522CBA"/>
                </a:solidFill>
                <a:latin typeface="Cambria" pitchFamily="34" charset="0"/>
                <a:ea typeface="Cambria" pitchFamily="34" charset="-122"/>
                <a:cs typeface="Cambria" pitchFamily="34" charset="-120"/>
              </a:rPr>
              <a:t>Thank you  ·  Khalid Al Dosari</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Airbnb Listings — Exploratory Data Analysis</dc:title>
  <dc:subject>PptxGenJS Presentation</dc:subject>
  <dc:creator>Khalid Al Dosari</dc:creator>
  <cp:lastModifiedBy>Khalid Al Dosari</cp:lastModifiedBy>
  <cp:revision>1</cp:revision>
  <dcterms:created xsi:type="dcterms:W3CDTF">2026-07-30T14:00:01Z</dcterms:created>
  <dcterms:modified xsi:type="dcterms:W3CDTF">2026-07-30T14:00:01Z</dcterms:modified>
</cp:coreProperties>
</file>